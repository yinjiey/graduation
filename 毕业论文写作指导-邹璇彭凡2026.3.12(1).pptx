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8" r:id="rId3"/>
    <p:sldId id="257" r:id="rId4"/>
    <p:sldId id="258" r:id="rId5"/>
    <p:sldId id="259" r:id="rId6"/>
    <p:sldId id="260" r:id="rId7"/>
    <p:sldId id="261" r:id="rId8"/>
    <p:sldId id="267" r:id="rId9"/>
    <p:sldId id="262" r:id="rId10"/>
    <p:sldId id="263" r:id="rId11"/>
    <p:sldId id="269" r:id="rId12"/>
    <p:sldId id="264" r:id="rId13"/>
    <p:sldId id="265" r:id="rId14"/>
    <p:sldId id="270" r:id="rId15"/>
    <p:sldId id="271" r:id="rId16"/>
    <p:sldId id="273" r:id="rId17"/>
    <p:sldId id="272" r:id="rId18"/>
    <p:sldId id="274" r:id="rId19"/>
    <p:sldId id="275" r:id="rId20"/>
    <p:sldId id="276" r:id="rId21"/>
    <p:sldId id="277" r:id="rId22"/>
    <p:sldId id="278" r:id="rId23"/>
    <p:sldId id="279" r:id="rId24"/>
    <p:sldId id="280" r:id="rId25"/>
    <p:sldId id="282" r:id="rId26"/>
    <p:sldId id="284" r:id="rId27"/>
    <p:sldId id="285" r:id="rId28"/>
    <p:sldId id="283" r:id="rId29"/>
    <p:sldId id="266" r:id="rId30"/>
    <p:sldId id="287" r:id="rId31"/>
    <p:sldId id="288" r:id="rId32"/>
    <p:sldId id="286" r:id="rId33"/>
    <p:sldId id="291" r:id="rId34"/>
    <p:sldId id="293" r:id="rId35"/>
    <p:sldId id="294" r:id="rId36"/>
    <p:sldId id="289" r:id="rId37"/>
    <p:sldId id="290" r:id="rId38"/>
    <p:sldId id="281" r:id="rId39"/>
    <p:sldId id="295" r:id="rId40"/>
    <p:sldId id="296" r:id="rId41"/>
    <p:sldId id="297" r:id="rId42"/>
    <p:sldId id="298" r:id="rId43"/>
    <p:sldId id="299" r:id="rId44"/>
    <p:sldId id="300" r:id="rId45"/>
    <p:sldId id="292"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660"/>
  </p:normalViewPr>
  <p:slideViewPr>
    <p:cSldViewPr snapToGrid="0">
      <p:cViewPr varScale="1">
        <p:scale>
          <a:sx n="84" d="100"/>
          <a:sy n="84" d="100"/>
        </p:scale>
        <p:origin x="643" y="3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zh-CN" altLang="en-US"/>
              <a:t>单击此处编辑母版标题样式</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a:xfrm>
            <a:off x="7983232" y="5037663"/>
            <a:ext cx="897467" cy="279400"/>
          </a:xfrm>
        </p:spPr>
        <p:txBody>
          <a:bodyPr/>
          <a:lstStyle/>
          <a:p>
            <a:fld id="{379CE679-6476-4D37-968B-A3D9B61803BF}" type="datetimeFigureOut">
              <a:rPr lang="zh-CN" altLang="en-US" smtClean="0"/>
              <a:t>2026-03-17</a:t>
            </a:fld>
            <a:endParaRPr lang="zh-CN" altLang="en-US"/>
          </a:p>
        </p:txBody>
      </p:sp>
      <p:sp>
        <p:nvSpPr>
          <p:cNvPr id="5" name="Footer Placeholder 4"/>
          <p:cNvSpPr>
            <a:spLocks noGrp="1"/>
          </p:cNvSpPr>
          <p:nvPr>
            <p:ph type="ftr" sz="quarter" idx="11"/>
          </p:nvPr>
        </p:nvSpPr>
        <p:spPr>
          <a:xfrm>
            <a:off x="2692397" y="5037663"/>
            <a:ext cx="5214635" cy="279400"/>
          </a:xfrm>
        </p:spPr>
        <p:txBody>
          <a:bodyPr/>
          <a:lstStyle/>
          <a:p>
            <a:endParaRPr lang="zh-CN" altLang="en-US"/>
          </a:p>
        </p:txBody>
      </p:sp>
      <p:sp>
        <p:nvSpPr>
          <p:cNvPr id="6" name="Slide Number Placeholder 5"/>
          <p:cNvSpPr>
            <a:spLocks noGrp="1"/>
          </p:cNvSpPr>
          <p:nvPr>
            <p:ph type="sldNum" sz="quarter" idx="12"/>
          </p:nvPr>
        </p:nvSpPr>
        <p:spPr>
          <a:xfrm>
            <a:off x="8956900" y="5037663"/>
            <a:ext cx="551167" cy="279400"/>
          </a:xfrm>
        </p:spPr>
        <p:txBody>
          <a:bodyPr/>
          <a:lstStyle/>
          <a:p>
            <a:fld id="{14C6BA26-660B-4BB2-9E06-465B00564586}" type="slidenum">
              <a:rPr lang="zh-CN" altLang="en-US" smtClean="0"/>
              <a:t>‹#›</a:t>
            </a:fld>
            <a:endParaRPr lang="zh-CN" alt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82346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379CE679-6476-4D37-968B-A3D9B61803BF}" type="datetimeFigureOut">
              <a:rPr lang="zh-CN" altLang="en-US" smtClean="0"/>
              <a:t>2026-03-17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4C6BA26-660B-4BB2-9E06-465B00564586}" type="slidenum">
              <a:rPr lang="zh-CN" altLang="en-US" smtClean="0"/>
              <a:t>‹#›</a:t>
            </a:fld>
            <a:endParaRPr lang="zh-CN" altLang="en-US"/>
          </a:p>
        </p:txBody>
      </p:sp>
    </p:spTree>
    <p:extLst>
      <p:ext uri="{BB962C8B-B14F-4D97-AF65-F5344CB8AC3E}">
        <p14:creationId xmlns:p14="http://schemas.microsoft.com/office/powerpoint/2010/main" val="29019933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379CE679-6476-4D37-968B-A3D9B61803BF}" type="datetimeFigureOut">
              <a:rPr lang="zh-CN" altLang="en-US" smtClean="0"/>
              <a:t>2026-03-17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4C6BA26-660B-4BB2-9E06-465B00564586}" type="slidenum">
              <a:rPr lang="zh-CN" altLang="en-US" smtClean="0"/>
              <a:t>‹#›</a:t>
            </a:fld>
            <a:endParaRPr lang="zh-CN" alt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001759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379CE679-6476-4D37-968B-A3D9B61803BF}" type="datetimeFigureOut">
              <a:rPr lang="zh-CN" altLang="en-US" smtClean="0"/>
              <a:t>2026-03-17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4C6BA26-660B-4BB2-9E06-465B00564586}" type="slidenum">
              <a:rPr lang="zh-CN" altLang="en-US" smtClean="0"/>
              <a:t>‹#›</a:t>
            </a:fld>
            <a:endParaRPr lang="zh-CN" altLang="en-US"/>
          </a:p>
        </p:txBody>
      </p:sp>
    </p:spTree>
    <p:extLst>
      <p:ext uri="{BB962C8B-B14F-4D97-AF65-F5344CB8AC3E}">
        <p14:creationId xmlns:p14="http://schemas.microsoft.com/office/powerpoint/2010/main" val="23394844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379CE679-6476-4D37-968B-A3D9B61803BF}" type="datetimeFigureOut">
              <a:rPr lang="zh-CN" altLang="en-US" smtClean="0"/>
              <a:t>2026-03-17</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14C6BA26-660B-4BB2-9E06-465B00564586}" type="slidenum">
              <a:rPr lang="zh-CN" altLang="en-US" smtClean="0"/>
              <a:t>‹#›</a:t>
            </a:fld>
            <a:endParaRPr lang="zh-CN" alt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573518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379CE679-6476-4D37-968B-A3D9B61803BF}" type="datetimeFigureOut">
              <a:rPr lang="zh-CN" altLang="en-US" smtClean="0"/>
              <a:t>2026-03-17</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14C6BA26-660B-4BB2-9E06-465B00564586}" type="slidenum">
              <a:rPr lang="zh-CN" altLang="en-US" smtClean="0"/>
              <a:t>‹#›</a:t>
            </a:fld>
            <a:endParaRPr lang="zh-CN" alt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97966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9CE679-6476-4D37-968B-A3D9B61803BF}" type="datetimeFigureOut">
              <a:rPr lang="zh-CN" altLang="en-US" smtClean="0"/>
              <a:t>2026-03-17</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14C6BA26-660B-4BB2-9E06-465B00564586}" type="slidenum">
              <a:rPr lang="zh-CN" altLang="en-US" smtClean="0"/>
              <a:t>‹#›</a:t>
            </a:fld>
            <a:endParaRPr lang="zh-CN" altLang="en-US"/>
          </a:p>
        </p:txBody>
      </p:sp>
    </p:spTree>
    <p:extLst>
      <p:ext uri="{BB962C8B-B14F-4D97-AF65-F5344CB8AC3E}">
        <p14:creationId xmlns:p14="http://schemas.microsoft.com/office/powerpoint/2010/main" val="34202859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zh-CN" altLang="en-US"/>
              <a:t>单击此处编辑母版标题样式</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379CE679-6476-4D37-968B-A3D9B61803BF}" type="datetimeFigureOut">
              <a:rPr lang="zh-CN" altLang="en-US" smtClean="0"/>
              <a:t>2026-03-17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4C6BA26-660B-4BB2-9E06-465B00564586}" type="slidenum">
              <a:rPr lang="zh-CN" altLang="en-US" smtClean="0"/>
              <a:t>‹#›</a:t>
            </a:fld>
            <a:endParaRPr lang="zh-CN" alt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417293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zh-CN" altLang="en-US"/>
              <a:t>单击此处编辑母版标题样式</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379CE679-6476-4D37-968B-A3D9B61803BF}" type="datetimeFigureOut">
              <a:rPr lang="zh-CN" altLang="en-US" smtClean="0"/>
              <a:t>2026-03-17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4C6BA26-660B-4BB2-9E06-465B00564586}" type="slidenum">
              <a:rPr lang="zh-CN" altLang="en-US" smtClean="0"/>
              <a:t>‹#›</a:t>
            </a:fld>
            <a:endParaRPr lang="zh-CN" altLang="en-US"/>
          </a:p>
        </p:txBody>
      </p:sp>
    </p:spTree>
    <p:extLst>
      <p:ext uri="{BB962C8B-B14F-4D97-AF65-F5344CB8AC3E}">
        <p14:creationId xmlns:p14="http://schemas.microsoft.com/office/powerpoint/2010/main" val="735098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379CE679-6476-4D37-968B-A3D9B61803BF}" type="datetimeFigureOut">
              <a:rPr lang="zh-CN" altLang="en-US" smtClean="0"/>
              <a:t>2026-03-17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4C6BA26-660B-4BB2-9E06-465B00564586}" type="slidenum">
              <a:rPr lang="zh-CN" altLang="en-US" smtClean="0"/>
              <a:t>‹#›</a:t>
            </a:fld>
            <a:endParaRPr lang="zh-CN" altLang="en-US"/>
          </a:p>
        </p:txBody>
      </p:sp>
    </p:spTree>
    <p:extLst>
      <p:ext uri="{BB962C8B-B14F-4D97-AF65-F5344CB8AC3E}">
        <p14:creationId xmlns:p14="http://schemas.microsoft.com/office/powerpoint/2010/main" val="38911342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379CE679-6476-4D37-968B-A3D9B61803BF}" type="datetimeFigureOut">
              <a:rPr lang="zh-CN" altLang="en-US" smtClean="0"/>
              <a:t>2026-03-17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4C6BA26-660B-4BB2-9E06-465B00564586}" type="slidenum">
              <a:rPr lang="zh-CN" altLang="en-US" smtClean="0"/>
              <a:t>‹#›</a:t>
            </a:fld>
            <a:endParaRPr lang="zh-CN" alt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686412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zh-CN" altLang="en-US"/>
              <a:t>单击此处编辑母版标题样式</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379CE679-6476-4D37-968B-A3D9B61803BF}" type="datetimeFigureOut">
              <a:rPr lang="zh-CN" altLang="en-US" smtClean="0"/>
              <a:t>2026-03-17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4C6BA26-660B-4BB2-9E06-465B00564586}" type="slidenum">
              <a:rPr lang="zh-CN" altLang="en-US" smtClean="0"/>
              <a:t>‹#›</a:t>
            </a:fld>
            <a:endParaRPr lang="zh-CN" alt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443694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379CE679-6476-4D37-968B-A3D9B61803BF}" type="datetimeFigureOut">
              <a:rPr lang="zh-CN" altLang="en-US" smtClean="0"/>
              <a:t>2026-03-17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4C6BA26-660B-4BB2-9E06-465B00564586}" type="slidenum">
              <a:rPr lang="zh-CN" altLang="en-US" smtClean="0"/>
              <a:t>‹#›</a:t>
            </a:fld>
            <a:endParaRPr lang="zh-CN" altLang="en-US"/>
          </a:p>
        </p:txBody>
      </p:sp>
    </p:spTree>
    <p:extLst>
      <p:ext uri="{BB962C8B-B14F-4D97-AF65-F5344CB8AC3E}">
        <p14:creationId xmlns:p14="http://schemas.microsoft.com/office/powerpoint/2010/main" val="20081846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zh-CN" altLang="en-US"/>
              <a:t>单击此处编辑母版标题样式</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379CE679-6476-4D37-968B-A3D9B61803BF}" type="datetimeFigureOut">
              <a:rPr lang="zh-CN" altLang="en-US" smtClean="0"/>
              <a:t>2026-03-17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4C6BA26-660B-4BB2-9E06-465B00564586}" type="slidenum">
              <a:rPr lang="zh-CN" altLang="en-US" smtClean="0"/>
              <a:t>‹#›</a:t>
            </a:fld>
            <a:endParaRPr lang="zh-CN" alt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371631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zh-CN" altLang="en-US"/>
              <a:t>单击此处编辑母版标题样式</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379CE679-6476-4D37-968B-A3D9B61803BF}" type="datetimeFigureOut">
              <a:rPr lang="zh-CN" altLang="en-US" smtClean="0"/>
              <a:t>2026-03-17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4C6BA26-660B-4BB2-9E06-465B00564586}" type="slidenum">
              <a:rPr lang="zh-CN" altLang="en-US" smtClean="0"/>
              <a:t>‹#›</a:t>
            </a:fld>
            <a:endParaRPr lang="zh-CN" alt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767170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379CE679-6476-4D37-968B-A3D9B61803BF}" type="datetimeFigureOut">
              <a:rPr lang="zh-CN" altLang="en-US" smtClean="0"/>
              <a:t>2026-03-17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4C6BA26-660B-4BB2-9E06-465B00564586}" type="slidenum">
              <a:rPr lang="zh-CN" altLang="en-US" smtClean="0"/>
              <a:t>‹#›</a:t>
            </a:fld>
            <a:endParaRPr lang="zh-CN" alt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268136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379CE679-6476-4D37-968B-A3D9B61803BF}" type="datetimeFigureOut">
              <a:rPr lang="zh-CN" altLang="en-US" smtClean="0"/>
              <a:t>2026-03-17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4C6BA26-660B-4BB2-9E06-465B00564586}" type="slidenum">
              <a:rPr lang="zh-CN" altLang="en-US" smtClean="0"/>
              <a:t>‹#›</a:t>
            </a:fld>
            <a:endParaRPr lang="zh-CN" alt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93941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79CE679-6476-4D37-968B-A3D9B61803BF}" type="datetimeFigureOut">
              <a:rPr lang="zh-CN" altLang="en-US" smtClean="0"/>
              <a:t>2026-03-17</a:t>
            </a:fld>
            <a:endParaRPr lang="zh-CN" alt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zh-CN" alt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4C6BA26-660B-4BB2-9E06-465B00564586}" type="slidenum">
              <a:rPr lang="zh-CN" altLang="en-US" smtClean="0"/>
              <a:t>‹#›</a:t>
            </a:fld>
            <a:endParaRPr lang="zh-CN" altLang="en-US"/>
          </a:p>
        </p:txBody>
      </p:sp>
    </p:spTree>
    <p:extLst>
      <p:ext uri="{BB962C8B-B14F-4D97-AF65-F5344CB8AC3E}">
        <p14:creationId xmlns:p14="http://schemas.microsoft.com/office/powerpoint/2010/main" val="35597299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D1F61B-79E9-01D1-AD90-1F574F34BC31}"/>
              </a:ext>
            </a:extLst>
          </p:cNvPr>
          <p:cNvSpPr>
            <a:spLocks noGrp="1"/>
          </p:cNvSpPr>
          <p:nvPr>
            <p:ph type="ctrTitle"/>
          </p:nvPr>
        </p:nvSpPr>
        <p:spPr/>
        <p:txBody>
          <a:bodyPr/>
          <a:lstStyle/>
          <a:p>
            <a:r>
              <a:rPr lang="zh-CN" altLang="en-US" dirty="0"/>
              <a:t>毕业论文写作指导</a:t>
            </a:r>
          </a:p>
        </p:txBody>
      </p:sp>
      <p:sp>
        <p:nvSpPr>
          <p:cNvPr id="3" name="副标题 2">
            <a:extLst>
              <a:ext uri="{FF2B5EF4-FFF2-40B4-BE49-F238E27FC236}">
                <a16:creationId xmlns:a16="http://schemas.microsoft.com/office/drawing/2014/main" id="{3AA1D2B1-6770-4EB2-F960-8B7AA87A5530}"/>
              </a:ext>
            </a:extLst>
          </p:cNvPr>
          <p:cNvSpPr>
            <a:spLocks noGrp="1"/>
          </p:cNvSpPr>
          <p:nvPr>
            <p:ph type="subTitle" idx="1"/>
          </p:nvPr>
        </p:nvSpPr>
        <p:spPr/>
        <p:txBody>
          <a:bodyPr/>
          <a:lstStyle/>
          <a:p>
            <a:pPr algn="r"/>
            <a:r>
              <a:rPr lang="zh-CN" altLang="en-US" dirty="0">
                <a:latin typeface="宋体" panose="02010600030101010101" pitchFamily="2" charset="-122"/>
                <a:ea typeface="宋体" panose="02010600030101010101" pitchFamily="2" charset="-122"/>
              </a:rPr>
              <a:t>邹璇彭凡</a:t>
            </a:r>
            <a:endParaRPr lang="en-US" altLang="zh-CN" dirty="0">
              <a:latin typeface="宋体" panose="02010600030101010101" pitchFamily="2" charset="-122"/>
              <a:ea typeface="宋体" panose="02010600030101010101" pitchFamily="2" charset="-122"/>
            </a:endParaRPr>
          </a:p>
          <a:p>
            <a:pPr algn="r"/>
            <a:r>
              <a:rPr lang="en-US" altLang="zh-CN" dirty="0">
                <a:latin typeface="宋体" panose="02010600030101010101" pitchFamily="2" charset="-122"/>
                <a:ea typeface="宋体" panose="02010600030101010101" pitchFamily="2" charset="-122"/>
              </a:rPr>
              <a:t>2026.3.12</a:t>
            </a:r>
            <a:endParaRPr lang="zh-CN" altLang="en-US"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479231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512FCC3F-5414-EB8C-B35E-44C7098109FE}"/>
              </a:ext>
            </a:extLst>
          </p:cNvPr>
          <p:cNvSpPr>
            <a:spLocks noGrp="1"/>
          </p:cNvSpPr>
          <p:nvPr>
            <p:ph type="ctrTitle"/>
          </p:nvPr>
        </p:nvSpPr>
        <p:spPr/>
        <p:txBody>
          <a:bodyPr/>
          <a:lstStyle/>
          <a:p>
            <a:r>
              <a:rPr lang="zh-CN" altLang="en-US" dirty="0">
                <a:latin typeface="微软雅黑" panose="020B0503020204020204" pitchFamily="34" charset="-122"/>
                <a:ea typeface="微软雅黑" panose="020B0503020204020204" pitchFamily="34" charset="-122"/>
              </a:rPr>
              <a:t>论文格式</a:t>
            </a:r>
          </a:p>
        </p:txBody>
      </p:sp>
    </p:spTree>
    <p:extLst>
      <p:ext uri="{BB962C8B-B14F-4D97-AF65-F5344CB8AC3E}">
        <p14:creationId xmlns:p14="http://schemas.microsoft.com/office/powerpoint/2010/main" val="29613954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744E80DD-C983-4E6B-9BD1-C64FE3884DDB}"/>
              </a:ext>
            </a:extLst>
          </p:cNvPr>
          <p:cNvPicPr>
            <a:picLocks noChangeAspect="1"/>
          </p:cNvPicPr>
          <p:nvPr/>
        </p:nvPicPr>
        <p:blipFill>
          <a:blip r:embed="rId2"/>
          <a:stretch>
            <a:fillRect/>
          </a:stretch>
        </p:blipFill>
        <p:spPr>
          <a:xfrm>
            <a:off x="-45492" y="1750842"/>
            <a:ext cx="12192000" cy="2555648"/>
          </a:xfrm>
          <a:prstGeom prst="rect">
            <a:avLst/>
          </a:prstGeom>
        </p:spPr>
      </p:pic>
    </p:spTree>
    <p:extLst>
      <p:ext uri="{BB962C8B-B14F-4D97-AF65-F5344CB8AC3E}">
        <p14:creationId xmlns:p14="http://schemas.microsoft.com/office/powerpoint/2010/main" val="3894615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2A9609F7-9938-6FB6-F630-F27AFE562354}"/>
              </a:ext>
            </a:extLst>
          </p:cNvPr>
          <p:cNvPicPr>
            <a:picLocks noChangeAspect="1"/>
          </p:cNvPicPr>
          <p:nvPr/>
        </p:nvPicPr>
        <p:blipFill>
          <a:blip r:embed="rId2"/>
          <a:stretch>
            <a:fillRect/>
          </a:stretch>
        </p:blipFill>
        <p:spPr>
          <a:xfrm>
            <a:off x="57150" y="959039"/>
            <a:ext cx="12134850" cy="2628900"/>
          </a:xfrm>
          <a:prstGeom prst="rect">
            <a:avLst/>
          </a:prstGeom>
        </p:spPr>
      </p:pic>
      <p:pic>
        <p:nvPicPr>
          <p:cNvPr id="3" name="图片 2">
            <a:extLst>
              <a:ext uri="{FF2B5EF4-FFF2-40B4-BE49-F238E27FC236}">
                <a16:creationId xmlns:a16="http://schemas.microsoft.com/office/drawing/2014/main" id="{9EB9C484-4FF9-9979-CA1B-8D53CC6D7C50}"/>
              </a:ext>
            </a:extLst>
          </p:cNvPr>
          <p:cNvPicPr>
            <a:picLocks noChangeAspect="1"/>
          </p:cNvPicPr>
          <p:nvPr/>
        </p:nvPicPr>
        <p:blipFill>
          <a:blip r:embed="rId3"/>
          <a:stretch>
            <a:fillRect/>
          </a:stretch>
        </p:blipFill>
        <p:spPr>
          <a:xfrm>
            <a:off x="28575" y="3587939"/>
            <a:ext cx="12192000" cy="1717310"/>
          </a:xfrm>
          <a:prstGeom prst="rect">
            <a:avLst/>
          </a:prstGeom>
        </p:spPr>
      </p:pic>
    </p:spTree>
    <p:extLst>
      <p:ext uri="{BB962C8B-B14F-4D97-AF65-F5344CB8AC3E}">
        <p14:creationId xmlns:p14="http://schemas.microsoft.com/office/powerpoint/2010/main" val="2569810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D96FE1F8-3AE4-39CD-F7D4-ACBE6EB068AB}"/>
              </a:ext>
            </a:extLst>
          </p:cNvPr>
          <p:cNvPicPr>
            <a:picLocks noChangeAspect="1"/>
          </p:cNvPicPr>
          <p:nvPr/>
        </p:nvPicPr>
        <p:blipFill>
          <a:blip r:embed="rId2"/>
          <a:stretch>
            <a:fillRect/>
          </a:stretch>
        </p:blipFill>
        <p:spPr>
          <a:xfrm>
            <a:off x="1987953" y="757309"/>
            <a:ext cx="7724775" cy="3105150"/>
          </a:xfrm>
          <a:prstGeom prst="rect">
            <a:avLst/>
          </a:prstGeom>
        </p:spPr>
      </p:pic>
      <p:pic>
        <p:nvPicPr>
          <p:cNvPr id="3" name="图片 2">
            <a:extLst>
              <a:ext uri="{FF2B5EF4-FFF2-40B4-BE49-F238E27FC236}">
                <a16:creationId xmlns:a16="http://schemas.microsoft.com/office/drawing/2014/main" id="{234DE0BC-C165-41B1-F023-4569AF312551}"/>
              </a:ext>
            </a:extLst>
          </p:cNvPr>
          <p:cNvPicPr>
            <a:picLocks noChangeAspect="1"/>
          </p:cNvPicPr>
          <p:nvPr/>
        </p:nvPicPr>
        <p:blipFill>
          <a:blip r:embed="rId3"/>
          <a:stretch>
            <a:fillRect/>
          </a:stretch>
        </p:blipFill>
        <p:spPr>
          <a:xfrm>
            <a:off x="191069" y="4008178"/>
            <a:ext cx="12192000" cy="1926037"/>
          </a:xfrm>
          <a:prstGeom prst="rect">
            <a:avLst/>
          </a:prstGeom>
        </p:spPr>
      </p:pic>
    </p:spTree>
    <p:extLst>
      <p:ext uri="{BB962C8B-B14F-4D97-AF65-F5344CB8AC3E}">
        <p14:creationId xmlns:p14="http://schemas.microsoft.com/office/powerpoint/2010/main" val="9784515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B9FC5327-474B-3221-308E-89764944BCDB}"/>
              </a:ext>
            </a:extLst>
          </p:cNvPr>
          <p:cNvPicPr>
            <a:picLocks noChangeAspect="1"/>
          </p:cNvPicPr>
          <p:nvPr/>
        </p:nvPicPr>
        <p:blipFill>
          <a:blip r:embed="rId2"/>
          <a:stretch>
            <a:fillRect/>
          </a:stretch>
        </p:blipFill>
        <p:spPr>
          <a:xfrm>
            <a:off x="64259" y="1018251"/>
            <a:ext cx="11963400" cy="4657725"/>
          </a:xfrm>
          <a:prstGeom prst="rect">
            <a:avLst/>
          </a:prstGeom>
        </p:spPr>
      </p:pic>
    </p:spTree>
    <p:extLst>
      <p:ext uri="{BB962C8B-B14F-4D97-AF65-F5344CB8AC3E}">
        <p14:creationId xmlns:p14="http://schemas.microsoft.com/office/powerpoint/2010/main" val="32938172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FB0E0787-7EEF-8032-2A97-755E19115827}"/>
              </a:ext>
            </a:extLst>
          </p:cNvPr>
          <p:cNvPicPr>
            <a:picLocks noChangeAspect="1"/>
          </p:cNvPicPr>
          <p:nvPr/>
        </p:nvPicPr>
        <p:blipFill>
          <a:blip r:embed="rId2"/>
          <a:stretch>
            <a:fillRect/>
          </a:stretch>
        </p:blipFill>
        <p:spPr>
          <a:xfrm>
            <a:off x="0" y="1528703"/>
            <a:ext cx="12192000" cy="3800593"/>
          </a:xfrm>
          <a:prstGeom prst="rect">
            <a:avLst/>
          </a:prstGeom>
        </p:spPr>
      </p:pic>
    </p:spTree>
    <p:extLst>
      <p:ext uri="{BB962C8B-B14F-4D97-AF65-F5344CB8AC3E}">
        <p14:creationId xmlns:p14="http://schemas.microsoft.com/office/powerpoint/2010/main" val="21815001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D324B1B8-7CCA-990E-A7A3-3247FFDD2A28}"/>
              </a:ext>
            </a:extLst>
          </p:cNvPr>
          <p:cNvPicPr>
            <a:picLocks noChangeAspect="1"/>
          </p:cNvPicPr>
          <p:nvPr/>
        </p:nvPicPr>
        <p:blipFill>
          <a:blip r:embed="rId2"/>
          <a:stretch>
            <a:fillRect/>
          </a:stretch>
        </p:blipFill>
        <p:spPr>
          <a:xfrm>
            <a:off x="0" y="213596"/>
            <a:ext cx="12192000" cy="2463857"/>
          </a:xfrm>
          <a:prstGeom prst="rect">
            <a:avLst/>
          </a:prstGeom>
        </p:spPr>
      </p:pic>
      <p:pic>
        <p:nvPicPr>
          <p:cNvPr id="3" name="图片 2">
            <a:extLst>
              <a:ext uri="{FF2B5EF4-FFF2-40B4-BE49-F238E27FC236}">
                <a16:creationId xmlns:a16="http://schemas.microsoft.com/office/drawing/2014/main" id="{619309F2-5F45-10AB-3A83-55C186DE16E8}"/>
              </a:ext>
            </a:extLst>
          </p:cNvPr>
          <p:cNvPicPr>
            <a:picLocks noChangeAspect="1"/>
          </p:cNvPicPr>
          <p:nvPr/>
        </p:nvPicPr>
        <p:blipFill>
          <a:blip r:embed="rId3"/>
          <a:stretch>
            <a:fillRect/>
          </a:stretch>
        </p:blipFill>
        <p:spPr>
          <a:xfrm>
            <a:off x="723332" y="2725351"/>
            <a:ext cx="10135736" cy="4182754"/>
          </a:xfrm>
          <a:prstGeom prst="rect">
            <a:avLst/>
          </a:prstGeom>
        </p:spPr>
      </p:pic>
    </p:spTree>
    <p:extLst>
      <p:ext uri="{BB962C8B-B14F-4D97-AF65-F5344CB8AC3E}">
        <p14:creationId xmlns:p14="http://schemas.microsoft.com/office/powerpoint/2010/main" val="22248447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FF2E7C4D-AF11-31D6-0475-6AF7FB8C81E6}"/>
              </a:ext>
            </a:extLst>
          </p:cNvPr>
          <p:cNvPicPr>
            <a:picLocks noChangeAspect="1"/>
          </p:cNvPicPr>
          <p:nvPr/>
        </p:nvPicPr>
        <p:blipFill>
          <a:blip r:embed="rId2"/>
          <a:stretch>
            <a:fillRect/>
          </a:stretch>
        </p:blipFill>
        <p:spPr>
          <a:xfrm>
            <a:off x="266700" y="1838325"/>
            <a:ext cx="11658600" cy="3181350"/>
          </a:xfrm>
          <a:prstGeom prst="rect">
            <a:avLst/>
          </a:prstGeom>
        </p:spPr>
      </p:pic>
    </p:spTree>
    <p:extLst>
      <p:ext uri="{BB962C8B-B14F-4D97-AF65-F5344CB8AC3E}">
        <p14:creationId xmlns:p14="http://schemas.microsoft.com/office/powerpoint/2010/main" val="15907960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E5C2937F-5F00-83EC-0502-C5EBEBAE33B7}"/>
              </a:ext>
            </a:extLst>
          </p:cNvPr>
          <p:cNvPicPr>
            <a:picLocks noChangeAspect="1"/>
          </p:cNvPicPr>
          <p:nvPr/>
        </p:nvPicPr>
        <p:blipFill>
          <a:blip r:embed="rId2"/>
          <a:stretch>
            <a:fillRect/>
          </a:stretch>
        </p:blipFill>
        <p:spPr>
          <a:xfrm>
            <a:off x="950772" y="90985"/>
            <a:ext cx="4849550" cy="6858000"/>
          </a:xfrm>
          <a:prstGeom prst="rect">
            <a:avLst/>
          </a:prstGeom>
        </p:spPr>
      </p:pic>
      <p:sp>
        <p:nvSpPr>
          <p:cNvPr id="3" name="文本框 2">
            <a:extLst>
              <a:ext uri="{FF2B5EF4-FFF2-40B4-BE49-F238E27FC236}">
                <a16:creationId xmlns:a16="http://schemas.microsoft.com/office/drawing/2014/main" id="{8683C174-CDCE-411B-E899-D1FB6F56CD9A}"/>
              </a:ext>
            </a:extLst>
          </p:cNvPr>
          <p:cNvSpPr txBox="1"/>
          <p:nvPr/>
        </p:nvSpPr>
        <p:spPr>
          <a:xfrm>
            <a:off x="6287068" y="2479343"/>
            <a:ext cx="3625755" cy="1200329"/>
          </a:xfrm>
          <a:prstGeom prst="rect">
            <a:avLst/>
          </a:prstGeom>
          <a:noFill/>
        </p:spPr>
        <p:txBody>
          <a:bodyPr wrap="square" rtlCol="0">
            <a:spAutoFit/>
          </a:bodyPr>
          <a:lstStyle/>
          <a:p>
            <a:r>
              <a:rPr lang="zh-CN" altLang="en-US" dirty="0">
                <a:solidFill>
                  <a:srgbClr val="FF0000"/>
                </a:solidFill>
                <a:latin typeface="微软雅黑" panose="020B0503020204020204" pitchFamily="34" charset="-122"/>
                <a:ea typeface="微软雅黑" panose="020B0503020204020204" pitchFamily="34" charset="-122"/>
              </a:rPr>
              <a:t>摘要关键词这部分，只要写一页，包括中文和英文，可以在整个论文完成后再写，是对整个论文的高度概括</a:t>
            </a:r>
          </a:p>
        </p:txBody>
      </p:sp>
    </p:spTree>
    <p:extLst>
      <p:ext uri="{BB962C8B-B14F-4D97-AF65-F5344CB8AC3E}">
        <p14:creationId xmlns:p14="http://schemas.microsoft.com/office/powerpoint/2010/main" val="583135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512FCC3F-5414-EB8C-B35E-44C7098109FE}"/>
              </a:ext>
            </a:extLst>
          </p:cNvPr>
          <p:cNvSpPr>
            <a:spLocks noGrp="1"/>
          </p:cNvSpPr>
          <p:nvPr>
            <p:ph type="ctrTitle"/>
          </p:nvPr>
        </p:nvSpPr>
        <p:spPr/>
        <p:txBody>
          <a:bodyPr/>
          <a:lstStyle/>
          <a:p>
            <a:r>
              <a:rPr lang="zh-CN" altLang="en-US" dirty="0">
                <a:latin typeface="微软雅黑" panose="020B0503020204020204" pitchFamily="34" charset="-122"/>
                <a:ea typeface="微软雅黑" panose="020B0503020204020204" pitchFamily="34" charset="-122"/>
              </a:rPr>
              <a:t>论文正文内容</a:t>
            </a:r>
          </a:p>
        </p:txBody>
      </p:sp>
    </p:spTree>
    <p:extLst>
      <p:ext uri="{BB962C8B-B14F-4D97-AF65-F5344CB8AC3E}">
        <p14:creationId xmlns:p14="http://schemas.microsoft.com/office/powerpoint/2010/main" val="24623191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B92E71A-F595-1997-A93F-2B1BB35F1847}"/>
              </a:ext>
            </a:extLst>
          </p:cNvPr>
          <p:cNvSpPr txBox="1"/>
          <p:nvPr/>
        </p:nvSpPr>
        <p:spPr>
          <a:xfrm>
            <a:off x="1756012" y="1232216"/>
            <a:ext cx="3370997" cy="1200329"/>
          </a:xfrm>
          <a:prstGeom prst="rect">
            <a:avLst/>
          </a:prstGeom>
          <a:noFill/>
        </p:spPr>
        <p:txBody>
          <a:bodyPr wrap="square" rtlCol="0">
            <a:spAutoFit/>
          </a:bodyPr>
          <a:lstStyle/>
          <a:p>
            <a:r>
              <a:rPr lang="zh-CN" altLang="en-US" sz="7200" dirty="0">
                <a:latin typeface="微软雅黑" panose="020B0503020204020204" pitchFamily="34" charset="-122"/>
                <a:ea typeface="微软雅黑" panose="020B0503020204020204" pitchFamily="34" charset="-122"/>
              </a:rPr>
              <a:t>系统类</a:t>
            </a:r>
          </a:p>
        </p:txBody>
      </p:sp>
      <p:sp>
        <p:nvSpPr>
          <p:cNvPr id="3" name="文本框 2">
            <a:extLst>
              <a:ext uri="{FF2B5EF4-FFF2-40B4-BE49-F238E27FC236}">
                <a16:creationId xmlns:a16="http://schemas.microsoft.com/office/drawing/2014/main" id="{92A76F53-5373-22F0-1086-E0DD32999BA7}"/>
              </a:ext>
            </a:extLst>
          </p:cNvPr>
          <p:cNvSpPr txBox="1"/>
          <p:nvPr/>
        </p:nvSpPr>
        <p:spPr>
          <a:xfrm>
            <a:off x="6921690" y="1248770"/>
            <a:ext cx="3370997" cy="1200329"/>
          </a:xfrm>
          <a:prstGeom prst="rect">
            <a:avLst/>
          </a:prstGeom>
          <a:noFill/>
        </p:spPr>
        <p:txBody>
          <a:bodyPr wrap="square" rtlCol="0">
            <a:spAutoFit/>
          </a:bodyPr>
          <a:lstStyle/>
          <a:p>
            <a:r>
              <a:rPr lang="zh-CN" altLang="en-US" sz="7200" dirty="0">
                <a:latin typeface="微软雅黑" panose="020B0503020204020204" pitchFamily="34" charset="-122"/>
                <a:ea typeface="微软雅黑" panose="020B0503020204020204" pitchFamily="34" charset="-122"/>
              </a:rPr>
              <a:t>模型类</a:t>
            </a:r>
          </a:p>
        </p:txBody>
      </p:sp>
      <p:sp>
        <p:nvSpPr>
          <p:cNvPr id="5" name="文本框 4">
            <a:extLst>
              <a:ext uri="{FF2B5EF4-FFF2-40B4-BE49-F238E27FC236}">
                <a16:creationId xmlns:a16="http://schemas.microsoft.com/office/drawing/2014/main" id="{87CF9BEC-EA4F-BC0C-982A-99394E10C62B}"/>
              </a:ext>
            </a:extLst>
          </p:cNvPr>
          <p:cNvSpPr txBox="1"/>
          <p:nvPr/>
        </p:nvSpPr>
        <p:spPr>
          <a:xfrm>
            <a:off x="750627" y="2692990"/>
            <a:ext cx="4521958" cy="646331"/>
          </a:xfrm>
          <a:prstGeom prst="rect">
            <a:avLst/>
          </a:prstGeom>
          <a:noFill/>
        </p:spPr>
        <p:txBody>
          <a:bodyPr wrap="square">
            <a:spAutoFit/>
          </a:bodyPr>
          <a:lstStyle/>
          <a:p>
            <a:r>
              <a:rPr lang="zh-CN" altLang="en-US" b="0" i="0" dirty="0">
                <a:effectLst/>
                <a:latin typeface="微软雅黑" panose="020B0503020204020204" pitchFamily="34" charset="-122"/>
                <a:ea typeface="微软雅黑" panose="020B0503020204020204" pitchFamily="34" charset="-122"/>
              </a:rPr>
              <a:t>基于</a:t>
            </a:r>
            <a:r>
              <a:rPr lang="en-US" altLang="zh-CN" b="0" i="0" dirty="0" err="1">
                <a:effectLst/>
                <a:latin typeface="微软雅黑" panose="020B0503020204020204" pitchFamily="34" charset="-122"/>
                <a:ea typeface="微软雅黑" panose="020B0503020204020204" pitchFamily="34" charset="-122"/>
              </a:rPr>
              <a:t>springboot</a:t>
            </a:r>
            <a:r>
              <a:rPr lang="zh-CN" altLang="en-US" b="0" i="0" dirty="0">
                <a:effectLst/>
                <a:latin typeface="微软雅黑" panose="020B0503020204020204" pitchFamily="34" charset="-122"/>
                <a:ea typeface="微软雅黑" panose="020B0503020204020204" pitchFamily="34" charset="-122"/>
              </a:rPr>
              <a:t>技术的校园篮球联赛信息管理系统的设计与实现</a:t>
            </a:r>
            <a:endParaRPr lang="zh-CN" altLang="en-US" dirty="0">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3C30F436-29B4-5F52-ED7A-361277799059}"/>
              </a:ext>
            </a:extLst>
          </p:cNvPr>
          <p:cNvSpPr txBox="1"/>
          <p:nvPr/>
        </p:nvSpPr>
        <p:spPr>
          <a:xfrm>
            <a:off x="1155511" y="3777734"/>
            <a:ext cx="6114196" cy="369332"/>
          </a:xfrm>
          <a:prstGeom prst="rect">
            <a:avLst/>
          </a:prstGeom>
          <a:noFill/>
        </p:spPr>
        <p:txBody>
          <a:bodyPr wrap="square">
            <a:spAutoFit/>
          </a:bodyPr>
          <a:lstStyle/>
          <a:p>
            <a:r>
              <a:rPr lang="zh-CN" altLang="en-US" b="0" i="0" dirty="0">
                <a:effectLst/>
                <a:latin typeface="微软雅黑" panose="020B0503020204020204" pitchFamily="34" charset="-122"/>
                <a:ea typeface="微软雅黑" panose="020B0503020204020204" pitchFamily="34" charset="-122"/>
              </a:rPr>
              <a:t>大学社团管理系统的设计与实现</a:t>
            </a:r>
            <a:endParaRPr lang="zh-CN" altLang="en-US"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85023742-FA8E-0DCE-477B-D6C3B10B73D6}"/>
              </a:ext>
            </a:extLst>
          </p:cNvPr>
          <p:cNvSpPr txBox="1"/>
          <p:nvPr/>
        </p:nvSpPr>
        <p:spPr>
          <a:xfrm>
            <a:off x="1273792" y="4667956"/>
            <a:ext cx="6114196" cy="369332"/>
          </a:xfrm>
          <a:prstGeom prst="rect">
            <a:avLst/>
          </a:prstGeom>
          <a:noFill/>
        </p:spPr>
        <p:txBody>
          <a:bodyPr wrap="square">
            <a:spAutoFit/>
          </a:bodyPr>
          <a:lstStyle/>
          <a:p>
            <a:r>
              <a:rPr lang="zh-CN" altLang="en-US" b="0" i="0" dirty="0">
                <a:effectLst/>
                <a:latin typeface="微软雅黑" panose="020B0503020204020204" pitchFamily="34" charset="-122"/>
                <a:ea typeface="微软雅黑" panose="020B0503020204020204" pitchFamily="34" charset="-122"/>
              </a:rPr>
              <a:t>网上购物系统的设计与实现</a:t>
            </a:r>
            <a:endParaRPr lang="zh-CN" altLang="en-US" dirty="0">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6E914A19-57EB-AD88-2AE9-4919514686AF}"/>
              </a:ext>
            </a:extLst>
          </p:cNvPr>
          <p:cNvSpPr txBox="1"/>
          <p:nvPr/>
        </p:nvSpPr>
        <p:spPr>
          <a:xfrm>
            <a:off x="937147" y="5239898"/>
            <a:ext cx="6114196" cy="369332"/>
          </a:xfrm>
          <a:prstGeom prst="rect">
            <a:avLst/>
          </a:prstGeom>
          <a:noFill/>
        </p:spPr>
        <p:txBody>
          <a:bodyPr wrap="square">
            <a:spAutoFit/>
          </a:bodyPr>
          <a:lstStyle/>
          <a:p>
            <a:r>
              <a:rPr lang="zh-CN" altLang="en-US" b="0" i="0" dirty="0">
                <a:effectLst/>
                <a:latin typeface="微软雅黑" panose="020B0503020204020204" pitchFamily="34" charset="-122"/>
                <a:ea typeface="微软雅黑" panose="020B0503020204020204" pitchFamily="34" charset="-122"/>
              </a:rPr>
              <a:t>基于微信小程序的自习室的预约与设计</a:t>
            </a:r>
            <a:endParaRPr lang="zh-CN" altLang="en-US" dirty="0">
              <a:latin typeface="微软雅黑" panose="020B0503020204020204" pitchFamily="34" charset="-122"/>
              <a:ea typeface="微软雅黑" panose="020B0503020204020204" pitchFamily="34" charset="-122"/>
            </a:endParaRPr>
          </a:p>
        </p:txBody>
      </p:sp>
      <p:sp>
        <p:nvSpPr>
          <p:cNvPr id="14" name="文本框 13">
            <a:extLst>
              <a:ext uri="{FF2B5EF4-FFF2-40B4-BE49-F238E27FC236}">
                <a16:creationId xmlns:a16="http://schemas.microsoft.com/office/drawing/2014/main" id="{8546DB25-EAD9-4D65-7FDF-6BF02D0877C4}"/>
              </a:ext>
            </a:extLst>
          </p:cNvPr>
          <p:cNvSpPr txBox="1"/>
          <p:nvPr/>
        </p:nvSpPr>
        <p:spPr>
          <a:xfrm>
            <a:off x="6036860" y="2734397"/>
            <a:ext cx="4904096" cy="646331"/>
          </a:xfrm>
          <a:prstGeom prst="rect">
            <a:avLst/>
          </a:prstGeom>
          <a:noFill/>
        </p:spPr>
        <p:txBody>
          <a:bodyPr wrap="square">
            <a:spAutoFit/>
          </a:bodyPr>
          <a:lstStyle/>
          <a:p>
            <a:r>
              <a:rPr lang="zh-CN" altLang="en-US" b="0" i="0" dirty="0">
                <a:effectLst/>
                <a:latin typeface="微软雅黑" panose="020B0503020204020204" pitchFamily="34" charset="-122"/>
                <a:ea typeface="微软雅黑" panose="020B0503020204020204" pitchFamily="34" charset="-122"/>
              </a:rPr>
              <a:t>基于</a:t>
            </a:r>
            <a:r>
              <a:rPr lang="en-US" altLang="zh-CN" b="0" i="0" dirty="0">
                <a:effectLst/>
                <a:latin typeface="微软雅黑" panose="020B0503020204020204" pitchFamily="34" charset="-122"/>
                <a:ea typeface="微软雅黑" panose="020B0503020204020204" pitchFamily="34" charset="-122"/>
              </a:rPr>
              <a:t>YOLO</a:t>
            </a:r>
            <a:r>
              <a:rPr lang="zh-CN" altLang="en-US" b="0" i="0" dirty="0">
                <a:effectLst/>
                <a:latin typeface="微软雅黑" panose="020B0503020204020204" pitchFamily="34" charset="-122"/>
                <a:ea typeface="微软雅黑" panose="020B0503020204020204" pitchFamily="34" charset="-122"/>
              </a:rPr>
              <a:t>模型算法的</a:t>
            </a:r>
            <a:r>
              <a:rPr lang="zh-CN" altLang="en-US" b="0" i="0" dirty="0">
                <a:solidFill>
                  <a:srgbClr val="FF0000"/>
                </a:solidFill>
                <a:effectLst/>
                <a:latin typeface="微软雅黑" panose="020B0503020204020204" pitchFamily="34" charset="-122"/>
                <a:ea typeface="微软雅黑" panose="020B0503020204020204" pitchFamily="34" charset="-122"/>
              </a:rPr>
              <a:t>农作物害虫检测识别</a:t>
            </a:r>
            <a:r>
              <a:rPr lang="zh-CN" altLang="en-US" b="0" i="0" dirty="0">
                <a:effectLst/>
                <a:latin typeface="微软雅黑" panose="020B0503020204020204" pitchFamily="34" charset="-122"/>
                <a:ea typeface="微软雅黑" panose="020B0503020204020204" pitchFamily="34" charset="-122"/>
              </a:rPr>
              <a:t>系统的设计与实现</a:t>
            </a:r>
            <a:endParaRPr lang="zh-CN" altLang="en-US" dirty="0">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DB6A5EB7-C65B-22EA-075C-CDBDD7BCF596}"/>
              </a:ext>
            </a:extLst>
          </p:cNvPr>
          <p:cNvSpPr txBox="1"/>
          <p:nvPr/>
        </p:nvSpPr>
        <p:spPr>
          <a:xfrm>
            <a:off x="6036860" y="4157009"/>
            <a:ext cx="6114196" cy="369332"/>
          </a:xfrm>
          <a:prstGeom prst="rect">
            <a:avLst/>
          </a:prstGeom>
          <a:noFill/>
        </p:spPr>
        <p:txBody>
          <a:bodyPr wrap="square">
            <a:spAutoFit/>
          </a:bodyPr>
          <a:lstStyle/>
          <a:p>
            <a:r>
              <a:rPr lang="zh-CN" altLang="en-US" b="0" i="0" dirty="0">
                <a:effectLst/>
                <a:latin typeface="微软雅黑" panose="020B0503020204020204" pitchFamily="34" charset="-122"/>
                <a:ea typeface="微软雅黑" panose="020B0503020204020204" pitchFamily="34" charset="-122"/>
              </a:rPr>
              <a:t>基于</a:t>
            </a:r>
            <a:r>
              <a:rPr lang="en-US" altLang="zh-CN" b="0" i="0" dirty="0">
                <a:effectLst/>
                <a:latin typeface="微软雅黑" panose="020B0503020204020204" pitchFamily="34" charset="-122"/>
                <a:ea typeface="微软雅黑" panose="020B0503020204020204" pitchFamily="34" charset="-122"/>
              </a:rPr>
              <a:t>Python</a:t>
            </a:r>
            <a:r>
              <a:rPr lang="zh-CN" altLang="en-US" b="0" i="0" dirty="0">
                <a:effectLst/>
                <a:latin typeface="微软雅黑" panose="020B0503020204020204" pitchFamily="34" charset="-122"/>
                <a:ea typeface="微软雅黑" panose="020B0503020204020204" pitchFamily="34" charset="-122"/>
              </a:rPr>
              <a:t>的</a:t>
            </a:r>
            <a:r>
              <a:rPr lang="zh-CN" altLang="en-US" b="0" i="0" dirty="0">
                <a:solidFill>
                  <a:srgbClr val="FF0000"/>
                </a:solidFill>
                <a:effectLst/>
                <a:latin typeface="微软雅黑" panose="020B0503020204020204" pitchFamily="34" charset="-122"/>
                <a:ea typeface="微软雅黑" panose="020B0503020204020204" pitchFamily="34" charset="-122"/>
              </a:rPr>
              <a:t>车牌号识别</a:t>
            </a:r>
            <a:r>
              <a:rPr lang="zh-CN" altLang="en-US" b="0" i="0" dirty="0">
                <a:effectLst/>
                <a:latin typeface="微软雅黑" panose="020B0503020204020204" pitchFamily="34" charset="-122"/>
                <a:ea typeface="微软雅黑" panose="020B0503020204020204" pitchFamily="34" charset="-122"/>
              </a:rPr>
              <a:t>系统的设计和实现</a:t>
            </a:r>
            <a:endParaRPr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FE29BF0B-62A1-904D-C3CE-DF5E7824BC83}"/>
              </a:ext>
            </a:extLst>
          </p:cNvPr>
          <p:cNvSpPr txBox="1"/>
          <p:nvPr/>
        </p:nvSpPr>
        <p:spPr>
          <a:xfrm>
            <a:off x="6935337" y="1248770"/>
            <a:ext cx="3370997" cy="1200329"/>
          </a:xfrm>
          <a:prstGeom prst="rect">
            <a:avLst/>
          </a:prstGeom>
          <a:noFill/>
        </p:spPr>
        <p:txBody>
          <a:bodyPr wrap="square" rtlCol="0">
            <a:spAutoFit/>
          </a:bodyPr>
          <a:lstStyle/>
          <a:p>
            <a:r>
              <a:rPr lang="zh-CN" altLang="en-US" sz="7200" dirty="0">
                <a:latin typeface="微软雅黑" panose="020B0503020204020204" pitchFamily="34" charset="-122"/>
                <a:ea typeface="微软雅黑" panose="020B0503020204020204" pitchFamily="34" charset="-122"/>
              </a:rPr>
              <a:t>模型类</a:t>
            </a:r>
          </a:p>
        </p:txBody>
      </p:sp>
    </p:spTree>
    <p:extLst>
      <p:ext uri="{BB962C8B-B14F-4D97-AF65-F5344CB8AC3E}">
        <p14:creationId xmlns:p14="http://schemas.microsoft.com/office/powerpoint/2010/main" val="19690668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5B846C4-E07C-DE31-8CB4-ADF3C024E3FF}"/>
              </a:ext>
            </a:extLst>
          </p:cNvPr>
          <p:cNvSpPr txBox="1"/>
          <p:nvPr/>
        </p:nvSpPr>
        <p:spPr>
          <a:xfrm>
            <a:off x="4294497" y="1551296"/>
            <a:ext cx="2529384" cy="646331"/>
          </a:xfrm>
          <a:prstGeom prst="rect">
            <a:avLst/>
          </a:prstGeom>
          <a:noFill/>
        </p:spPr>
        <p:txBody>
          <a:bodyPr wrap="square" rtlCol="0">
            <a:spAutoFit/>
          </a:bodyPr>
          <a:lstStyle/>
          <a:p>
            <a:r>
              <a:rPr lang="zh-CN" altLang="en-US" sz="3600" dirty="0">
                <a:latin typeface="微软雅黑" panose="020B0503020204020204" pitchFamily="34" charset="-122"/>
                <a:ea typeface="微软雅黑" panose="020B0503020204020204" pitchFamily="34" charset="-122"/>
              </a:rPr>
              <a:t>第一章绪论</a:t>
            </a:r>
          </a:p>
        </p:txBody>
      </p:sp>
      <p:sp>
        <p:nvSpPr>
          <p:cNvPr id="3" name="文本框 2">
            <a:extLst>
              <a:ext uri="{FF2B5EF4-FFF2-40B4-BE49-F238E27FC236}">
                <a16:creationId xmlns:a16="http://schemas.microsoft.com/office/drawing/2014/main" id="{85EAF869-619E-D8EA-12B8-4D0234957086}"/>
              </a:ext>
            </a:extLst>
          </p:cNvPr>
          <p:cNvSpPr txBox="1"/>
          <p:nvPr/>
        </p:nvSpPr>
        <p:spPr>
          <a:xfrm>
            <a:off x="3125337" y="2756848"/>
            <a:ext cx="4503762" cy="1200329"/>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1.1 </a:t>
            </a:r>
            <a:r>
              <a:rPr lang="zh-CN" altLang="en-US" dirty="0">
                <a:latin typeface="微软雅黑" panose="020B0503020204020204" pitchFamily="34" charset="-122"/>
                <a:ea typeface="微软雅黑" panose="020B0503020204020204" pitchFamily="34" charset="-122"/>
              </a:rPr>
              <a:t>研究背景 （</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页，为什么要研究它）</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1.2 </a:t>
            </a:r>
            <a:r>
              <a:rPr lang="zh-CN" altLang="en-US" dirty="0">
                <a:latin typeface="微软雅黑" panose="020B0503020204020204" pitchFamily="34" charset="-122"/>
                <a:ea typeface="微软雅黑" panose="020B0503020204020204" pitchFamily="34" charset="-122"/>
              </a:rPr>
              <a:t>国内外研究现状</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1.3 </a:t>
            </a:r>
            <a:r>
              <a:rPr lang="zh-CN" altLang="en-US" dirty="0">
                <a:latin typeface="微软雅黑" panose="020B0503020204020204" pitchFamily="34" charset="-122"/>
                <a:ea typeface="微软雅黑" panose="020B0503020204020204" pitchFamily="34" charset="-122"/>
              </a:rPr>
              <a:t>论文结构</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1.4 </a:t>
            </a:r>
            <a:r>
              <a:rPr lang="zh-CN" altLang="en-US" dirty="0">
                <a:latin typeface="微软雅黑" panose="020B0503020204020204" pitchFamily="34" charset="-122"/>
                <a:ea typeface="微软雅黑" panose="020B0503020204020204" pitchFamily="34" charset="-122"/>
              </a:rPr>
              <a:t>本章小结</a:t>
            </a:r>
          </a:p>
        </p:txBody>
      </p:sp>
    </p:spTree>
    <p:extLst>
      <p:ext uri="{BB962C8B-B14F-4D97-AF65-F5344CB8AC3E}">
        <p14:creationId xmlns:p14="http://schemas.microsoft.com/office/powerpoint/2010/main" val="20814784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5B846C4-E07C-DE31-8CB4-ADF3C024E3FF}"/>
              </a:ext>
            </a:extLst>
          </p:cNvPr>
          <p:cNvSpPr txBox="1"/>
          <p:nvPr/>
        </p:nvSpPr>
        <p:spPr>
          <a:xfrm>
            <a:off x="4294497" y="1551296"/>
            <a:ext cx="2529384" cy="646331"/>
          </a:xfrm>
          <a:prstGeom prst="rect">
            <a:avLst/>
          </a:prstGeom>
          <a:noFill/>
        </p:spPr>
        <p:txBody>
          <a:bodyPr wrap="square" rtlCol="0">
            <a:spAutoFit/>
          </a:bodyPr>
          <a:lstStyle/>
          <a:p>
            <a:r>
              <a:rPr lang="zh-CN" altLang="en-US" sz="3600" dirty="0">
                <a:latin typeface="微软雅黑" panose="020B0503020204020204" pitchFamily="34" charset="-122"/>
                <a:ea typeface="微软雅黑" panose="020B0503020204020204" pitchFamily="34" charset="-122"/>
              </a:rPr>
              <a:t>第一章绪论</a:t>
            </a:r>
          </a:p>
        </p:txBody>
      </p:sp>
      <p:sp>
        <p:nvSpPr>
          <p:cNvPr id="3" name="文本框 2">
            <a:extLst>
              <a:ext uri="{FF2B5EF4-FFF2-40B4-BE49-F238E27FC236}">
                <a16:creationId xmlns:a16="http://schemas.microsoft.com/office/drawing/2014/main" id="{85EAF869-619E-D8EA-12B8-4D0234957086}"/>
              </a:ext>
            </a:extLst>
          </p:cNvPr>
          <p:cNvSpPr txBox="1"/>
          <p:nvPr/>
        </p:nvSpPr>
        <p:spPr>
          <a:xfrm>
            <a:off x="3157182" y="2911523"/>
            <a:ext cx="4503762" cy="646331"/>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分为</a:t>
            </a:r>
            <a:r>
              <a:rPr lang="en-US" altLang="zh-CN" dirty="0">
                <a:latin typeface="微软雅黑" panose="020B0503020204020204" pitchFamily="34" charset="-122"/>
                <a:ea typeface="微软雅黑" panose="020B0503020204020204" pitchFamily="34" charset="-122"/>
              </a:rPr>
              <a:t>1.2.1</a:t>
            </a:r>
            <a:r>
              <a:rPr lang="zh-CN" altLang="en-US" dirty="0">
                <a:latin typeface="微软雅黑" panose="020B0503020204020204" pitchFamily="34" charset="-122"/>
                <a:ea typeface="微软雅黑" panose="020B0503020204020204" pitchFamily="34" charset="-122"/>
              </a:rPr>
              <a:t>国内研究现状和</a:t>
            </a:r>
            <a:r>
              <a:rPr lang="en-US" altLang="zh-CN" dirty="0">
                <a:latin typeface="微软雅黑" panose="020B0503020204020204" pitchFamily="34" charset="-122"/>
                <a:ea typeface="微软雅黑" panose="020B0503020204020204" pitchFamily="34" charset="-122"/>
              </a:rPr>
              <a:t>1.2.2</a:t>
            </a:r>
            <a:r>
              <a:rPr lang="zh-CN" altLang="en-US" dirty="0">
                <a:latin typeface="微软雅黑" panose="020B0503020204020204" pitchFamily="34" charset="-122"/>
                <a:ea typeface="微软雅黑" panose="020B0503020204020204" pitchFamily="34" charset="-122"/>
              </a:rPr>
              <a:t>国外研究现状）（</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页半</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页）</a:t>
            </a:r>
            <a:endParaRPr lang="en-US" altLang="zh-CN"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FDC4B851-89BA-B306-4C5F-661283666090}"/>
              </a:ext>
            </a:extLst>
          </p:cNvPr>
          <p:cNvSpPr txBox="1"/>
          <p:nvPr/>
        </p:nvSpPr>
        <p:spPr>
          <a:xfrm>
            <a:off x="4667535" y="2481197"/>
            <a:ext cx="6114196" cy="369332"/>
          </a:xfrm>
          <a:prstGeom prst="rect">
            <a:avLst/>
          </a:prstGeom>
          <a:noFill/>
        </p:spPr>
        <p:txBody>
          <a:bodyPr wrap="square">
            <a:spAutoFit/>
          </a:bodyPr>
          <a:lstStyle/>
          <a:p>
            <a:r>
              <a:rPr lang="en-US" altLang="zh-CN" dirty="0">
                <a:latin typeface="微软雅黑" panose="020B0503020204020204" pitchFamily="34" charset="-122"/>
                <a:ea typeface="微软雅黑" panose="020B0503020204020204" pitchFamily="34" charset="-122"/>
              </a:rPr>
              <a:t>1.2</a:t>
            </a:r>
            <a:r>
              <a:rPr lang="zh-CN" altLang="en-US" dirty="0">
                <a:latin typeface="微软雅黑" panose="020B0503020204020204" pitchFamily="34" charset="-122"/>
                <a:ea typeface="微软雅黑" panose="020B0503020204020204" pitchFamily="34" charset="-122"/>
              </a:rPr>
              <a:t>国内外研究现状</a:t>
            </a:r>
            <a:endParaRPr lang="zh-CN" altLang="en-US" dirty="0"/>
          </a:p>
        </p:txBody>
      </p:sp>
      <p:sp>
        <p:nvSpPr>
          <p:cNvPr id="6" name="文本框 5">
            <a:extLst>
              <a:ext uri="{FF2B5EF4-FFF2-40B4-BE49-F238E27FC236}">
                <a16:creationId xmlns:a16="http://schemas.microsoft.com/office/drawing/2014/main" id="{C99B05B9-437C-8A03-BD85-6C41E59F298D}"/>
              </a:ext>
            </a:extLst>
          </p:cNvPr>
          <p:cNvSpPr txBox="1"/>
          <p:nvPr/>
        </p:nvSpPr>
        <p:spPr>
          <a:xfrm>
            <a:off x="2902425" y="3846395"/>
            <a:ext cx="5313528" cy="923330"/>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知网上搜索与你题目相关的论文，看看他们的研究现状怎么写的，同时记得把他们引用的参考文献看一下，是不是与你的相关</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504670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5B846C4-E07C-DE31-8CB4-ADF3C024E3FF}"/>
              </a:ext>
            </a:extLst>
          </p:cNvPr>
          <p:cNvSpPr txBox="1"/>
          <p:nvPr/>
        </p:nvSpPr>
        <p:spPr>
          <a:xfrm>
            <a:off x="4294497" y="1551296"/>
            <a:ext cx="2529384" cy="646331"/>
          </a:xfrm>
          <a:prstGeom prst="rect">
            <a:avLst/>
          </a:prstGeom>
          <a:noFill/>
        </p:spPr>
        <p:txBody>
          <a:bodyPr wrap="square" rtlCol="0">
            <a:spAutoFit/>
          </a:bodyPr>
          <a:lstStyle/>
          <a:p>
            <a:r>
              <a:rPr lang="zh-CN" altLang="en-US" sz="3600" dirty="0">
                <a:latin typeface="微软雅黑" panose="020B0503020204020204" pitchFamily="34" charset="-122"/>
                <a:ea typeface="微软雅黑" panose="020B0503020204020204" pitchFamily="34" charset="-122"/>
              </a:rPr>
              <a:t>第一章绪论</a:t>
            </a:r>
          </a:p>
        </p:txBody>
      </p:sp>
      <p:sp>
        <p:nvSpPr>
          <p:cNvPr id="5" name="文本框 4">
            <a:extLst>
              <a:ext uri="{FF2B5EF4-FFF2-40B4-BE49-F238E27FC236}">
                <a16:creationId xmlns:a16="http://schemas.microsoft.com/office/drawing/2014/main" id="{FDC4B851-89BA-B306-4C5F-661283666090}"/>
              </a:ext>
            </a:extLst>
          </p:cNvPr>
          <p:cNvSpPr txBox="1"/>
          <p:nvPr/>
        </p:nvSpPr>
        <p:spPr>
          <a:xfrm>
            <a:off x="4667535" y="2481197"/>
            <a:ext cx="6114196" cy="369332"/>
          </a:xfrm>
          <a:prstGeom prst="rect">
            <a:avLst/>
          </a:prstGeom>
          <a:noFill/>
        </p:spPr>
        <p:txBody>
          <a:bodyPr wrap="square">
            <a:spAutoFit/>
          </a:bodyPr>
          <a:lstStyle/>
          <a:p>
            <a:r>
              <a:rPr lang="en-US" altLang="zh-CN" dirty="0">
                <a:latin typeface="微软雅黑" panose="020B0503020204020204" pitchFamily="34" charset="-122"/>
                <a:ea typeface="微软雅黑" panose="020B0503020204020204" pitchFamily="34" charset="-122"/>
              </a:rPr>
              <a:t>1.3</a:t>
            </a:r>
            <a:r>
              <a:rPr lang="zh-CN" altLang="en-US" dirty="0">
                <a:latin typeface="微软雅黑" panose="020B0503020204020204" pitchFamily="34" charset="-122"/>
                <a:ea typeface="微软雅黑" panose="020B0503020204020204" pitchFamily="34" charset="-122"/>
              </a:rPr>
              <a:t>论文结构</a:t>
            </a:r>
            <a:endParaRPr lang="zh-CN" altLang="en-US" dirty="0"/>
          </a:p>
        </p:txBody>
      </p:sp>
      <p:sp>
        <p:nvSpPr>
          <p:cNvPr id="6" name="文本框 5">
            <a:extLst>
              <a:ext uri="{FF2B5EF4-FFF2-40B4-BE49-F238E27FC236}">
                <a16:creationId xmlns:a16="http://schemas.microsoft.com/office/drawing/2014/main" id="{C99B05B9-437C-8A03-BD85-6C41E59F298D}"/>
              </a:ext>
            </a:extLst>
          </p:cNvPr>
          <p:cNvSpPr txBox="1"/>
          <p:nvPr/>
        </p:nvSpPr>
        <p:spPr>
          <a:xfrm>
            <a:off x="1887940" y="2850529"/>
            <a:ext cx="8507103" cy="3139321"/>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本论文包括</a:t>
            </a:r>
            <a:r>
              <a:rPr lang="en-US" altLang="zh-CN" dirty="0">
                <a:latin typeface="微软雅黑" panose="020B0503020204020204" pitchFamily="34" charset="-122"/>
                <a:ea typeface="微软雅黑" panose="020B0503020204020204" pitchFamily="34" charset="-122"/>
              </a:rPr>
              <a:t>X</a:t>
            </a:r>
            <a:r>
              <a:rPr lang="zh-CN" altLang="en-US" dirty="0">
                <a:latin typeface="微软雅黑" panose="020B0503020204020204" pitchFamily="34" charset="-122"/>
                <a:ea typeface="微软雅黑" panose="020B0503020204020204" pitchFamily="34" charset="-122"/>
              </a:rPr>
              <a:t>大章节，各章节的基本内容结构如下所示：</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）第一章绪论，讲诉了本文的背景和意义、</a:t>
            </a:r>
            <a:r>
              <a:rPr lang="en-US" altLang="zh-CN" dirty="0">
                <a:latin typeface="微软雅黑" panose="020B0503020204020204" pitchFamily="34" charset="-122"/>
                <a:ea typeface="微软雅黑" panose="020B0503020204020204" pitchFamily="34" charset="-122"/>
              </a:rPr>
              <a:t>XXXXX</a:t>
            </a:r>
            <a:r>
              <a:rPr lang="zh-CN" altLang="en-US" dirty="0">
                <a:latin typeface="微软雅黑" panose="020B0503020204020204" pitchFamily="34" charset="-122"/>
                <a:ea typeface="微软雅黑" panose="020B0503020204020204" pitchFamily="34" charset="-122"/>
              </a:rPr>
              <a:t>的现状</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）第二章相关技术，主要对本文所做的</a:t>
            </a:r>
            <a:r>
              <a:rPr lang="en-US" altLang="zh-CN" dirty="0">
                <a:latin typeface="微软雅黑" panose="020B0503020204020204" pitchFamily="34" charset="-122"/>
                <a:ea typeface="微软雅黑" panose="020B0503020204020204" pitchFamily="34" charset="-122"/>
              </a:rPr>
              <a:t>XXX</a:t>
            </a:r>
            <a:r>
              <a:rPr lang="zh-CN" altLang="en-US" dirty="0">
                <a:latin typeface="微软雅黑" panose="020B0503020204020204" pitchFamily="34" charset="-122"/>
                <a:ea typeface="微软雅黑" panose="020B0503020204020204" pitchFamily="34" charset="-122"/>
              </a:rPr>
              <a:t>系统</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实现的</a:t>
            </a:r>
            <a:r>
              <a:rPr lang="en-US" altLang="zh-CN" dirty="0">
                <a:latin typeface="微软雅黑" panose="020B0503020204020204" pitchFamily="34" charset="-122"/>
                <a:ea typeface="微软雅黑" panose="020B0503020204020204" pitchFamily="34" charset="-122"/>
              </a:rPr>
              <a:t>XXXX</a:t>
            </a:r>
            <a:r>
              <a:rPr lang="zh-CN" altLang="en-US" dirty="0">
                <a:latin typeface="微软雅黑" panose="020B0503020204020204" pitchFamily="34" charset="-122"/>
                <a:ea typeface="微软雅黑" panose="020B0503020204020204" pitchFamily="34" charset="-122"/>
              </a:rPr>
              <a:t>功能所用到的技术进行简要的介绍</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）第三章系统分析，主要对系统的需求进行分析，明确设计的目标，并对实现功能的可行性进行分析</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）第四章系统设计，根据需求设计具体的功能</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5</a:t>
            </a:r>
            <a:r>
              <a:rPr lang="zh-CN" altLang="en-US" dirty="0">
                <a:latin typeface="微软雅黑" panose="020B0503020204020204" pitchFamily="34" charset="-122"/>
                <a:ea typeface="微软雅黑" panose="020B0503020204020204" pitchFamily="34" charset="-122"/>
              </a:rPr>
              <a:t>）第五章系统实现，根据系统设计对需要的功能进行具体实现</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6</a:t>
            </a:r>
            <a:r>
              <a:rPr lang="zh-CN" altLang="en-US" dirty="0">
                <a:latin typeface="微软雅黑" panose="020B0503020204020204" pitchFamily="34" charset="-122"/>
                <a:ea typeface="微软雅黑" panose="020B0503020204020204" pitchFamily="34" charset="-122"/>
              </a:rPr>
              <a:t>）第六章系统测试，对系统进行测试，介绍使用何种方法测试并给出测试结果</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7</a:t>
            </a:r>
            <a:r>
              <a:rPr lang="zh-CN" altLang="en-US" dirty="0">
                <a:latin typeface="微软雅黑" panose="020B0503020204020204" pitchFamily="34" charset="-122"/>
                <a:ea typeface="微软雅黑" panose="020B0503020204020204" pitchFamily="34" charset="-122"/>
              </a:rPr>
              <a:t>）第七章总结和展望，对系统</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功能进行总结，并分析存在的不足个未来的改进方向</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481905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5B846C4-E07C-DE31-8CB4-ADF3C024E3FF}"/>
              </a:ext>
            </a:extLst>
          </p:cNvPr>
          <p:cNvSpPr txBox="1"/>
          <p:nvPr/>
        </p:nvSpPr>
        <p:spPr>
          <a:xfrm>
            <a:off x="4294497" y="1551296"/>
            <a:ext cx="2529384" cy="646331"/>
          </a:xfrm>
          <a:prstGeom prst="rect">
            <a:avLst/>
          </a:prstGeom>
          <a:noFill/>
        </p:spPr>
        <p:txBody>
          <a:bodyPr wrap="square" rtlCol="0">
            <a:spAutoFit/>
          </a:bodyPr>
          <a:lstStyle/>
          <a:p>
            <a:r>
              <a:rPr lang="zh-CN" altLang="en-US" sz="3600" dirty="0">
                <a:latin typeface="微软雅黑" panose="020B0503020204020204" pitchFamily="34" charset="-122"/>
                <a:ea typeface="微软雅黑" panose="020B0503020204020204" pitchFamily="34" charset="-122"/>
              </a:rPr>
              <a:t>第一章绪论</a:t>
            </a:r>
          </a:p>
        </p:txBody>
      </p:sp>
      <p:sp>
        <p:nvSpPr>
          <p:cNvPr id="5" name="文本框 4">
            <a:extLst>
              <a:ext uri="{FF2B5EF4-FFF2-40B4-BE49-F238E27FC236}">
                <a16:creationId xmlns:a16="http://schemas.microsoft.com/office/drawing/2014/main" id="{FDC4B851-89BA-B306-4C5F-661283666090}"/>
              </a:ext>
            </a:extLst>
          </p:cNvPr>
          <p:cNvSpPr txBox="1"/>
          <p:nvPr/>
        </p:nvSpPr>
        <p:spPr>
          <a:xfrm>
            <a:off x="4667535" y="2481197"/>
            <a:ext cx="6114196" cy="369332"/>
          </a:xfrm>
          <a:prstGeom prst="rect">
            <a:avLst/>
          </a:prstGeom>
          <a:noFill/>
        </p:spPr>
        <p:txBody>
          <a:bodyPr wrap="square">
            <a:spAutoFit/>
          </a:bodyPr>
          <a:lstStyle/>
          <a:p>
            <a:r>
              <a:rPr lang="en-US" altLang="zh-CN" dirty="0">
                <a:latin typeface="微软雅黑" panose="020B0503020204020204" pitchFamily="34" charset="-122"/>
                <a:ea typeface="微软雅黑" panose="020B0503020204020204" pitchFamily="34" charset="-122"/>
              </a:rPr>
              <a:t>1.4</a:t>
            </a:r>
            <a:r>
              <a:rPr lang="zh-CN" altLang="en-US" dirty="0">
                <a:latin typeface="微软雅黑" panose="020B0503020204020204" pitchFamily="34" charset="-122"/>
                <a:ea typeface="微软雅黑" panose="020B0503020204020204" pitchFamily="34" charset="-122"/>
              </a:rPr>
              <a:t>本章小结</a:t>
            </a:r>
            <a:endParaRPr lang="zh-CN" altLang="en-US" dirty="0"/>
          </a:p>
        </p:txBody>
      </p:sp>
      <p:sp>
        <p:nvSpPr>
          <p:cNvPr id="6" name="文本框 5">
            <a:extLst>
              <a:ext uri="{FF2B5EF4-FFF2-40B4-BE49-F238E27FC236}">
                <a16:creationId xmlns:a16="http://schemas.microsoft.com/office/drawing/2014/main" id="{C99B05B9-437C-8A03-BD85-6C41E59F298D}"/>
              </a:ext>
            </a:extLst>
          </p:cNvPr>
          <p:cNvSpPr txBox="1"/>
          <p:nvPr/>
        </p:nvSpPr>
        <p:spPr>
          <a:xfrm>
            <a:off x="1887940" y="2850529"/>
            <a:ext cx="8507103" cy="1200329"/>
          </a:xfrm>
          <a:prstGeom prst="rect">
            <a:avLst/>
          </a:prstGeom>
          <a:noFill/>
        </p:spPr>
        <p:txBody>
          <a:bodyPr wrap="square" rtlCol="0">
            <a:spAutoFit/>
          </a:bodyPr>
          <a:lstStyle/>
          <a:p>
            <a:r>
              <a:rPr lang="zh-CN" altLang="en-US" sz="1800" b="0" i="0" dirty="0">
                <a:solidFill>
                  <a:srgbClr val="000000"/>
                </a:solidFill>
                <a:effectLst/>
                <a:latin typeface="FangSong" panose="02010609060101010101" pitchFamily="49" charset="-122"/>
                <a:ea typeface="FangSong" panose="02010609060101010101" pitchFamily="49" charset="-122"/>
              </a:rPr>
              <a:t>本章先阐述</a:t>
            </a:r>
            <a:r>
              <a:rPr lang="en-US" altLang="zh-CN" sz="1800" b="0" i="0" dirty="0">
                <a:solidFill>
                  <a:srgbClr val="000000"/>
                </a:solidFill>
                <a:effectLst/>
                <a:latin typeface="FangSong" panose="02010609060101010101" pitchFamily="49" charset="-122"/>
                <a:ea typeface="FangSong" panose="02010609060101010101" pitchFamily="49" charset="-122"/>
              </a:rPr>
              <a:t>XXX</a:t>
            </a:r>
            <a:r>
              <a:rPr lang="zh-CN" altLang="en-US" sz="1800" b="0" i="0" dirty="0">
                <a:solidFill>
                  <a:srgbClr val="000000"/>
                </a:solidFill>
                <a:effectLst/>
                <a:latin typeface="FangSong" panose="02010609060101010101" pitchFamily="49" charset="-122"/>
                <a:ea typeface="FangSong" panose="02010609060101010101" pitchFamily="49" charset="-122"/>
              </a:rPr>
              <a:t>的背景，点明现有</a:t>
            </a:r>
            <a:r>
              <a:rPr lang="en-US" altLang="zh-CN" sz="1800" b="0" i="0" dirty="0">
                <a:solidFill>
                  <a:srgbClr val="000000"/>
                </a:solidFill>
                <a:effectLst/>
                <a:latin typeface="FangSong" panose="02010609060101010101" pitchFamily="49" charset="-122"/>
                <a:ea typeface="FangSong" panose="02010609060101010101" pitchFamily="49" charset="-122"/>
              </a:rPr>
              <a:t>XXXXX</a:t>
            </a:r>
            <a:r>
              <a:rPr lang="zh-CN" altLang="en-US" sz="1800" b="0" i="0" dirty="0">
                <a:solidFill>
                  <a:srgbClr val="000000"/>
                </a:solidFill>
                <a:effectLst/>
                <a:latin typeface="FangSong" panose="02010609060101010101" pitchFamily="49" charset="-122"/>
                <a:ea typeface="FangSong" panose="02010609060101010101" pitchFamily="49" charset="-122"/>
              </a:rPr>
              <a:t>的问题。接着分析</a:t>
            </a:r>
            <a:r>
              <a:rPr lang="en-US" altLang="zh-CN" sz="1800" b="0" i="0" dirty="0">
                <a:solidFill>
                  <a:srgbClr val="000000"/>
                </a:solidFill>
                <a:effectLst/>
                <a:latin typeface="FangSong" panose="02010609060101010101" pitchFamily="49" charset="-122"/>
                <a:ea typeface="FangSong" panose="02010609060101010101" pitchFamily="49" charset="-122"/>
              </a:rPr>
              <a:t>XXXXX</a:t>
            </a:r>
            <a:r>
              <a:rPr lang="zh-CN" altLang="en-US" sz="1800" b="0" i="0" dirty="0">
                <a:solidFill>
                  <a:srgbClr val="000000"/>
                </a:solidFill>
                <a:effectLst/>
                <a:latin typeface="FangSong" panose="02010609060101010101" pitchFamily="49" charset="-122"/>
                <a:ea typeface="FangSong" panose="02010609060101010101" pitchFamily="49" charset="-122"/>
              </a:rPr>
              <a:t>系统的国内外发展现状和研究成果。通过背景与现状分析，明确了开发</a:t>
            </a:r>
            <a:r>
              <a:rPr lang="en-US" altLang="zh-CN" sz="1800" b="0" i="0" dirty="0">
                <a:solidFill>
                  <a:srgbClr val="000000"/>
                </a:solidFill>
                <a:effectLst/>
                <a:latin typeface="FangSong" panose="02010609060101010101" pitchFamily="49" charset="-122"/>
                <a:ea typeface="FangSong" panose="02010609060101010101" pitchFamily="49" charset="-122"/>
              </a:rPr>
              <a:t>XXXXXX</a:t>
            </a:r>
            <a:r>
              <a:rPr lang="zh-CN" altLang="en-US" sz="1800" b="0" i="0" dirty="0">
                <a:solidFill>
                  <a:srgbClr val="000000"/>
                </a:solidFill>
                <a:effectLst/>
                <a:latin typeface="FangSong" panose="02010609060101010101" pitchFamily="49" charset="-122"/>
                <a:ea typeface="FangSong" panose="02010609060101010101" pitchFamily="49" charset="-122"/>
              </a:rPr>
              <a:t>系统的意义，为后续研究奠定基础。</a:t>
            </a:r>
            <a:r>
              <a:rPr lang="zh-CN" altLang="en-US" dirty="0"/>
              <a:t> </a:t>
            </a:r>
            <a:br>
              <a:rPr lang="zh-CN" altLang="en-US" dirty="0"/>
            </a:br>
            <a:endParaRPr lang="en-US" altLang="zh-CN"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273B5821-774A-0FB3-595F-DC92B74D313D}"/>
              </a:ext>
            </a:extLst>
          </p:cNvPr>
          <p:cNvSpPr txBox="1"/>
          <p:nvPr/>
        </p:nvSpPr>
        <p:spPr>
          <a:xfrm>
            <a:off x="4608394" y="4703760"/>
            <a:ext cx="2902424" cy="584775"/>
          </a:xfrm>
          <a:prstGeom prst="rect">
            <a:avLst/>
          </a:prstGeom>
          <a:noFill/>
        </p:spPr>
        <p:txBody>
          <a:bodyPr wrap="square">
            <a:spAutoFit/>
          </a:bodyPr>
          <a:lstStyle/>
          <a:p>
            <a:r>
              <a:rPr lang="zh-CN" altLang="en-US" sz="3200" dirty="0">
                <a:solidFill>
                  <a:srgbClr val="FF0000"/>
                </a:solidFill>
                <a:latin typeface="SimSun" panose="02010600030101010101" pitchFamily="2" charset="-122"/>
                <a:ea typeface="SimSun" panose="02010600030101010101" pitchFamily="2" charset="-122"/>
              </a:rPr>
              <a:t>第一章共</a:t>
            </a:r>
            <a:r>
              <a:rPr lang="en-US" altLang="zh-CN" sz="3200" dirty="0">
                <a:solidFill>
                  <a:srgbClr val="FF0000"/>
                </a:solidFill>
                <a:latin typeface="SimSun" panose="02010600030101010101" pitchFamily="2" charset="-122"/>
                <a:ea typeface="SimSun" panose="02010600030101010101" pitchFamily="2" charset="-122"/>
              </a:rPr>
              <a:t>4-5</a:t>
            </a:r>
            <a:r>
              <a:rPr lang="zh-CN" altLang="en-US" sz="3200" dirty="0">
                <a:solidFill>
                  <a:srgbClr val="FF0000"/>
                </a:solidFill>
                <a:latin typeface="SimSun" panose="02010600030101010101" pitchFamily="2" charset="-122"/>
                <a:ea typeface="SimSun" panose="02010600030101010101" pitchFamily="2" charset="-122"/>
              </a:rPr>
              <a:t>页</a:t>
            </a:r>
            <a:endParaRPr lang="zh-CN" altLang="en-US" sz="3200" dirty="0">
              <a:solidFill>
                <a:srgbClr val="FF0000"/>
              </a:solidFill>
            </a:endParaRPr>
          </a:p>
        </p:txBody>
      </p:sp>
    </p:spTree>
    <p:extLst>
      <p:ext uri="{BB962C8B-B14F-4D97-AF65-F5344CB8AC3E}">
        <p14:creationId xmlns:p14="http://schemas.microsoft.com/office/powerpoint/2010/main" val="30870199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5B846C4-E07C-DE31-8CB4-ADF3C024E3FF}"/>
              </a:ext>
            </a:extLst>
          </p:cNvPr>
          <p:cNvSpPr txBox="1"/>
          <p:nvPr/>
        </p:nvSpPr>
        <p:spPr>
          <a:xfrm>
            <a:off x="4048836" y="1665027"/>
            <a:ext cx="3398291" cy="646331"/>
          </a:xfrm>
          <a:prstGeom prst="rect">
            <a:avLst/>
          </a:prstGeom>
          <a:noFill/>
        </p:spPr>
        <p:txBody>
          <a:bodyPr wrap="square" rtlCol="0">
            <a:spAutoFit/>
          </a:bodyPr>
          <a:lstStyle/>
          <a:p>
            <a:r>
              <a:rPr lang="zh-CN" altLang="en-US" sz="3600" dirty="0">
                <a:latin typeface="微软雅黑" panose="020B0503020204020204" pitchFamily="34" charset="-122"/>
                <a:ea typeface="微软雅黑" panose="020B0503020204020204" pitchFamily="34" charset="-122"/>
              </a:rPr>
              <a:t>第二章相关技术</a:t>
            </a:r>
          </a:p>
        </p:txBody>
      </p:sp>
      <p:sp>
        <p:nvSpPr>
          <p:cNvPr id="3" name="文本框 2">
            <a:extLst>
              <a:ext uri="{FF2B5EF4-FFF2-40B4-BE49-F238E27FC236}">
                <a16:creationId xmlns:a16="http://schemas.microsoft.com/office/drawing/2014/main" id="{85EAF869-619E-D8EA-12B8-4D0234957086}"/>
              </a:ext>
            </a:extLst>
          </p:cNvPr>
          <p:cNvSpPr txBox="1"/>
          <p:nvPr/>
        </p:nvSpPr>
        <p:spPr>
          <a:xfrm>
            <a:off x="1851546" y="2929720"/>
            <a:ext cx="4503762" cy="1754326"/>
          </a:xfrm>
          <a:prstGeom prst="rect">
            <a:avLst/>
          </a:prstGeom>
          <a:noFill/>
        </p:spPr>
        <p:txBody>
          <a:bodyPr wrap="square" rtlCol="0">
            <a:spAutoFit/>
          </a:bodyPr>
          <a:lstStyle/>
          <a:p>
            <a:r>
              <a:rPr lang="en-US" altLang="zh-CN" sz="1800" b="0" i="0" dirty="0">
                <a:solidFill>
                  <a:srgbClr val="000000"/>
                </a:solidFill>
                <a:effectLst/>
                <a:latin typeface="SimSun" panose="02010600030101010101" pitchFamily="2" charset="-122"/>
                <a:ea typeface="SimSun" panose="02010600030101010101" pitchFamily="2" charset="-122"/>
              </a:rPr>
              <a:t>2.1 B/S </a:t>
            </a:r>
            <a:r>
              <a:rPr lang="zh-CN" altLang="en-US" sz="1800" b="0" i="0" dirty="0">
                <a:solidFill>
                  <a:srgbClr val="000000"/>
                </a:solidFill>
                <a:effectLst/>
                <a:latin typeface="SimSun" panose="02010600030101010101" pitchFamily="2" charset="-122"/>
                <a:ea typeface="SimSun" panose="02010600030101010101" pitchFamily="2" charset="-122"/>
              </a:rPr>
              <a:t>架构简介</a:t>
            </a:r>
            <a:br>
              <a:rPr lang="en-US" altLang="zh-CN" sz="1800" b="0" i="0" dirty="0">
                <a:solidFill>
                  <a:srgbClr val="000000"/>
                </a:solidFill>
                <a:effectLst/>
                <a:latin typeface="SimSun" panose="02010600030101010101" pitchFamily="2" charset="-122"/>
                <a:ea typeface="SimSun" panose="02010600030101010101" pitchFamily="2" charset="-122"/>
              </a:rPr>
            </a:br>
            <a:r>
              <a:rPr lang="en-US" altLang="zh-CN" sz="1800" b="0" i="0" dirty="0">
                <a:solidFill>
                  <a:srgbClr val="000000"/>
                </a:solidFill>
                <a:effectLst/>
                <a:latin typeface="SimSun" panose="02010600030101010101" pitchFamily="2" charset="-122"/>
                <a:ea typeface="SimSun" panose="02010600030101010101" pitchFamily="2" charset="-122"/>
              </a:rPr>
              <a:t>2.2 </a:t>
            </a:r>
            <a:r>
              <a:rPr lang="en-US" altLang="zh-CN" sz="1800" b="0" i="0" dirty="0" err="1">
                <a:solidFill>
                  <a:srgbClr val="000000"/>
                </a:solidFill>
                <a:effectLst/>
                <a:latin typeface="SimSun" panose="02010600030101010101" pitchFamily="2" charset="-122"/>
                <a:ea typeface="SimSun" panose="02010600030101010101" pitchFamily="2" charset="-122"/>
              </a:rPr>
              <a:t>SpringMVC</a:t>
            </a:r>
            <a:r>
              <a:rPr lang="en-US" altLang="zh-CN" sz="1800" b="0" i="0" dirty="0">
                <a:solidFill>
                  <a:srgbClr val="000000"/>
                </a:solidFill>
                <a:effectLst/>
                <a:latin typeface="SimSun" panose="02010600030101010101" pitchFamily="2" charset="-122"/>
                <a:ea typeface="SimSun" panose="02010600030101010101" pitchFamily="2" charset="-122"/>
              </a:rPr>
              <a:t> </a:t>
            </a:r>
            <a:r>
              <a:rPr lang="zh-CN" altLang="en-US" sz="1800" b="0" i="0" dirty="0">
                <a:solidFill>
                  <a:srgbClr val="000000"/>
                </a:solidFill>
                <a:effectLst/>
                <a:latin typeface="SimSun" panose="02010600030101010101" pitchFamily="2" charset="-122"/>
                <a:ea typeface="SimSun" panose="02010600030101010101" pitchFamily="2" charset="-122"/>
              </a:rPr>
              <a:t>框架简介</a:t>
            </a:r>
            <a:br>
              <a:rPr lang="en-US" altLang="zh-CN" sz="1800" b="0" i="0" dirty="0">
                <a:solidFill>
                  <a:srgbClr val="000000"/>
                </a:solidFill>
                <a:effectLst/>
                <a:latin typeface="SimSun" panose="02010600030101010101" pitchFamily="2" charset="-122"/>
                <a:ea typeface="SimSun" panose="02010600030101010101" pitchFamily="2" charset="-122"/>
              </a:rPr>
            </a:br>
            <a:r>
              <a:rPr lang="en-US" altLang="zh-CN" sz="1800" b="0" i="0" dirty="0">
                <a:solidFill>
                  <a:srgbClr val="000000"/>
                </a:solidFill>
                <a:effectLst/>
                <a:latin typeface="SimSun" panose="02010600030101010101" pitchFamily="2" charset="-122"/>
                <a:ea typeface="SimSun" panose="02010600030101010101" pitchFamily="2" charset="-122"/>
              </a:rPr>
              <a:t>2.3 MySQL </a:t>
            </a:r>
            <a:r>
              <a:rPr lang="zh-CN" altLang="en-US" sz="1800" b="0" i="0" dirty="0">
                <a:solidFill>
                  <a:srgbClr val="000000"/>
                </a:solidFill>
                <a:effectLst/>
                <a:latin typeface="SimSun" panose="02010600030101010101" pitchFamily="2" charset="-122"/>
                <a:ea typeface="SimSun" panose="02010600030101010101" pitchFamily="2" charset="-122"/>
              </a:rPr>
              <a:t>简介</a:t>
            </a:r>
            <a:br>
              <a:rPr lang="en-US" altLang="zh-CN" sz="1800" b="0" i="0" dirty="0">
                <a:solidFill>
                  <a:srgbClr val="000000"/>
                </a:solidFill>
                <a:effectLst/>
                <a:latin typeface="SimSun" panose="02010600030101010101" pitchFamily="2" charset="-122"/>
                <a:ea typeface="SimSun" panose="02010600030101010101" pitchFamily="2" charset="-122"/>
              </a:rPr>
            </a:br>
            <a:r>
              <a:rPr lang="en-US" altLang="zh-CN" sz="1800" b="0" i="0" dirty="0">
                <a:solidFill>
                  <a:srgbClr val="000000"/>
                </a:solidFill>
                <a:effectLst/>
                <a:latin typeface="SimSun" panose="02010600030101010101" pitchFamily="2" charset="-122"/>
                <a:ea typeface="SimSun" panose="02010600030101010101" pitchFamily="2" charset="-122"/>
              </a:rPr>
              <a:t>2.4 </a:t>
            </a:r>
            <a:r>
              <a:rPr lang="en-US" altLang="zh-CN" sz="1800" b="0" i="0" dirty="0" err="1">
                <a:solidFill>
                  <a:srgbClr val="000000"/>
                </a:solidFill>
                <a:effectLst/>
                <a:latin typeface="SimSun" panose="02010600030101010101" pitchFamily="2" charset="-122"/>
                <a:ea typeface="SimSun" panose="02010600030101010101" pitchFamily="2" charset="-122"/>
              </a:rPr>
              <a:t>MyBatis</a:t>
            </a:r>
            <a:r>
              <a:rPr lang="en-US" altLang="zh-CN" sz="1800" b="0" i="0" dirty="0">
                <a:solidFill>
                  <a:srgbClr val="000000"/>
                </a:solidFill>
                <a:effectLst/>
                <a:latin typeface="SimSun" panose="02010600030101010101" pitchFamily="2" charset="-122"/>
                <a:ea typeface="SimSun" panose="02010600030101010101" pitchFamily="2" charset="-122"/>
              </a:rPr>
              <a:t> </a:t>
            </a:r>
            <a:r>
              <a:rPr lang="zh-CN" altLang="en-US" sz="1800" b="0" i="0" dirty="0">
                <a:solidFill>
                  <a:srgbClr val="000000"/>
                </a:solidFill>
                <a:effectLst/>
                <a:latin typeface="SimSun" panose="02010600030101010101" pitchFamily="2" charset="-122"/>
                <a:ea typeface="SimSun" panose="02010600030101010101" pitchFamily="2" charset="-122"/>
              </a:rPr>
              <a:t>简介</a:t>
            </a:r>
            <a:br>
              <a:rPr lang="en-US" altLang="zh-CN" sz="1800" b="0" i="0" dirty="0">
                <a:solidFill>
                  <a:srgbClr val="000000"/>
                </a:solidFill>
                <a:effectLst/>
                <a:latin typeface="SimSun" panose="02010600030101010101" pitchFamily="2" charset="-122"/>
                <a:ea typeface="SimSun" panose="02010600030101010101" pitchFamily="2" charset="-122"/>
              </a:rPr>
            </a:br>
            <a:r>
              <a:rPr lang="en-US" altLang="zh-CN" sz="1800" b="0" i="0" dirty="0">
                <a:solidFill>
                  <a:srgbClr val="000000"/>
                </a:solidFill>
                <a:effectLst/>
                <a:latin typeface="SimSun" panose="02010600030101010101" pitchFamily="2" charset="-122"/>
                <a:ea typeface="SimSun" panose="02010600030101010101" pitchFamily="2" charset="-122"/>
              </a:rPr>
              <a:t>2.5 </a:t>
            </a:r>
            <a:r>
              <a:rPr lang="zh-CN" altLang="en-US" sz="1800" b="0" i="0" dirty="0">
                <a:solidFill>
                  <a:srgbClr val="000000"/>
                </a:solidFill>
                <a:effectLst/>
                <a:latin typeface="SimSun" panose="02010600030101010101" pitchFamily="2" charset="-122"/>
                <a:ea typeface="SimSun" panose="02010600030101010101" pitchFamily="2" charset="-122"/>
              </a:rPr>
              <a:t>本章小结</a:t>
            </a:r>
            <a:br>
              <a:rPr lang="zh-CN" altLang="en-US" dirty="0"/>
            </a:br>
            <a:endParaRPr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B7B03FB8-6A3C-9C29-AD7F-0B9EA5CE0AB4}"/>
              </a:ext>
            </a:extLst>
          </p:cNvPr>
          <p:cNvSpPr txBox="1"/>
          <p:nvPr/>
        </p:nvSpPr>
        <p:spPr>
          <a:xfrm>
            <a:off x="6200633" y="2752299"/>
            <a:ext cx="3270913" cy="2031325"/>
          </a:xfrm>
          <a:prstGeom prst="rect">
            <a:avLst/>
          </a:prstGeom>
          <a:noFill/>
        </p:spPr>
        <p:txBody>
          <a:bodyPr wrap="square">
            <a:spAutoFit/>
          </a:bodyPr>
          <a:lstStyle/>
          <a:p>
            <a:r>
              <a:rPr lang="en-US" altLang="zh-CN" sz="1800" b="0" i="0" dirty="0">
                <a:solidFill>
                  <a:srgbClr val="000000"/>
                </a:solidFill>
                <a:effectLst/>
                <a:latin typeface="SimSun" panose="02010600030101010101" pitchFamily="2" charset="-122"/>
                <a:ea typeface="SimSun" panose="02010600030101010101" pitchFamily="2" charset="-122"/>
              </a:rPr>
              <a:t>2.1 </a:t>
            </a:r>
            <a:r>
              <a:rPr lang="zh-CN" altLang="en-US" sz="1800" b="0" i="0" dirty="0">
                <a:solidFill>
                  <a:srgbClr val="000000"/>
                </a:solidFill>
                <a:effectLst/>
                <a:latin typeface="SimSun" panose="02010600030101010101" pitchFamily="2" charset="-122"/>
                <a:ea typeface="SimSun" panose="02010600030101010101" pitchFamily="2" charset="-122"/>
              </a:rPr>
              <a:t>数据预处理</a:t>
            </a:r>
            <a:br>
              <a:rPr lang="en-US" altLang="zh-CN" sz="1800" b="0" i="0" dirty="0">
                <a:solidFill>
                  <a:srgbClr val="000000"/>
                </a:solidFill>
                <a:effectLst/>
                <a:latin typeface="SimSun" panose="02010600030101010101" pitchFamily="2" charset="-122"/>
                <a:ea typeface="SimSun" panose="02010600030101010101" pitchFamily="2" charset="-122"/>
              </a:rPr>
            </a:br>
            <a:r>
              <a:rPr lang="en-US" altLang="zh-CN" sz="1800" b="0" i="0" dirty="0">
                <a:solidFill>
                  <a:srgbClr val="000000"/>
                </a:solidFill>
                <a:effectLst/>
                <a:latin typeface="SimSun" panose="02010600030101010101" pitchFamily="2" charset="-122"/>
                <a:ea typeface="SimSun" panose="02010600030101010101" pitchFamily="2" charset="-122"/>
              </a:rPr>
              <a:t>2.2 </a:t>
            </a:r>
            <a:r>
              <a:rPr lang="zh-CN" altLang="en-US" sz="1800" b="0" i="0" dirty="0">
                <a:solidFill>
                  <a:srgbClr val="000000"/>
                </a:solidFill>
                <a:effectLst/>
                <a:latin typeface="SimSun" panose="02010600030101010101" pitchFamily="2" charset="-122"/>
                <a:ea typeface="SimSun" panose="02010600030101010101" pitchFamily="2" charset="-122"/>
              </a:rPr>
              <a:t>数据标注</a:t>
            </a:r>
            <a:br>
              <a:rPr lang="en-US" altLang="zh-CN" sz="1800" b="0" i="0" dirty="0">
                <a:solidFill>
                  <a:srgbClr val="000000"/>
                </a:solidFill>
                <a:effectLst/>
                <a:latin typeface="SimSun" panose="02010600030101010101" pitchFamily="2" charset="-122"/>
                <a:ea typeface="SimSun" panose="02010600030101010101" pitchFamily="2" charset="-122"/>
              </a:rPr>
            </a:br>
            <a:r>
              <a:rPr lang="en-US" altLang="zh-CN" sz="1800" b="0" i="0" dirty="0">
                <a:solidFill>
                  <a:srgbClr val="000000"/>
                </a:solidFill>
                <a:effectLst/>
                <a:latin typeface="SimSun" panose="02010600030101010101" pitchFamily="2" charset="-122"/>
                <a:ea typeface="SimSun" panose="02010600030101010101" pitchFamily="2" charset="-122"/>
              </a:rPr>
              <a:t>2.3 YOLO </a:t>
            </a:r>
            <a:r>
              <a:rPr lang="zh-CN" altLang="en-US" sz="1800" b="0" i="0" dirty="0">
                <a:solidFill>
                  <a:srgbClr val="000000"/>
                </a:solidFill>
                <a:effectLst/>
                <a:latin typeface="SimSun" panose="02010600030101010101" pitchFamily="2" charset="-122"/>
                <a:ea typeface="SimSun" panose="02010600030101010101" pitchFamily="2" charset="-122"/>
              </a:rPr>
              <a:t>目标检测模型</a:t>
            </a:r>
            <a:br>
              <a:rPr lang="en-US" altLang="zh-CN" sz="1800" b="0" i="0" dirty="0">
                <a:solidFill>
                  <a:srgbClr val="000000"/>
                </a:solidFill>
                <a:effectLst/>
                <a:latin typeface="SimSun" panose="02010600030101010101" pitchFamily="2" charset="-122"/>
                <a:ea typeface="SimSun" panose="02010600030101010101" pitchFamily="2" charset="-122"/>
              </a:rPr>
            </a:br>
            <a:r>
              <a:rPr lang="en-US" altLang="zh-CN" sz="1800" b="0" i="0" dirty="0">
                <a:solidFill>
                  <a:srgbClr val="000000"/>
                </a:solidFill>
                <a:effectLst/>
                <a:latin typeface="SimSun" panose="02010600030101010101" pitchFamily="2" charset="-122"/>
                <a:ea typeface="SimSun" panose="02010600030101010101" pitchFamily="2" charset="-122"/>
              </a:rPr>
              <a:t>2.4 PYQt5</a:t>
            </a:r>
            <a:br>
              <a:rPr lang="en-US" altLang="zh-CN" sz="1800" b="0" i="0" dirty="0">
                <a:solidFill>
                  <a:srgbClr val="000000"/>
                </a:solidFill>
                <a:effectLst/>
                <a:latin typeface="SimSun" panose="02010600030101010101" pitchFamily="2" charset="-122"/>
                <a:ea typeface="SimSun" panose="02010600030101010101" pitchFamily="2" charset="-122"/>
              </a:rPr>
            </a:br>
            <a:r>
              <a:rPr lang="en-US" altLang="zh-CN" sz="1800" b="0" i="0" dirty="0">
                <a:solidFill>
                  <a:srgbClr val="000000"/>
                </a:solidFill>
                <a:effectLst/>
                <a:latin typeface="SimSun" panose="02010600030101010101" pitchFamily="2" charset="-122"/>
                <a:ea typeface="SimSun" panose="02010600030101010101" pitchFamily="2" charset="-122"/>
              </a:rPr>
              <a:t>2.5 Torch</a:t>
            </a:r>
          </a:p>
          <a:p>
            <a:r>
              <a:rPr lang="en-US" altLang="zh-CN" sz="1800" b="0" i="0" dirty="0">
                <a:solidFill>
                  <a:srgbClr val="000000"/>
                </a:solidFill>
                <a:effectLst/>
                <a:latin typeface="SimSun" panose="02010600030101010101" pitchFamily="2" charset="-122"/>
                <a:ea typeface="SimSun" panose="02010600030101010101" pitchFamily="2" charset="-122"/>
              </a:rPr>
              <a:t>2.6 </a:t>
            </a:r>
            <a:r>
              <a:rPr lang="zh-CN" altLang="en-US" sz="1800" b="0" i="0" dirty="0">
                <a:solidFill>
                  <a:srgbClr val="000000"/>
                </a:solidFill>
                <a:effectLst/>
                <a:latin typeface="SimSun" panose="02010600030101010101" pitchFamily="2" charset="-122"/>
                <a:ea typeface="SimSun" panose="02010600030101010101" pitchFamily="2" charset="-122"/>
              </a:rPr>
              <a:t>本章小结</a:t>
            </a:r>
            <a:br>
              <a:rPr lang="zh-CN" altLang="en-US" dirty="0"/>
            </a:br>
            <a:endParaRPr lang="zh-CN" altLang="en-US" dirty="0"/>
          </a:p>
        </p:txBody>
      </p:sp>
      <p:sp>
        <p:nvSpPr>
          <p:cNvPr id="6" name="文本框 5">
            <a:extLst>
              <a:ext uri="{FF2B5EF4-FFF2-40B4-BE49-F238E27FC236}">
                <a16:creationId xmlns:a16="http://schemas.microsoft.com/office/drawing/2014/main" id="{6FCAAF8C-B800-649D-F108-4162283AD22A}"/>
              </a:ext>
            </a:extLst>
          </p:cNvPr>
          <p:cNvSpPr txBox="1"/>
          <p:nvPr/>
        </p:nvSpPr>
        <p:spPr>
          <a:xfrm>
            <a:off x="2656765" y="4758013"/>
            <a:ext cx="6041409" cy="646331"/>
          </a:xfrm>
          <a:prstGeom prst="rect">
            <a:avLst/>
          </a:prstGeom>
          <a:noFill/>
        </p:spPr>
        <p:txBody>
          <a:bodyPr wrap="square">
            <a:spAutoFit/>
          </a:bodyPr>
          <a:lstStyle/>
          <a:p>
            <a:r>
              <a:rPr lang="zh-CN" altLang="en-US" dirty="0">
                <a:solidFill>
                  <a:srgbClr val="FF0000"/>
                </a:solidFill>
                <a:latin typeface="SimSun" panose="02010600030101010101" pitchFamily="2" charset="-122"/>
                <a:ea typeface="SimSun" panose="02010600030101010101" pitchFamily="2" charset="-122"/>
              </a:rPr>
              <a:t>这部分不要</a:t>
            </a:r>
            <a:r>
              <a:rPr lang="en-US" altLang="zh-CN" dirty="0">
                <a:solidFill>
                  <a:srgbClr val="FF0000"/>
                </a:solidFill>
                <a:latin typeface="SimSun" panose="02010600030101010101" pitchFamily="2" charset="-122"/>
                <a:ea typeface="SimSun" panose="02010600030101010101" pitchFamily="2" charset="-122"/>
              </a:rPr>
              <a:t>AI</a:t>
            </a:r>
            <a:r>
              <a:rPr lang="zh-CN" altLang="en-US" dirty="0">
                <a:solidFill>
                  <a:srgbClr val="FF0000"/>
                </a:solidFill>
                <a:latin typeface="SimSun" panose="02010600030101010101" pitchFamily="2" charset="-122"/>
                <a:ea typeface="SimSun" panose="02010600030101010101" pitchFamily="2" charset="-122"/>
              </a:rPr>
              <a:t>写，不然</a:t>
            </a:r>
            <a:r>
              <a:rPr lang="en-US" altLang="zh-CN" dirty="0">
                <a:solidFill>
                  <a:srgbClr val="FF0000"/>
                </a:solidFill>
                <a:latin typeface="SimSun" panose="02010600030101010101" pitchFamily="2" charset="-122"/>
                <a:ea typeface="SimSun" panose="02010600030101010101" pitchFamily="2" charset="-122"/>
              </a:rPr>
              <a:t>AI</a:t>
            </a:r>
            <a:r>
              <a:rPr lang="zh-CN" altLang="en-US" dirty="0">
                <a:solidFill>
                  <a:srgbClr val="FF0000"/>
                </a:solidFill>
                <a:latin typeface="SimSun" panose="02010600030101010101" pitchFamily="2" charset="-122"/>
                <a:ea typeface="SimSun" panose="02010600030101010101" pitchFamily="2" charset="-122"/>
              </a:rPr>
              <a:t>率极高，直接百度搜索，找</a:t>
            </a:r>
            <a:r>
              <a:rPr lang="en-US" altLang="zh-CN" dirty="0">
                <a:solidFill>
                  <a:srgbClr val="FF0000"/>
                </a:solidFill>
                <a:latin typeface="SimSun" panose="02010600030101010101" pitchFamily="2" charset="-122"/>
                <a:ea typeface="SimSun" panose="02010600030101010101" pitchFamily="2" charset="-122"/>
              </a:rPr>
              <a:t>CSDN</a:t>
            </a:r>
            <a:r>
              <a:rPr lang="zh-CN" altLang="en-US" dirty="0">
                <a:solidFill>
                  <a:srgbClr val="FF0000"/>
                </a:solidFill>
                <a:latin typeface="SimSun" panose="02010600030101010101" pitchFamily="2" charset="-122"/>
                <a:ea typeface="SimSun" panose="02010600030101010101" pitchFamily="2" charset="-122"/>
              </a:rPr>
              <a:t>博客和知乎等平台上的介绍，自己归纳总结一下</a:t>
            </a:r>
            <a:endParaRPr lang="zh-CN" altLang="en-US" dirty="0">
              <a:solidFill>
                <a:srgbClr val="FF0000"/>
              </a:solidFill>
            </a:endParaRPr>
          </a:p>
        </p:txBody>
      </p:sp>
      <p:sp>
        <p:nvSpPr>
          <p:cNvPr id="4" name="文本框 3">
            <a:extLst>
              <a:ext uri="{FF2B5EF4-FFF2-40B4-BE49-F238E27FC236}">
                <a16:creationId xmlns:a16="http://schemas.microsoft.com/office/drawing/2014/main" id="{0A0B9E7A-152D-1E0C-73D4-EED0F904AAD8}"/>
              </a:ext>
            </a:extLst>
          </p:cNvPr>
          <p:cNvSpPr txBox="1"/>
          <p:nvPr/>
        </p:nvSpPr>
        <p:spPr>
          <a:xfrm>
            <a:off x="5662685" y="2840599"/>
            <a:ext cx="657366" cy="1384995"/>
          </a:xfrm>
          <a:prstGeom prst="rect">
            <a:avLst/>
          </a:prstGeom>
          <a:noFill/>
        </p:spPr>
        <p:txBody>
          <a:bodyPr wrap="square" rtlCol="0">
            <a:spAutoFit/>
          </a:bodyPr>
          <a:lstStyle/>
          <a:p>
            <a:r>
              <a:rPr lang="zh-CN" altLang="en-US" sz="2800" dirty="0">
                <a:latin typeface="微软雅黑" panose="020B0503020204020204" pitchFamily="34" charset="-122"/>
                <a:ea typeface="微软雅黑" panose="020B0503020204020204" pitchFamily="34" charset="-122"/>
              </a:rPr>
              <a:t>模型类</a:t>
            </a:r>
          </a:p>
        </p:txBody>
      </p:sp>
      <p:sp>
        <p:nvSpPr>
          <p:cNvPr id="7" name="文本框 6">
            <a:extLst>
              <a:ext uri="{FF2B5EF4-FFF2-40B4-BE49-F238E27FC236}">
                <a16:creationId xmlns:a16="http://schemas.microsoft.com/office/drawing/2014/main" id="{AE1286B7-68D6-5A62-987A-A16FD3C9D04B}"/>
              </a:ext>
            </a:extLst>
          </p:cNvPr>
          <p:cNvSpPr txBox="1"/>
          <p:nvPr/>
        </p:nvSpPr>
        <p:spPr>
          <a:xfrm>
            <a:off x="1291990" y="2850529"/>
            <a:ext cx="595950" cy="1384995"/>
          </a:xfrm>
          <a:prstGeom prst="rect">
            <a:avLst/>
          </a:prstGeom>
          <a:noFill/>
        </p:spPr>
        <p:txBody>
          <a:bodyPr wrap="square" rtlCol="0">
            <a:spAutoFit/>
          </a:bodyPr>
          <a:lstStyle/>
          <a:p>
            <a:r>
              <a:rPr lang="zh-CN" altLang="en-US" sz="2800" dirty="0">
                <a:latin typeface="微软雅黑" panose="020B0503020204020204" pitchFamily="34" charset="-122"/>
                <a:ea typeface="微软雅黑" panose="020B0503020204020204" pitchFamily="34" charset="-122"/>
              </a:rPr>
              <a:t>系统类</a:t>
            </a:r>
          </a:p>
        </p:txBody>
      </p:sp>
    </p:spTree>
    <p:extLst>
      <p:ext uri="{BB962C8B-B14F-4D97-AF65-F5344CB8AC3E}">
        <p14:creationId xmlns:p14="http://schemas.microsoft.com/office/powerpoint/2010/main" val="11774288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5B846C4-E07C-DE31-8CB4-ADF3C024E3FF}"/>
              </a:ext>
            </a:extLst>
          </p:cNvPr>
          <p:cNvSpPr txBox="1"/>
          <p:nvPr/>
        </p:nvSpPr>
        <p:spPr>
          <a:xfrm>
            <a:off x="4294496" y="1551296"/>
            <a:ext cx="3730387" cy="646331"/>
          </a:xfrm>
          <a:prstGeom prst="rect">
            <a:avLst/>
          </a:prstGeom>
          <a:noFill/>
        </p:spPr>
        <p:txBody>
          <a:bodyPr wrap="square" rtlCol="0">
            <a:spAutoFit/>
          </a:bodyPr>
          <a:lstStyle/>
          <a:p>
            <a:r>
              <a:rPr lang="zh-CN" altLang="en-US" sz="3600" dirty="0">
                <a:latin typeface="微软雅黑" panose="020B0503020204020204" pitchFamily="34" charset="-122"/>
                <a:ea typeface="微软雅黑" panose="020B0503020204020204" pitchFamily="34" charset="-122"/>
              </a:rPr>
              <a:t>第三章系统分析</a:t>
            </a:r>
          </a:p>
        </p:txBody>
      </p:sp>
      <p:sp>
        <p:nvSpPr>
          <p:cNvPr id="3" name="文本框 2">
            <a:extLst>
              <a:ext uri="{FF2B5EF4-FFF2-40B4-BE49-F238E27FC236}">
                <a16:creationId xmlns:a16="http://schemas.microsoft.com/office/drawing/2014/main" id="{85EAF869-619E-D8EA-12B8-4D0234957086}"/>
              </a:ext>
            </a:extLst>
          </p:cNvPr>
          <p:cNvSpPr txBox="1"/>
          <p:nvPr/>
        </p:nvSpPr>
        <p:spPr>
          <a:xfrm>
            <a:off x="3125337" y="2756848"/>
            <a:ext cx="4503762" cy="2585323"/>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3.1 </a:t>
            </a:r>
            <a:r>
              <a:rPr lang="zh-CN" altLang="en-US" dirty="0">
                <a:latin typeface="微软雅黑" panose="020B0503020204020204" pitchFamily="34" charset="-122"/>
                <a:ea typeface="微软雅黑" panose="020B0503020204020204" pitchFamily="34" charset="-122"/>
              </a:rPr>
              <a:t>可行性分析</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a:t>
            </a:r>
            <a:r>
              <a:rPr lang="en-US" altLang="zh-CN" dirty="0">
                <a:solidFill>
                  <a:srgbClr val="0070C0"/>
                </a:solidFill>
                <a:latin typeface="微软雅黑" panose="020B0503020204020204" pitchFamily="34" charset="-122"/>
                <a:ea typeface="微软雅黑" panose="020B0503020204020204" pitchFamily="34" charset="-122"/>
              </a:rPr>
              <a:t>3.1.1</a:t>
            </a:r>
            <a:r>
              <a:rPr lang="zh-CN" altLang="en-US" dirty="0">
                <a:solidFill>
                  <a:srgbClr val="0070C0"/>
                </a:solidFill>
                <a:latin typeface="微软雅黑" panose="020B0503020204020204" pitchFamily="34" charset="-122"/>
                <a:ea typeface="微软雅黑" panose="020B0503020204020204" pitchFamily="34" charset="-122"/>
              </a:rPr>
              <a:t>经济可行性</a:t>
            </a:r>
            <a:endParaRPr lang="en-US" altLang="zh-CN" dirty="0">
              <a:solidFill>
                <a:srgbClr val="0070C0"/>
              </a:solidFill>
              <a:latin typeface="微软雅黑" panose="020B0503020204020204" pitchFamily="34" charset="-122"/>
              <a:ea typeface="微软雅黑" panose="020B0503020204020204" pitchFamily="34" charset="-122"/>
            </a:endParaRPr>
          </a:p>
          <a:p>
            <a:r>
              <a:rPr lang="en-US" altLang="zh-CN" dirty="0">
                <a:solidFill>
                  <a:srgbClr val="0070C0"/>
                </a:solidFill>
                <a:latin typeface="微软雅黑" panose="020B0503020204020204" pitchFamily="34" charset="-122"/>
                <a:ea typeface="微软雅黑" panose="020B0503020204020204" pitchFamily="34" charset="-122"/>
              </a:rPr>
              <a:t>  3.1.2</a:t>
            </a:r>
            <a:r>
              <a:rPr lang="zh-CN" altLang="en-US" dirty="0">
                <a:solidFill>
                  <a:srgbClr val="0070C0"/>
                </a:solidFill>
                <a:latin typeface="微软雅黑" panose="020B0503020204020204" pitchFamily="34" charset="-122"/>
                <a:ea typeface="微软雅黑" panose="020B0503020204020204" pitchFamily="34" charset="-122"/>
              </a:rPr>
              <a:t>技术可行性</a:t>
            </a:r>
            <a:endParaRPr lang="en-US" altLang="zh-CN" dirty="0">
              <a:solidFill>
                <a:srgbClr val="0070C0"/>
              </a:solidFill>
              <a:latin typeface="微软雅黑" panose="020B0503020204020204" pitchFamily="34" charset="-122"/>
              <a:ea typeface="微软雅黑" panose="020B0503020204020204" pitchFamily="34" charset="-122"/>
            </a:endParaRPr>
          </a:p>
          <a:p>
            <a:r>
              <a:rPr lang="en-US" altLang="zh-CN" dirty="0">
                <a:solidFill>
                  <a:srgbClr val="0070C0"/>
                </a:solidFill>
                <a:latin typeface="微软雅黑" panose="020B0503020204020204" pitchFamily="34" charset="-122"/>
                <a:ea typeface="微软雅黑" panose="020B0503020204020204" pitchFamily="34" charset="-122"/>
              </a:rPr>
              <a:t>  3.1.3</a:t>
            </a:r>
            <a:r>
              <a:rPr lang="zh-CN" altLang="en-US" dirty="0">
                <a:solidFill>
                  <a:srgbClr val="0070C0"/>
                </a:solidFill>
                <a:latin typeface="微软雅黑" panose="020B0503020204020204" pitchFamily="34" charset="-122"/>
                <a:ea typeface="微软雅黑" panose="020B0503020204020204" pitchFamily="34" charset="-122"/>
              </a:rPr>
              <a:t>操作可行性</a:t>
            </a:r>
            <a:endParaRPr lang="en-US" altLang="zh-CN" dirty="0">
              <a:solidFill>
                <a:srgbClr val="0070C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3.2 </a:t>
            </a:r>
            <a:r>
              <a:rPr lang="zh-CN" altLang="en-US" dirty="0">
                <a:latin typeface="微软雅黑" panose="020B0503020204020204" pitchFamily="34" charset="-122"/>
                <a:ea typeface="微软雅黑" panose="020B0503020204020204" pitchFamily="34" charset="-122"/>
              </a:rPr>
              <a:t>需求分析</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a:t>
            </a:r>
            <a:r>
              <a:rPr lang="en-US" altLang="zh-CN" dirty="0">
                <a:solidFill>
                  <a:srgbClr val="0070C0"/>
                </a:solidFill>
                <a:latin typeface="微软雅黑" panose="020B0503020204020204" pitchFamily="34" charset="-122"/>
                <a:ea typeface="微软雅黑" panose="020B0503020204020204" pitchFamily="34" charset="-122"/>
              </a:rPr>
              <a:t>3.2.1</a:t>
            </a:r>
            <a:r>
              <a:rPr lang="zh-CN" altLang="en-US" dirty="0">
                <a:solidFill>
                  <a:srgbClr val="0070C0"/>
                </a:solidFill>
                <a:latin typeface="微软雅黑" panose="020B0503020204020204" pitchFamily="34" charset="-122"/>
                <a:ea typeface="微软雅黑" panose="020B0503020204020204" pitchFamily="34" charset="-122"/>
              </a:rPr>
              <a:t>功能描述</a:t>
            </a:r>
            <a:endParaRPr lang="en-US" altLang="zh-CN" dirty="0">
              <a:solidFill>
                <a:srgbClr val="0070C0"/>
              </a:solidFill>
              <a:latin typeface="微软雅黑" panose="020B0503020204020204" pitchFamily="34" charset="-122"/>
              <a:ea typeface="微软雅黑" panose="020B0503020204020204" pitchFamily="34" charset="-122"/>
            </a:endParaRPr>
          </a:p>
          <a:p>
            <a:r>
              <a:rPr lang="en-US" altLang="zh-CN" dirty="0">
                <a:solidFill>
                  <a:srgbClr val="0070C0"/>
                </a:solidFill>
                <a:latin typeface="微软雅黑" panose="020B0503020204020204" pitchFamily="34" charset="-122"/>
                <a:ea typeface="微软雅黑" panose="020B0503020204020204" pitchFamily="34" charset="-122"/>
              </a:rPr>
              <a:t>  3.2.2</a:t>
            </a:r>
            <a:r>
              <a:rPr lang="zh-CN" altLang="en-US" dirty="0">
                <a:solidFill>
                  <a:srgbClr val="0070C0"/>
                </a:solidFill>
                <a:latin typeface="微软雅黑" panose="020B0503020204020204" pitchFamily="34" charset="-122"/>
                <a:ea typeface="微软雅黑" panose="020B0503020204020204" pitchFamily="34" charset="-122"/>
              </a:rPr>
              <a:t>用例建模</a:t>
            </a:r>
            <a:endParaRPr lang="en-US" altLang="zh-CN" dirty="0">
              <a:solidFill>
                <a:srgbClr val="0070C0"/>
              </a:solidFill>
              <a:latin typeface="微软雅黑" panose="020B0503020204020204" pitchFamily="34" charset="-122"/>
              <a:ea typeface="微软雅黑" panose="020B0503020204020204" pitchFamily="34" charset="-122"/>
            </a:endParaRPr>
          </a:p>
          <a:p>
            <a:r>
              <a:rPr lang="en-US" altLang="zh-CN" dirty="0">
                <a:solidFill>
                  <a:srgbClr val="0070C0"/>
                </a:solidFill>
                <a:latin typeface="微软雅黑" panose="020B0503020204020204" pitchFamily="34" charset="-122"/>
                <a:ea typeface="微软雅黑" panose="020B0503020204020204" pitchFamily="34" charset="-122"/>
              </a:rPr>
              <a:t>  3.2.3</a:t>
            </a:r>
            <a:r>
              <a:rPr lang="zh-CN" altLang="en-US" dirty="0">
                <a:solidFill>
                  <a:srgbClr val="0070C0"/>
                </a:solidFill>
                <a:latin typeface="微软雅黑" panose="020B0503020204020204" pitchFamily="34" charset="-122"/>
                <a:ea typeface="微软雅黑" panose="020B0503020204020204" pitchFamily="34" charset="-122"/>
              </a:rPr>
              <a:t>非功能性需求分析</a:t>
            </a:r>
            <a:endParaRPr lang="en-US" altLang="zh-CN" dirty="0">
              <a:solidFill>
                <a:srgbClr val="0070C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3.3</a:t>
            </a:r>
            <a:r>
              <a:rPr lang="zh-CN" altLang="en-US" dirty="0">
                <a:latin typeface="微软雅黑" panose="020B0503020204020204" pitchFamily="34" charset="-122"/>
                <a:ea typeface="微软雅黑" panose="020B0503020204020204" pitchFamily="34" charset="-122"/>
              </a:rPr>
              <a:t>本章小结</a:t>
            </a:r>
            <a:endParaRPr lang="en-US" altLang="zh-CN"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915F369C-40CB-4CF6-14E0-54CD41F1A28D}"/>
              </a:ext>
            </a:extLst>
          </p:cNvPr>
          <p:cNvSpPr txBox="1"/>
          <p:nvPr/>
        </p:nvSpPr>
        <p:spPr>
          <a:xfrm>
            <a:off x="4535606" y="5472584"/>
            <a:ext cx="2902424" cy="584775"/>
          </a:xfrm>
          <a:prstGeom prst="rect">
            <a:avLst/>
          </a:prstGeom>
          <a:noFill/>
        </p:spPr>
        <p:txBody>
          <a:bodyPr wrap="square">
            <a:spAutoFit/>
          </a:bodyPr>
          <a:lstStyle/>
          <a:p>
            <a:r>
              <a:rPr lang="zh-CN" altLang="en-US" sz="3200" dirty="0">
                <a:solidFill>
                  <a:srgbClr val="FF0000"/>
                </a:solidFill>
                <a:latin typeface="SimSun" panose="02010600030101010101" pitchFamily="2" charset="-122"/>
                <a:ea typeface="SimSun" panose="02010600030101010101" pitchFamily="2" charset="-122"/>
              </a:rPr>
              <a:t>第三章共</a:t>
            </a:r>
            <a:r>
              <a:rPr lang="en-US" altLang="zh-CN" sz="3200" dirty="0">
                <a:solidFill>
                  <a:srgbClr val="FF0000"/>
                </a:solidFill>
                <a:latin typeface="SimSun" panose="02010600030101010101" pitchFamily="2" charset="-122"/>
                <a:ea typeface="SimSun" panose="02010600030101010101" pitchFamily="2" charset="-122"/>
              </a:rPr>
              <a:t>4-5</a:t>
            </a:r>
            <a:r>
              <a:rPr lang="zh-CN" altLang="en-US" sz="3200" dirty="0">
                <a:solidFill>
                  <a:srgbClr val="FF0000"/>
                </a:solidFill>
                <a:latin typeface="SimSun" panose="02010600030101010101" pitchFamily="2" charset="-122"/>
                <a:ea typeface="SimSun" panose="02010600030101010101" pitchFamily="2" charset="-122"/>
              </a:rPr>
              <a:t>页</a:t>
            </a:r>
            <a:endParaRPr lang="zh-CN" altLang="en-US" sz="3200" dirty="0">
              <a:solidFill>
                <a:srgbClr val="FF0000"/>
              </a:solidFill>
            </a:endParaRPr>
          </a:p>
        </p:txBody>
      </p:sp>
    </p:spTree>
    <p:extLst>
      <p:ext uri="{BB962C8B-B14F-4D97-AF65-F5344CB8AC3E}">
        <p14:creationId xmlns:p14="http://schemas.microsoft.com/office/powerpoint/2010/main" val="5753029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5B846C4-E07C-DE31-8CB4-ADF3C024E3FF}"/>
              </a:ext>
            </a:extLst>
          </p:cNvPr>
          <p:cNvSpPr txBox="1"/>
          <p:nvPr/>
        </p:nvSpPr>
        <p:spPr>
          <a:xfrm>
            <a:off x="3775882" y="1537648"/>
            <a:ext cx="3525670" cy="646331"/>
          </a:xfrm>
          <a:prstGeom prst="rect">
            <a:avLst/>
          </a:prstGeom>
          <a:noFill/>
        </p:spPr>
        <p:txBody>
          <a:bodyPr wrap="square" rtlCol="0">
            <a:spAutoFit/>
          </a:bodyPr>
          <a:lstStyle/>
          <a:p>
            <a:r>
              <a:rPr lang="zh-CN" altLang="en-US" sz="3600" dirty="0">
                <a:latin typeface="微软雅黑" panose="020B0503020204020204" pitchFamily="34" charset="-122"/>
                <a:ea typeface="微软雅黑" panose="020B0503020204020204" pitchFamily="34" charset="-122"/>
              </a:rPr>
              <a:t>第三章系统分析</a:t>
            </a:r>
          </a:p>
        </p:txBody>
      </p:sp>
      <p:sp>
        <p:nvSpPr>
          <p:cNvPr id="5" name="文本框 4">
            <a:extLst>
              <a:ext uri="{FF2B5EF4-FFF2-40B4-BE49-F238E27FC236}">
                <a16:creationId xmlns:a16="http://schemas.microsoft.com/office/drawing/2014/main" id="{FDC4B851-89BA-B306-4C5F-661283666090}"/>
              </a:ext>
            </a:extLst>
          </p:cNvPr>
          <p:cNvSpPr txBox="1"/>
          <p:nvPr/>
        </p:nvSpPr>
        <p:spPr>
          <a:xfrm>
            <a:off x="4667535" y="2481197"/>
            <a:ext cx="6114196" cy="369332"/>
          </a:xfrm>
          <a:prstGeom prst="rect">
            <a:avLst/>
          </a:prstGeom>
          <a:noFill/>
        </p:spPr>
        <p:txBody>
          <a:bodyPr wrap="square">
            <a:spAutoFit/>
          </a:bodyPr>
          <a:lstStyle/>
          <a:p>
            <a:r>
              <a:rPr lang="en-US" altLang="zh-CN" dirty="0">
                <a:latin typeface="微软雅黑" panose="020B0503020204020204" pitchFamily="34" charset="-122"/>
                <a:ea typeface="微软雅黑" panose="020B0503020204020204" pitchFamily="34" charset="-122"/>
              </a:rPr>
              <a:t>3.1</a:t>
            </a:r>
            <a:r>
              <a:rPr lang="zh-CN" altLang="en-US" dirty="0">
                <a:latin typeface="微软雅黑" panose="020B0503020204020204" pitchFamily="34" charset="-122"/>
                <a:ea typeface="微软雅黑" panose="020B0503020204020204" pitchFamily="34" charset="-122"/>
              </a:rPr>
              <a:t>可行性分析</a:t>
            </a:r>
            <a:endParaRPr lang="zh-CN" altLang="en-US" dirty="0"/>
          </a:p>
        </p:txBody>
      </p:sp>
      <p:sp>
        <p:nvSpPr>
          <p:cNvPr id="6" name="文本框 5">
            <a:extLst>
              <a:ext uri="{FF2B5EF4-FFF2-40B4-BE49-F238E27FC236}">
                <a16:creationId xmlns:a16="http://schemas.microsoft.com/office/drawing/2014/main" id="{C99B05B9-437C-8A03-BD85-6C41E59F298D}"/>
              </a:ext>
            </a:extLst>
          </p:cNvPr>
          <p:cNvSpPr txBox="1"/>
          <p:nvPr/>
        </p:nvSpPr>
        <p:spPr>
          <a:xfrm>
            <a:off x="1887940" y="2850529"/>
            <a:ext cx="8507103" cy="1477328"/>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3.1 </a:t>
            </a:r>
            <a:r>
              <a:rPr lang="zh-CN" altLang="en-US" dirty="0">
                <a:latin typeface="微软雅黑" panose="020B0503020204020204" pitchFamily="34" charset="-122"/>
                <a:ea typeface="微软雅黑" panose="020B0503020204020204" pitchFamily="34" charset="-122"/>
              </a:rPr>
              <a:t>可行性分析</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3.1.1</a:t>
            </a:r>
            <a:r>
              <a:rPr lang="zh-CN" altLang="en-US" dirty="0">
                <a:latin typeface="微软雅黑" panose="020B0503020204020204" pitchFamily="34" charset="-122"/>
                <a:ea typeface="微软雅黑" panose="020B0503020204020204" pitchFamily="34" charset="-122"/>
              </a:rPr>
              <a:t>经济可行性（技术开源；开发难度；资金支出</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3.1.2</a:t>
            </a:r>
            <a:r>
              <a:rPr lang="zh-CN" altLang="en-US" dirty="0">
                <a:latin typeface="微软雅黑" panose="020B0503020204020204" pitchFamily="34" charset="-122"/>
                <a:ea typeface="微软雅黑" panose="020B0503020204020204" pitchFamily="34" charset="-122"/>
              </a:rPr>
              <a:t>技术可行性（前端用什么、数据库用什么，服务器用什么，连接用什么</a:t>
            </a:r>
            <a:r>
              <a:rPr lang="en-US" altLang="zh-CN" dirty="0">
                <a:latin typeface="微软雅黑" panose="020B0503020204020204" pitchFamily="34" charset="-122"/>
                <a:ea typeface="微软雅黑" panose="020B0503020204020204" pitchFamily="34" charset="-122"/>
              </a:rPr>
              <a:t>……)</a:t>
            </a:r>
          </a:p>
          <a:p>
            <a:r>
              <a:rPr lang="en-US" altLang="zh-CN" dirty="0">
                <a:latin typeface="微软雅黑" panose="020B0503020204020204" pitchFamily="34" charset="-122"/>
                <a:ea typeface="微软雅黑" panose="020B0503020204020204" pitchFamily="34" charset="-122"/>
              </a:rPr>
              <a:t>  3.1.3</a:t>
            </a:r>
            <a:r>
              <a:rPr lang="zh-CN" altLang="en-US" dirty="0">
                <a:latin typeface="微软雅黑" panose="020B0503020204020204" pitchFamily="34" charset="-122"/>
                <a:ea typeface="微软雅黑" panose="020B0503020204020204" pitchFamily="34" charset="-122"/>
              </a:rPr>
              <a:t>操作可行性（操作简单、用户可以实现什么功能；界面流程简洁；服务便利</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63CAC61D-D44E-84F7-9B11-4D2926323D61}"/>
              </a:ext>
            </a:extLst>
          </p:cNvPr>
          <p:cNvSpPr txBox="1"/>
          <p:nvPr/>
        </p:nvSpPr>
        <p:spPr>
          <a:xfrm>
            <a:off x="1887940" y="4431395"/>
            <a:ext cx="8507103" cy="1477328"/>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3.1 </a:t>
            </a:r>
            <a:r>
              <a:rPr lang="zh-CN" altLang="en-US" dirty="0">
                <a:latin typeface="微软雅黑" panose="020B0503020204020204" pitchFamily="34" charset="-122"/>
                <a:ea typeface="微软雅黑" panose="020B0503020204020204" pitchFamily="34" charset="-122"/>
              </a:rPr>
              <a:t>可行性分析</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3.1.1</a:t>
            </a:r>
            <a:r>
              <a:rPr lang="zh-CN" altLang="en-US" dirty="0">
                <a:latin typeface="微软雅黑" panose="020B0503020204020204" pitchFamily="34" charset="-122"/>
                <a:ea typeface="微软雅黑" panose="020B0503020204020204" pitchFamily="34" charset="-122"/>
              </a:rPr>
              <a:t>经济可行性（之前技术依赖经验判断、人工，费时费力，用来这个模型之后，省时省力；开发难度；资金支出</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3.1.2</a:t>
            </a:r>
            <a:r>
              <a:rPr lang="zh-CN" altLang="en-US" dirty="0">
                <a:latin typeface="微软雅黑" panose="020B0503020204020204" pitchFamily="34" charset="-122"/>
                <a:ea typeface="微软雅黑" panose="020B0503020204020204" pitchFamily="34" charset="-122"/>
              </a:rPr>
              <a:t>技术可行性（技术来实现功能是可行的，如深度学习用来识别检测</a:t>
            </a:r>
            <a:r>
              <a:rPr lang="en-US" altLang="zh-CN" dirty="0">
                <a:latin typeface="微软雅黑" panose="020B0503020204020204" pitchFamily="34" charset="-122"/>
                <a:ea typeface="微软雅黑" panose="020B0503020204020204" pitchFamily="34" charset="-122"/>
              </a:rPr>
              <a:t>……)</a:t>
            </a:r>
          </a:p>
          <a:p>
            <a:r>
              <a:rPr lang="en-US" altLang="zh-CN" dirty="0">
                <a:latin typeface="微软雅黑" panose="020B0503020204020204" pitchFamily="34" charset="-122"/>
                <a:ea typeface="微软雅黑" panose="020B0503020204020204" pitchFamily="34" charset="-122"/>
              </a:rPr>
              <a:t>  3.1.3</a:t>
            </a:r>
            <a:r>
              <a:rPr lang="zh-CN" altLang="en-US" dirty="0">
                <a:latin typeface="微软雅黑" panose="020B0503020204020204" pitchFamily="34" charset="-122"/>
                <a:ea typeface="微软雅黑" panose="020B0503020204020204" pitchFamily="34" charset="-122"/>
              </a:rPr>
              <a:t>操作可行性（模型可以实现什么功能；操作界面流程简洁；服务便利</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B246D50D-4FC6-E2D4-342F-8850C879641E}"/>
              </a:ext>
            </a:extLst>
          </p:cNvPr>
          <p:cNvSpPr txBox="1"/>
          <p:nvPr/>
        </p:nvSpPr>
        <p:spPr>
          <a:xfrm>
            <a:off x="1291990" y="2850529"/>
            <a:ext cx="595950" cy="1384995"/>
          </a:xfrm>
          <a:prstGeom prst="rect">
            <a:avLst/>
          </a:prstGeom>
          <a:noFill/>
        </p:spPr>
        <p:txBody>
          <a:bodyPr wrap="square" rtlCol="0">
            <a:spAutoFit/>
          </a:bodyPr>
          <a:lstStyle/>
          <a:p>
            <a:r>
              <a:rPr lang="zh-CN" altLang="en-US" sz="2800" dirty="0">
                <a:latin typeface="微软雅黑" panose="020B0503020204020204" pitchFamily="34" charset="-122"/>
                <a:ea typeface="微软雅黑" panose="020B0503020204020204" pitchFamily="34" charset="-122"/>
              </a:rPr>
              <a:t>系统类</a:t>
            </a:r>
          </a:p>
        </p:txBody>
      </p:sp>
      <p:sp>
        <p:nvSpPr>
          <p:cNvPr id="7" name="文本框 6">
            <a:extLst>
              <a:ext uri="{FF2B5EF4-FFF2-40B4-BE49-F238E27FC236}">
                <a16:creationId xmlns:a16="http://schemas.microsoft.com/office/drawing/2014/main" id="{FD1D115C-AC1C-52A7-2F1B-C9559E1C2E5D}"/>
              </a:ext>
            </a:extLst>
          </p:cNvPr>
          <p:cNvSpPr txBox="1"/>
          <p:nvPr/>
        </p:nvSpPr>
        <p:spPr>
          <a:xfrm>
            <a:off x="1261282" y="4348583"/>
            <a:ext cx="657366" cy="1384995"/>
          </a:xfrm>
          <a:prstGeom prst="rect">
            <a:avLst/>
          </a:prstGeom>
          <a:noFill/>
        </p:spPr>
        <p:txBody>
          <a:bodyPr wrap="square" rtlCol="0">
            <a:spAutoFit/>
          </a:bodyPr>
          <a:lstStyle/>
          <a:p>
            <a:r>
              <a:rPr lang="zh-CN" altLang="en-US" sz="2800" dirty="0">
                <a:latin typeface="微软雅黑" panose="020B0503020204020204" pitchFamily="34" charset="-122"/>
                <a:ea typeface="微软雅黑" panose="020B0503020204020204" pitchFamily="34" charset="-122"/>
              </a:rPr>
              <a:t>模型类</a:t>
            </a:r>
          </a:p>
        </p:txBody>
      </p:sp>
    </p:spTree>
    <p:extLst>
      <p:ext uri="{BB962C8B-B14F-4D97-AF65-F5344CB8AC3E}">
        <p14:creationId xmlns:p14="http://schemas.microsoft.com/office/powerpoint/2010/main" val="33544249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5B846C4-E07C-DE31-8CB4-ADF3C024E3FF}"/>
              </a:ext>
            </a:extLst>
          </p:cNvPr>
          <p:cNvSpPr txBox="1"/>
          <p:nvPr/>
        </p:nvSpPr>
        <p:spPr>
          <a:xfrm>
            <a:off x="3775882" y="1537648"/>
            <a:ext cx="3525670" cy="646331"/>
          </a:xfrm>
          <a:prstGeom prst="rect">
            <a:avLst/>
          </a:prstGeom>
          <a:noFill/>
        </p:spPr>
        <p:txBody>
          <a:bodyPr wrap="square" rtlCol="0">
            <a:spAutoFit/>
          </a:bodyPr>
          <a:lstStyle/>
          <a:p>
            <a:r>
              <a:rPr lang="zh-CN" altLang="en-US" sz="3600" dirty="0">
                <a:latin typeface="微软雅黑" panose="020B0503020204020204" pitchFamily="34" charset="-122"/>
                <a:ea typeface="微软雅黑" panose="020B0503020204020204" pitchFamily="34" charset="-122"/>
              </a:rPr>
              <a:t>第三章系统分析</a:t>
            </a:r>
          </a:p>
        </p:txBody>
      </p:sp>
      <p:sp>
        <p:nvSpPr>
          <p:cNvPr id="5" name="文本框 4">
            <a:extLst>
              <a:ext uri="{FF2B5EF4-FFF2-40B4-BE49-F238E27FC236}">
                <a16:creationId xmlns:a16="http://schemas.microsoft.com/office/drawing/2014/main" id="{FDC4B851-89BA-B306-4C5F-661283666090}"/>
              </a:ext>
            </a:extLst>
          </p:cNvPr>
          <p:cNvSpPr txBox="1"/>
          <p:nvPr/>
        </p:nvSpPr>
        <p:spPr>
          <a:xfrm>
            <a:off x="4667535" y="2481197"/>
            <a:ext cx="6114196" cy="369332"/>
          </a:xfrm>
          <a:prstGeom prst="rect">
            <a:avLst/>
          </a:prstGeom>
          <a:noFill/>
        </p:spPr>
        <p:txBody>
          <a:bodyPr wrap="square">
            <a:spAutoFit/>
          </a:bodyPr>
          <a:lstStyle/>
          <a:p>
            <a:r>
              <a:rPr lang="en-US" altLang="zh-CN" dirty="0">
                <a:latin typeface="微软雅黑" panose="020B0503020204020204" pitchFamily="34" charset="-122"/>
                <a:ea typeface="微软雅黑" panose="020B0503020204020204" pitchFamily="34" charset="-122"/>
              </a:rPr>
              <a:t>3.2</a:t>
            </a:r>
            <a:r>
              <a:rPr lang="zh-CN" altLang="en-US" dirty="0">
                <a:latin typeface="微软雅黑" panose="020B0503020204020204" pitchFamily="34" charset="-122"/>
                <a:ea typeface="微软雅黑" panose="020B0503020204020204" pitchFamily="34" charset="-122"/>
              </a:rPr>
              <a:t>需求分析</a:t>
            </a:r>
            <a:endParaRPr lang="zh-CN" altLang="en-US" dirty="0"/>
          </a:p>
        </p:txBody>
      </p:sp>
      <p:sp>
        <p:nvSpPr>
          <p:cNvPr id="6" name="文本框 5">
            <a:extLst>
              <a:ext uri="{FF2B5EF4-FFF2-40B4-BE49-F238E27FC236}">
                <a16:creationId xmlns:a16="http://schemas.microsoft.com/office/drawing/2014/main" id="{C99B05B9-437C-8A03-BD85-6C41E59F298D}"/>
              </a:ext>
            </a:extLst>
          </p:cNvPr>
          <p:cNvSpPr txBox="1"/>
          <p:nvPr/>
        </p:nvSpPr>
        <p:spPr>
          <a:xfrm>
            <a:off x="1887940" y="2850529"/>
            <a:ext cx="8507103" cy="3693319"/>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3.2 </a:t>
            </a:r>
            <a:r>
              <a:rPr lang="zh-CN" altLang="en-US" dirty="0">
                <a:latin typeface="微软雅黑" panose="020B0503020204020204" pitchFamily="34" charset="-122"/>
                <a:ea typeface="微软雅黑" panose="020B0503020204020204" pitchFamily="34" charset="-122"/>
              </a:rPr>
              <a:t>需求分析</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3.2.1</a:t>
            </a:r>
            <a:r>
              <a:rPr lang="zh-CN" altLang="en-US" dirty="0">
                <a:latin typeface="微软雅黑" panose="020B0503020204020204" pitchFamily="34" charset="-122"/>
                <a:ea typeface="微软雅黑" panose="020B0503020204020204" pitchFamily="34" charset="-122"/>
              </a:rPr>
              <a:t>功能描述</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这部分加一个图</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，把系统</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模型的需求按右图的形式列出来。这是论文的第一个图，并对图里的每个模块进行介绍，如：</a:t>
            </a:r>
            <a:endParaRPr lang="en-US" altLang="zh-CN" dirty="0">
              <a:latin typeface="微软雅黑" panose="020B0503020204020204" pitchFamily="34" charset="-122"/>
              <a:ea typeface="微软雅黑" panose="020B0503020204020204" pitchFamily="34" charset="-122"/>
            </a:endParaRPr>
          </a:p>
          <a:p>
            <a:r>
              <a:rPr lang="en-US" altLang="zh-CN" sz="1800" b="0" i="0" dirty="0">
                <a:solidFill>
                  <a:srgbClr val="000000"/>
                </a:solidFill>
                <a:effectLst/>
                <a:latin typeface="TimesNewRomanPSMT"/>
              </a:rPr>
              <a:t>(1)</a:t>
            </a:r>
            <a:r>
              <a:rPr lang="zh-CN" altLang="en-US" sz="1800" b="0" i="0" dirty="0">
                <a:solidFill>
                  <a:srgbClr val="000000"/>
                </a:solidFill>
                <a:effectLst/>
                <a:latin typeface="FangSong" panose="02010609060101010101" pitchFamily="49" charset="-122"/>
                <a:ea typeface="FangSong" panose="02010609060101010101" pitchFamily="49" charset="-122"/>
              </a:rPr>
              <a:t>用户登录管理模块：主要负责用户的登录与注册，负责用户名与密</a:t>
            </a:r>
            <a:br>
              <a:rPr lang="zh-CN" altLang="en-US" sz="1800" b="0" i="0" dirty="0">
                <a:solidFill>
                  <a:srgbClr val="000000"/>
                </a:solidFill>
                <a:effectLst/>
                <a:latin typeface="FangSong" panose="02010609060101010101" pitchFamily="49" charset="-122"/>
                <a:ea typeface="FangSong" panose="02010609060101010101" pitchFamily="49" charset="-122"/>
              </a:rPr>
            </a:br>
            <a:r>
              <a:rPr lang="zh-CN" altLang="en-US" sz="1800" b="0" i="0" dirty="0">
                <a:solidFill>
                  <a:srgbClr val="000000"/>
                </a:solidFill>
                <a:effectLst/>
                <a:latin typeface="FangSong" panose="02010609060101010101" pitchFamily="49" charset="-122"/>
                <a:ea typeface="FangSong" panose="02010609060101010101" pitchFamily="49" charset="-122"/>
              </a:rPr>
              <a:t>码的维护。</a:t>
            </a:r>
            <a:br>
              <a:rPr lang="zh-CN" altLang="en-US" sz="1800" b="0" i="0" dirty="0">
                <a:solidFill>
                  <a:srgbClr val="000000"/>
                </a:solidFill>
                <a:effectLst/>
                <a:latin typeface="FangSong" panose="02010609060101010101" pitchFamily="49" charset="-122"/>
                <a:ea typeface="FangSong" panose="02010609060101010101" pitchFamily="49" charset="-122"/>
              </a:rPr>
            </a:br>
            <a:r>
              <a:rPr lang="en-US" altLang="zh-CN" sz="1800" b="0" i="0" dirty="0">
                <a:solidFill>
                  <a:srgbClr val="000000"/>
                </a:solidFill>
                <a:effectLst/>
                <a:latin typeface="TimesNewRomanPSMT"/>
              </a:rPr>
              <a:t>(2)</a:t>
            </a:r>
            <a:r>
              <a:rPr lang="zh-CN" altLang="en-US" sz="1800" b="0" i="0" dirty="0">
                <a:solidFill>
                  <a:srgbClr val="000000"/>
                </a:solidFill>
                <a:effectLst/>
                <a:latin typeface="FangSong" panose="02010609060101010101" pitchFamily="49" charset="-122"/>
                <a:ea typeface="FangSong" panose="02010609060101010101" pitchFamily="49" charset="-122"/>
              </a:rPr>
              <a:t>模型调用模块：主要用于训练好的模型的调用，负责模型的管理。</a:t>
            </a:r>
            <a:br>
              <a:rPr lang="zh-CN" altLang="en-US" sz="1800" b="0" i="0" dirty="0">
                <a:solidFill>
                  <a:srgbClr val="000000"/>
                </a:solidFill>
                <a:effectLst/>
                <a:latin typeface="FangSong" panose="02010609060101010101" pitchFamily="49" charset="-122"/>
                <a:ea typeface="FangSong" panose="02010609060101010101" pitchFamily="49" charset="-122"/>
              </a:rPr>
            </a:br>
            <a:r>
              <a:rPr lang="en-US" altLang="zh-CN" sz="1800" b="0" i="0" dirty="0">
                <a:solidFill>
                  <a:srgbClr val="000000"/>
                </a:solidFill>
                <a:effectLst/>
                <a:latin typeface="TimesNewRomanPSMT"/>
              </a:rPr>
              <a:t>(3)</a:t>
            </a:r>
            <a:r>
              <a:rPr lang="zh-CN" altLang="en-US" sz="1800" b="0" i="0" dirty="0">
                <a:solidFill>
                  <a:srgbClr val="000000"/>
                </a:solidFill>
                <a:effectLst/>
                <a:latin typeface="FangSong" panose="02010609060101010101" pitchFamily="49" charset="-122"/>
                <a:ea typeface="FangSong" panose="02010609060101010101" pitchFamily="49" charset="-122"/>
              </a:rPr>
              <a:t>图片检测模块：负责对图片文件的管理，与传入的图片文件的检测</a:t>
            </a:r>
            <a:br>
              <a:rPr lang="zh-CN" altLang="en-US" sz="1800" b="0" i="0" dirty="0">
                <a:solidFill>
                  <a:srgbClr val="000000"/>
                </a:solidFill>
                <a:effectLst/>
                <a:latin typeface="FangSong" panose="02010609060101010101" pitchFamily="49" charset="-122"/>
                <a:ea typeface="FangSong" panose="02010609060101010101" pitchFamily="49" charset="-122"/>
              </a:rPr>
            </a:br>
            <a:r>
              <a:rPr lang="zh-CN" altLang="en-US" sz="1800" b="0" i="0" dirty="0">
                <a:solidFill>
                  <a:srgbClr val="000000"/>
                </a:solidFill>
                <a:effectLst/>
                <a:latin typeface="FangSong" panose="02010609060101010101" pitchFamily="49" charset="-122"/>
                <a:ea typeface="FangSong" panose="02010609060101010101" pitchFamily="49" charset="-122"/>
              </a:rPr>
              <a:t>工作，对传入的图片文件进行检测并返回类别与类别数，返回其 </a:t>
            </a:r>
            <a:r>
              <a:rPr lang="en-US" altLang="zh-CN" sz="1800" b="0" i="0" dirty="0" err="1">
                <a:solidFill>
                  <a:srgbClr val="000000"/>
                </a:solidFill>
                <a:effectLst/>
                <a:latin typeface="TimesNewRomanPSMT"/>
              </a:rPr>
              <a:t>xy</a:t>
            </a:r>
            <a:r>
              <a:rPr lang="en-US" altLang="zh-CN" sz="1800" b="0" i="0" dirty="0">
                <a:solidFill>
                  <a:srgbClr val="000000"/>
                </a:solidFill>
                <a:effectLst/>
                <a:latin typeface="TimesNewRomanPSMT"/>
              </a:rPr>
              <a:t> </a:t>
            </a:r>
            <a:r>
              <a:rPr lang="zh-CN" altLang="en-US" sz="1800" b="0" i="0" dirty="0">
                <a:solidFill>
                  <a:srgbClr val="000000"/>
                </a:solidFill>
                <a:effectLst/>
                <a:latin typeface="FangSong" panose="02010609060101010101" pitchFamily="49" charset="-122"/>
                <a:ea typeface="FangSong" panose="02010609060101010101" pitchFamily="49" charset="-122"/>
              </a:rPr>
              <a:t>轴</a:t>
            </a:r>
            <a:br>
              <a:rPr lang="zh-CN" altLang="en-US" sz="1800" b="0" i="0" dirty="0">
                <a:solidFill>
                  <a:srgbClr val="000000"/>
                </a:solidFill>
                <a:effectLst/>
                <a:latin typeface="FangSong" panose="02010609060101010101" pitchFamily="49" charset="-122"/>
                <a:ea typeface="FangSong" panose="02010609060101010101" pitchFamily="49" charset="-122"/>
              </a:rPr>
            </a:br>
            <a:r>
              <a:rPr lang="zh-CN" altLang="en-US" sz="1800" b="0" i="0" dirty="0">
                <a:solidFill>
                  <a:srgbClr val="000000"/>
                </a:solidFill>
                <a:effectLst/>
                <a:latin typeface="FangSong" panose="02010609060101010101" pitchFamily="49" charset="-122"/>
                <a:ea typeface="FangSong" panose="02010609060101010101" pitchFamily="49" charset="-122"/>
              </a:rPr>
              <a:t>坐标，置信度等信息。</a:t>
            </a:r>
            <a:r>
              <a:rPr lang="zh-CN" altLang="en-US" dirty="0"/>
              <a:t> </a:t>
            </a:r>
            <a:br>
              <a:rPr lang="zh-CN" altLang="en-US" dirty="0"/>
            </a:br>
            <a:r>
              <a:rPr lang="en-US" altLang="zh-CN" dirty="0"/>
              <a:t>…….</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a:t>
            </a:r>
          </a:p>
        </p:txBody>
      </p:sp>
      <p:pic>
        <p:nvPicPr>
          <p:cNvPr id="8" name="图片 7">
            <a:extLst>
              <a:ext uri="{FF2B5EF4-FFF2-40B4-BE49-F238E27FC236}">
                <a16:creationId xmlns:a16="http://schemas.microsoft.com/office/drawing/2014/main" id="{8C37ECFF-EABF-1420-582C-F0ED682B8C7B}"/>
              </a:ext>
            </a:extLst>
          </p:cNvPr>
          <p:cNvPicPr>
            <a:picLocks noChangeAspect="1"/>
          </p:cNvPicPr>
          <p:nvPr/>
        </p:nvPicPr>
        <p:blipFill>
          <a:blip r:embed="rId2"/>
          <a:stretch>
            <a:fillRect/>
          </a:stretch>
        </p:blipFill>
        <p:spPr>
          <a:xfrm>
            <a:off x="7365242" y="708835"/>
            <a:ext cx="4023374" cy="2595355"/>
          </a:xfrm>
          <a:prstGeom prst="rect">
            <a:avLst/>
          </a:prstGeom>
        </p:spPr>
      </p:pic>
      <p:sp>
        <p:nvSpPr>
          <p:cNvPr id="3" name="文本框 2">
            <a:extLst>
              <a:ext uri="{FF2B5EF4-FFF2-40B4-BE49-F238E27FC236}">
                <a16:creationId xmlns:a16="http://schemas.microsoft.com/office/drawing/2014/main" id="{B329B887-AF12-B177-DB4B-D9AA24D40498}"/>
              </a:ext>
            </a:extLst>
          </p:cNvPr>
          <p:cNvSpPr txBox="1"/>
          <p:nvPr/>
        </p:nvSpPr>
        <p:spPr>
          <a:xfrm>
            <a:off x="1291990" y="4271245"/>
            <a:ext cx="657366" cy="1384995"/>
          </a:xfrm>
          <a:prstGeom prst="rect">
            <a:avLst/>
          </a:prstGeom>
          <a:noFill/>
        </p:spPr>
        <p:txBody>
          <a:bodyPr wrap="square" rtlCol="0">
            <a:spAutoFit/>
          </a:bodyPr>
          <a:lstStyle/>
          <a:p>
            <a:r>
              <a:rPr lang="zh-CN" altLang="en-US" sz="2800" dirty="0">
                <a:latin typeface="微软雅黑" panose="020B0503020204020204" pitchFamily="34" charset="-122"/>
                <a:ea typeface="微软雅黑" panose="020B0503020204020204" pitchFamily="34" charset="-122"/>
              </a:rPr>
              <a:t>模型类</a:t>
            </a:r>
          </a:p>
        </p:txBody>
      </p:sp>
      <p:sp>
        <p:nvSpPr>
          <p:cNvPr id="4" name="文本框 3">
            <a:extLst>
              <a:ext uri="{FF2B5EF4-FFF2-40B4-BE49-F238E27FC236}">
                <a16:creationId xmlns:a16="http://schemas.microsoft.com/office/drawing/2014/main" id="{6C8D5AA0-CFE9-ED48-E239-6F75412E508A}"/>
              </a:ext>
            </a:extLst>
          </p:cNvPr>
          <p:cNvSpPr txBox="1"/>
          <p:nvPr/>
        </p:nvSpPr>
        <p:spPr>
          <a:xfrm>
            <a:off x="1291990" y="2850529"/>
            <a:ext cx="595950" cy="1384995"/>
          </a:xfrm>
          <a:prstGeom prst="rect">
            <a:avLst/>
          </a:prstGeom>
          <a:noFill/>
        </p:spPr>
        <p:txBody>
          <a:bodyPr wrap="square" rtlCol="0">
            <a:spAutoFit/>
          </a:bodyPr>
          <a:lstStyle/>
          <a:p>
            <a:r>
              <a:rPr lang="zh-CN" altLang="en-US" sz="2800" dirty="0">
                <a:latin typeface="微软雅黑" panose="020B0503020204020204" pitchFamily="34" charset="-122"/>
                <a:ea typeface="微软雅黑" panose="020B0503020204020204" pitchFamily="34" charset="-122"/>
              </a:rPr>
              <a:t>系统类</a:t>
            </a:r>
          </a:p>
        </p:txBody>
      </p:sp>
    </p:spTree>
    <p:extLst>
      <p:ext uri="{BB962C8B-B14F-4D97-AF65-F5344CB8AC3E}">
        <p14:creationId xmlns:p14="http://schemas.microsoft.com/office/powerpoint/2010/main" val="24505705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5B846C4-E07C-DE31-8CB4-ADF3C024E3FF}"/>
              </a:ext>
            </a:extLst>
          </p:cNvPr>
          <p:cNvSpPr txBox="1"/>
          <p:nvPr/>
        </p:nvSpPr>
        <p:spPr>
          <a:xfrm>
            <a:off x="3775882" y="1537648"/>
            <a:ext cx="3525670" cy="646331"/>
          </a:xfrm>
          <a:prstGeom prst="rect">
            <a:avLst/>
          </a:prstGeom>
          <a:noFill/>
        </p:spPr>
        <p:txBody>
          <a:bodyPr wrap="square" rtlCol="0">
            <a:spAutoFit/>
          </a:bodyPr>
          <a:lstStyle/>
          <a:p>
            <a:r>
              <a:rPr lang="zh-CN" altLang="en-US" sz="3600" dirty="0">
                <a:latin typeface="微软雅黑" panose="020B0503020204020204" pitchFamily="34" charset="-122"/>
                <a:ea typeface="微软雅黑" panose="020B0503020204020204" pitchFamily="34" charset="-122"/>
              </a:rPr>
              <a:t>第三章系统分析</a:t>
            </a:r>
          </a:p>
        </p:txBody>
      </p:sp>
      <p:sp>
        <p:nvSpPr>
          <p:cNvPr id="5" name="文本框 4">
            <a:extLst>
              <a:ext uri="{FF2B5EF4-FFF2-40B4-BE49-F238E27FC236}">
                <a16:creationId xmlns:a16="http://schemas.microsoft.com/office/drawing/2014/main" id="{FDC4B851-89BA-B306-4C5F-661283666090}"/>
              </a:ext>
            </a:extLst>
          </p:cNvPr>
          <p:cNvSpPr txBox="1"/>
          <p:nvPr/>
        </p:nvSpPr>
        <p:spPr>
          <a:xfrm>
            <a:off x="4667535" y="2481197"/>
            <a:ext cx="6114196" cy="369332"/>
          </a:xfrm>
          <a:prstGeom prst="rect">
            <a:avLst/>
          </a:prstGeom>
          <a:noFill/>
        </p:spPr>
        <p:txBody>
          <a:bodyPr wrap="square">
            <a:spAutoFit/>
          </a:bodyPr>
          <a:lstStyle/>
          <a:p>
            <a:r>
              <a:rPr lang="en-US" altLang="zh-CN" dirty="0">
                <a:latin typeface="微软雅黑" panose="020B0503020204020204" pitchFamily="34" charset="-122"/>
                <a:ea typeface="微软雅黑" panose="020B0503020204020204" pitchFamily="34" charset="-122"/>
              </a:rPr>
              <a:t>3.2</a:t>
            </a:r>
            <a:r>
              <a:rPr lang="zh-CN" altLang="en-US" dirty="0">
                <a:latin typeface="微软雅黑" panose="020B0503020204020204" pitchFamily="34" charset="-122"/>
                <a:ea typeface="微软雅黑" panose="020B0503020204020204" pitchFamily="34" charset="-122"/>
              </a:rPr>
              <a:t>需求分析</a:t>
            </a:r>
            <a:endParaRPr lang="zh-CN" altLang="en-US" dirty="0"/>
          </a:p>
        </p:txBody>
      </p:sp>
      <p:sp>
        <p:nvSpPr>
          <p:cNvPr id="6" name="文本框 5">
            <a:extLst>
              <a:ext uri="{FF2B5EF4-FFF2-40B4-BE49-F238E27FC236}">
                <a16:creationId xmlns:a16="http://schemas.microsoft.com/office/drawing/2014/main" id="{C99B05B9-437C-8A03-BD85-6C41E59F298D}"/>
              </a:ext>
            </a:extLst>
          </p:cNvPr>
          <p:cNvSpPr txBox="1"/>
          <p:nvPr/>
        </p:nvSpPr>
        <p:spPr>
          <a:xfrm>
            <a:off x="1887940" y="2850529"/>
            <a:ext cx="8507103" cy="286232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3.2 </a:t>
            </a:r>
            <a:r>
              <a:rPr lang="zh-CN" altLang="en-US" dirty="0">
                <a:latin typeface="微软雅黑" panose="020B0503020204020204" pitchFamily="34" charset="-122"/>
                <a:ea typeface="微软雅黑" panose="020B0503020204020204" pitchFamily="34" charset="-122"/>
              </a:rPr>
              <a:t>需求分析</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3.2.2</a:t>
            </a:r>
            <a:r>
              <a:rPr lang="zh-CN" altLang="en-US" dirty="0">
                <a:latin typeface="微软雅黑" panose="020B0503020204020204" pitchFamily="34" charset="-122"/>
                <a:ea typeface="微软雅黑" panose="020B0503020204020204" pitchFamily="34" charset="-122"/>
              </a:rPr>
              <a:t>用例建模</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除第一个图意外，还需添加例图，如右图所示：</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根据自己系统来修改，比如，你系统里有用户、管理员，那就做两个例图，如果是学生、宿管、辅导员、管理员，就做四个例图，并对例图进行描述，如</a:t>
            </a:r>
            <a:endParaRPr lang="en-US" altLang="zh-CN" dirty="0">
              <a:latin typeface="微软雅黑" panose="020B0503020204020204" pitchFamily="34" charset="-122"/>
              <a:ea typeface="微软雅黑" panose="020B0503020204020204" pitchFamily="34" charset="-122"/>
            </a:endParaRPr>
          </a:p>
          <a:p>
            <a:r>
              <a:rPr lang="zh-CN" altLang="en-US" sz="1800" b="0" i="0" dirty="0">
                <a:solidFill>
                  <a:srgbClr val="000000"/>
                </a:solidFill>
                <a:effectLst/>
                <a:latin typeface="FangSong" panose="02010609060101010101" pitchFamily="49" charset="-122"/>
                <a:ea typeface="FangSong" panose="02010609060101010101" pitchFamily="49" charset="-122"/>
              </a:rPr>
              <a:t>用户登录后，可管理个人信息，如修改密码、编辑个人简介等；能发</a:t>
            </a:r>
            <a:br>
              <a:rPr lang="zh-CN" altLang="en-US" sz="1800" b="0" i="0" dirty="0">
                <a:solidFill>
                  <a:srgbClr val="000000"/>
                </a:solidFill>
                <a:effectLst/>
                <a:latin typeface="FangSong" panose="02010609060101010101" pitchFamily="49" charset="-122"/>
                <a:ea typeface="FangSong" panose="02010609060101010101" pitchFamily="49" charset="-122"/>
              </a:rPr>
            </a:br>
            <a:r>
              <a:rPr lang="zh-CN" altLang="en-US" sz="1800" b="0" i="0" dirty="0">
                <a:solidFill>
                  <a:srgbClr val="000000"/>
                </a:solidFill>
                <a:effectLst/>
                <a:latin typeface="FangSong" panose="02010609060101010101" pitchFamily="49" charset="-122"/>
                <a:ea typeface="FangSong" panose="02010609060101010101" pitchFamily="49" charset="-122"/>
              </a:rPr>
              <a:t>布、编辑、删除博客，对博客进行分类管理；还可发表评论、审核评论（博</a:t>
            </a:r>
            <a:br>
              <a:rPr lang="zh-CN" altLang="en-US" sz="1800" b="0" i="0" dirty="0">
                <a:solidFill>
                  <a:srgbClr val="000000"/>
                </a:solidFill>
                <a:effectLst/>
                <a:latin typeface="FangSong" panose="02010609060101010101" pitchFamily="49" charset="-122"/>
                <a:ea typeface="FangSong" panose="02010609060101010101" pitchFamily="49" charset="-122"/>
              </a:rPr>
            </a:br>
            <a:r>
              <a:rPr lang="zh-CN" altLang="en-US" sz="1800" b="0" i="0" dirty="0">
                <a:solidFill>
                  <a:srgbClr val="000000"/>
                </a:solidFill>
                <a:effectLst/>
                <a:latin typeface="FangSong" panose="02010609060101010101" pitchFamily="49" charset="-122"/>
                <a:ea typeface="FangSong" panose="02010609060101010101" pitchFamily="49" charset="-122"/>
              </a:rPr>
              <a:t>主身份时）。</a:t>
            </a:r>
            <a:r>
              <a:rPr lang="zh-CN" altLang="en-US" dirty="0"/>
              <a:t> </a:t>
            </a:r>
            <a:br>
              <a:rPr lang="zh-CN" altLang="en-US" dirty="0"/>
            </a:b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a:t>
            </a:r>
          </a:p>
        </p:txBody>
      </p:sp>
      <p:pic>
        <p:nvPicPr>
          <p:cNvPr id="7" name="图片 6">
            <a:extLst>
              <a:ext uri="{FF2B5EF4-FFF2-40B4-BE49-F238E27FC236}">
                <a16:creationId xmlns:a16="http://schemas.microsoft.com/office/drawing/2014/main" id="{9EDA8E4C-C15B-6A9C-4AF4-7F2F0F9CCDEF}"/>
              </a:ext>
            </a:extLst>
          </p:cNvPr>
          <p:cNvPicPr>
            <a:picLocks noChangeAspect="1"/>
          </p:cNvPicPr>
          <p:nvPr/>
        </p:nvPicPr>
        <p:blipFill>
          <a:blip r:embed="rId2"/>
          <a:stretch>
            <a:fillRect/>
          </a:stretch>
        </p:blipFill>
        <p:spPr>
          <a:xfrm>
            <a:off x="7669989" y="1788700"/>
            <a:ext cx="3366074" cy="1754326"/>
          </a:xfrm>
          <a:prstGeom prst="rect">
            <a:avLst/>
          </a:prstGeom>
        </p:spPr>
      </p:pic>
    </p:spTree>
    <p:extLst>
      <p:ext uri="{BB962C8B-B14F-4D97-AF65-F5344CB8AC3E}">
        <p14:creationId xmlns:p14="http://schemas.microsoft.com/office/powerpoint/2010/main" val="25839270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5B846C4-E07C-DE31-8CB4-ADF3C024E3FF}"/>
              </a:ext>
            </a:extLst>
          </p:cNvPr>
          <p:cNvSpPr txBox="1"/>
          <p:nvPr/>
        </p:nvSpPr>
        <p:spPr>
          <a:xfrm>
            <a:off x="3775882" y="1537648"/>
            <a:ext cx="3525670" cy="646331"/>
          </a:xfrm>
          <a:prstGeom prst="rect">
            <a:avLst/>
          </a:prstGeom>
          <a:noFill/>
        </p:spPr>
        <p:txBody>
          <a:bodyPr wrap="square" rtlCol="0">
            <a:spAutoFit/>
          </a:bodyPr>
          <a:lstStyle/>
          <a:p>
            <a:r>
              <a:rPr lang="zh-CN" altLang="en-US" sz="3600" dirty="0">
                <a:latin typeface="微软雅黑" panose="020B0503020204020204" pitchFamily="34" charset="-122"/>
                <a:ea typeface="微软雅黑" panose="020B0503020204020204" pitchFamily="34" charset="-122"/>
              </a:rPr>
              <a:t>第三章系统分析</a:t>
            </a:r>
          </a:p>
        </p:txBody>
      </p:sp>
      <p:sp>
        <p:nvSpPr>
          <p:cNvPr id="5" name="文本框 4">
            <a:extLst>
              <a:ext uri="{FF2B5EF4-FFF2-40B4-BE49-F238E27FC236}">
                <a16:creationId xmlns:a16="http://schemas.microsoft.com/office/drawing/2014/main" id="{FDC4B851-89BA-B306-4C5F-661283666090}"/>
              </a:ext>
            </a:extLst>
          </p:cNvPr>
          <p:cNvSpPr txBox="1"/>
          <p:nvPr/>
        </p:nvSpPr>
        <p:spPr>
          <a:xfrm>
            <a:off x="4667535" y="2481197"/>
            <a:ext cx="6114196" cy="369332"/>
          </a:xfrm>
          <a:prstGeom prst="rect">
            <a:avLst/>
          </a:prstGeom>
          <a:noFill/>
        </p:spPr>
        <p:txBody>
          <a:bodyPr wrap="square">
            <a:spAutoFit/>
          </a:bodyPr>
          <a:lstStyle/>
          <a:p>
            <a:r>
              <a:rPr lang="en-US" altLang="zh-CN" dirty="0">
                <a:latin typeface="微软雅黑" panose="020B0503020204020204" pitchFamily="34" charset="-122"/>
                <a:ea typeface="微软雅黑" panose="020B0503020204020204" pitchFamily="34" charset="-122"/>
              </a:rPr>
              <a:t>3.2</a:t>
            </a:r>
            <a:r>
              <a:rPr lang="zh-CN" altLang="en-US" dirty="0">
                <a:latin typeface="微软雅黑" panose="020B0503020204020204" pitchFamily="34" charset="-122"/>
                <a:ea typeface="微软雅黑" panose="020B0503020204020204" pitchFamily="34" charset="-122"/>
              </a:rPr>
              <a:t>需求分析</a:t>
            </a:r>
            <a:endParaRPr lang="zh-CN" altLang="en-US" dirty="0"/>
          </a:p>
        </p:txBody>
      </p:sp>
      <p:sp>
        <p:nvSpPr>
          <p:cNvPr id="6" name="文本框 5">
            <a:extLst>
              <a:ext uri="{FF2B5EF4-FFF2-40B4-BE49-F238E27FC236}">
                <a16:creationId xmlns:a16="http://schemas.microsoft.com/office/drawing/2014/main" id="{C99B05B9-437C-8A03-BD85-6C41E59F298D}"/>
              </a:ext>
            </a:extLst>
          </p:cNvPr>
          <p:cNvSpPr txBox="1"/>
          <p:nvPr/>
        </p:nvSpPr>
        <p:spPr>
          <a:xfrm>
            <a:off x="1842448" y="2850529"/>
            <a:ext cx="8507103" cy="3139321"/>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3.2 </a:t>
            </a:r>
            <a:r>
              <a:rPr lang="zh-CN" altLang="en-US" dirty="0">
                <a:latin typeface="微软雅黑" panose="020B0503020204020204" pitchFamily="34" charset="-122"/>
                <a:ea typeface="微软雅黑" panose="020B0503020204020204" pitchFamily="34" charset="-122"/>
              </a:rPr>
              <a:t>需求分析</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3.2.3</a:t>
            </a:r>
            <a:r>
              <a:rPr lang="zh-CN" altLang="en-US" dirty="0">
                <a:latin typeface="微软雅黑" panose="020B0503020204020204" pitchFamily="34" charset="-122"/>
                <a:ea typeface="微软雅黑" panose="020B0503020204020204" pitchFamily="34" charset="-122"/>
              </a:rPr>
              <a:t>非功能性需求（准确性、稳定性、可靠性、易操作性、实时性</a:t>
            </a:r>
            <a:r>
              <a:rPr lang="en-US" altLang="zh-CN" dirty="0">
                <a:latin typeface="微软雅黑" panose="020B0503020204020204" pitchFamily="34" charset="-122"/>
                <a:ea typeface="微软雅黑" panose="020B0503020204020204" pitchFamily="34" charset="-122"/>
              </a:rPr>
              <a:t>…….)</a:t>
            </a:r>
          </a:p>
          <a:p>
            <a:r>
              <a:rPr lang="zh-CN" altLang="en-US" dirty="0">
                <a:latin typeface="微软雅黑" panose="020B0503020204020204" pitchFamily="34" charset="-122"/>
                <a:ea typeface="微软雅黑" panose="020B0503020204020204" pitchFamily="34" charset="-122"/>
              </a:rPr>
              <a:t>每个点一段话，比如可靠性，</a:t>
            </a:r>
            <a:endParaRPr lang="en-US" altLang="zh-CN" dirty="0">
              <a:latin typeface="微软雅黑" panose="020B0503020204020204" pitchFamily="34" charset="-122"/>
              <a:ea typeface="微软雅黑" panose="020B0503020204020204" pitchFamily="34" charset="-122"/>
            </a:endParaRPr>
          </a:p>
          <a:p>
            <a:r>
              <a:rPr lang="zh-CN" altLang="en-US" sz="1800" b="0" i="0" dirty="0">
                <a:solidFill>
                  <a:srgbClr val="000000"/>
                </a:solidFill>
                <a:effectLst/>
                <a:latin typeface="宋体" panose="02010600030101010101" pitchFamily="2" charset="-122"/>
                <a:ea typeface="宋体" panose="02010600030101010101" pitchFamily="2" charset="-122"/>
              </a:rPr>
              <a:t>系统可靠性需求体现在硬件系统可靠性、软件系统可靠性、信息采集可靠性、通信系统可靠性等方面。学生宿舍管理系统在开发过程中应充分运用软件工程的思想， 在系统分析、系统设计阶段就将未来程序设计中可能产生的错误减少和控制在较小范围， 防止错误随着工程建设的进度而扩散和放大。程序设计中也应充分考虑突发事件的影响。信息采集过程中考虑信息的校验，建立信息的报告制度，规范系统间数据接口。</a:t>
            </a:r>
            <a:r>
              <a:rPr lang="zh-CN" altLang="en-US" dirty="0">
                <a:latin typeface="宋体" panose="02010600030101010101" pitchFamily="2" charset="-122"/>
                <a:ea typeface="宋体" panose="02010600030101010101" pitchFamily="2" charset="-122"/>
              </a:rPr>
              <a:t> </a:t>
            </a:r>
            <a:br>
              <a:rPr lang="zh-CN" altLang="en-US" dirty="0">
                <a:latin typeface="宋体" panose="02010600030101010101" pitchFamily="2" charset="-122"/>
                <a:ea typeface="宋体" panose="02010600030101010101" pitchFamily="2" charset="-122"/>
              </a:rPr>
            </a:br>
            <a:r>
              <a:rPr lang="zh-CN" altLang="en-US" dirty="0">
                <a:latin typeface="宋体" panose="02010600030101010101" pitchFamily="2" charset="-122"/>
                <a:ea typeface="宋体" panose="02010600030101010101" pitchFamily="2" charset="-122"/>
              </a:rPr>
              <a:t> </a:t>
            </a:r>
            <a:br>
              <a:rPr lang="zh-CN" altLang="en-US" dirty="0">
                <a:latin typeface="宋体" panose="02010600030101010101" pitchFamily="2" charset="-122"/>
                <a:ea typeface="宋体" panose="02010600030101010101" pitchFamily="2" charset="-122"/>
              </a:rPr>
            </a:br>
            <a:endParaRPr lang="en-US" altLang="zh-CN"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5976564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5B846C4-E07C-DE31-8CB4-ADF3C024E3FF}"/>
              </a:ext>
            </a:extLst>
          </p:cNvPr>
          <p:cNvSpPr txBox="1"/>
          <p:nvPr/>
        </p:nvSpPr>
        <p:spPr>
          <a:xfrm>
            <a:off x="4294497" y="1551296"/>
            <a:ext cx="3575712" cy="646331"/>
          </a:xfrm>
          <a:prstGeom prst="rect">
            <a:avLst/>
          </a:prstGeom>
          <a:noFill/>
        </p:spPr>
        <p:txBody>
          <a:bodyPr wrap="square" rtlCol="0">
            <a:spAutoFit/>
          </a:bodyPr>
          <a:lstStyle/>
          <a:p>
            <a:r>
              <a:rPr lang="zh-CN" altLang="en-US" sz="3600" dirty="0">
                <a:latin typeface="微软雅黑" panose="020B0503020204020204" pitchFamily="34" charset="-122"/>
                <a:ea typeface="微软雅黑" panose="020B0503020204020204" pitchFamily="34" charset="-122"/>
              </a:rPr>
              <a:t>第四章系统设计</a:t>
            </a:r>
          </a:p>
        </p:txBody>
      </p:sp>
      <p:sp>
        <p:nvSpPr>
          <p:cNvPr id="3" name="文本框 2">
            <a:extLst>
              <a:ext uri="{FF2B5EF4-FFF2-40B4-BE49-F238E27FC236}">
                <a16:creationId xmlns:a16="http://schemas.microsoft.com/office/drawing/2014/main" id="{85EAF869-619E-D8EA-12B8-4D0234957086}"/>
              </a:ext>
            </a:extLst>
          </p:cNvPr>
          <p:cNvSpPr txBox="1"/>
          <p:nvPr/>
        </p:nvSpPr>
        <p:spPr>
          <a:xfrm>
            <a:off x="1951629" y="2804362"/>
            <a:ext cx="4503762" cy="1477328"/>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4.1 </a:t>
            </a:r>
            <a:r>
              <a:rPr lang="zh-CN" altLang="en-US" dirty="0">
                <a:latin typeface="微软雅黑" panose="020B0503020204020204" pitchFamily="34" charset="-122"/>
                <a:ea typeface="微软雅黑" panose="020B0503020204020204" pitchFamily="34" charset="-122"/>
              </a:rPr>
              <a:t>系统功能模块设计</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4.2 </a:t>
            </a:r>
            <a:r>
              <a:rPr lang="zh-CN" altLang="en-US" dirty="0">
                <a:latin typeface="微软雅黑" panose="020B0503020204020204" pitchFamily="34" charset="-122"/>
                <a:ea typeface="微软雅黑" panose="020B0503020204020204" pitchFamily="34" charset="-122"/>
              </a:rPr>
              <a:t>系统数据库设计</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4.2.1E-R</a:t>
            </a:r>
            <a:r>
              <a:rPr lang="zh-CN" altLang="en-US" dirty="0">
                <a:latin typeface="微软雅黑" panose="020B0503020204020204" pitchFamily="34" charset="-122"/>
                <a:ea typeface="微软雅黑" panose="020B0503020204020204" pitchFamily="34" charset="-122"/>
              </a:rPr>
              <a:t>模型设计</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4.2.2</a:t>
            </a:r>
            <a:r>
              <a:rPr lang="zh-CN" altLang="en-US" dirty="0">
                <a:latin typeface="微软雅黑" panose="020B0503020204020204" pitchFamily="34" charset="-122"/>
                <a:ea typeface="微软雅黑" panose="020B0503020204020204" pitchFamily="34" charset="-122"/>
              </a:rPr>
              <a:t>数据库逻辑设计</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4.3 </a:t>
            </a:r>
            <a:r>
              <a:rPr lang="zh-CN" altLang="en-US" dirty="0">
                <a:latin typeface="微软雅黑" panose="020B0503020204020204" pitchFamily="34" charset="-122"/>
                <a:ea typeface="微软雅黑" panose="020B0503020204020204" pitchFamily="34" charset="-122"/>
              </a:rPr>
              <a:t>本章小结</a:t>
            </a:r>
          </a:p>
        </p:txBody>
      </p:sp>
      <p:sp>
        <p:nvSpPr>
          <p:cNvPr id="4" name="文本框 3">
            <a:extLst>
              <a:ext uri="{FF2B5EF4-FFF2-40B4-BE49-F238E27FC236}">
                <a16:creationId xmlns:a16="http://schemas.microsoft.com/office/drawing/2014/main" id="{398CF165-4352-BF92-48F7-DC65CB1B4309}"/>
              </a:ext>
            </a:extLst>
          </p:cNvPr>
          <p:cNvSpPr txBox="1"/>
          <p:nvPr/>
        </p:nvSpPr>
        <p:spPr>
          <a:xfrm>
            <a:off x="4535606" y="5472584"/>
            <a:ext cx="2902424" cy="584775"/>
          </a:xfrm>
          <a:prstGeom prst="rect">
            <a:avLst/>
          </a:prstGeom>
          <a:noFill/>
        </p:spPr>
        <p:txBody>
          <a:bodyPr wrap="square">
            <a:spAutoFit/>
          </a:bodyPr>
          <a:lstStyle/>
          <a:p>
            <a:r>
              <a:rPr lang="zh-CN" altLang="en-US" sz="3200" dirty="0">
                <a:solidFill>
                  <a:srgbClr val="FF0000"/>
                </a:solidFill>
                <a:latin typeface="SimSun" panose="02010600030101010101" pitchFamily="2" charset="-122"/>
                <a:ea typeface="SimSun" panose="02010600030101010101" pitchFamily="2" charset="-122"/>
              </a:rPr>
              <a:t>第四章共</a:t>
            </a:r>
            <a:r>
              <a:rPr lang="en-US" altLang="zh-CN" sz="3200" dirty="0">
                <a:solidFill>
                  <a:srgbClr val="FF0000"/>
                </a:solidFill>
                <a:latin typeface="SimSun" panose="02010600030101010101" pitchFamily="2" charset="-122"/>
                <a:ea typeface="SimSun" panose="02010600030101010101" pitchFamily="2" charset="-122"/>
              </a:rPr>
              <a:t>5-6</a:t>
            </a:r>
            <a:r>
              <a:rPr lang="zh-CN" altLang="en-US" sz="3200" dirty="0">
                <a:solidFill>
                  <a:srgbClr val="FF0000"/>
                </a:solidFill>
                <a:latin typeface="SimSun" panose="02010600030101010101" pitchFamily="2" charset="-122"/>
                <a:ea typeface="SimSun" panose="02010600030101010101" pitchFamily="2" charset="-122"/>
              </a:rPr>
              <a:t>页</a:t>
            </a:r>
            <a:endParaRPr lang="zh-CN" altLang="en-US" sz="3200" dirty="0">
              <a:solidFill>
                <a:srgbClr val="FF0000"/>
              </a:solidFill>
            </a:endParaRPr>
          </a:p>
        </p:txBody>
      </p:sp>
      <p:sp>
        <p:nvSpPr>
          <p:cNvPr id="10" name="文本框 9">
            <a:extLst>
              <a:ext uri="{FF2B5EF4-FFF2-40B4-BE49-F238E27FC236}">
                <a16:creationId xmlns:a16="http://schemas.microsoft.com/office/drawing/2014/main" id="{47DF2DCC-5DED-F575-7CC7-83BFC71122AE}"/>
              </a:ext>
            </a:extLst>
          </p:cNvPr>
          <p:cNvSpPr txBox="1"/>
          <p:nvPr/>
        </p:nvSpPr>
        <p:spPr>
          <a:xfrm>
            <a:off x="6148315" y="2835028"/>
            <a:ext cx="657366" cy="1384995"/>
          </a:xfrm>
          <a:prstGeom prst="rect">
            <a:avLst/>
          </a:prstGeom>
          <a:noFill/>
        </p:spPr>
        <p:txBody>
          <a:bodyPr wrap="square" rtlCol="0">
            <a:spAutoFit/>
          </a:bodyPr>
          <a:lstStyle/>
          <a:p>
            <a:r>
              <a:rPr lang="zh-CN" altLang="en-US" sz="2800" dirty="0">
                <a:latin typeface="微软雅黑" panose="020B0503020204020204" pitchFamily="34" charset="-122"/>
                <a:ea typeface="微软雅黑" panose="020B0503020204020204" pitchFamily="34" charset="-122"/>
              </a:rPr>
              <a:t>模型类</a:t>
            </a:r>
          </a:p>
        </p:txBody>
      </p:sp>
      <p:sp>
        <p:nvSpPr>
          <p:cNvPr id="11" name="文本框 10">
            <a:extLst>
              <a:ext uri="{FF2B5EF4-FFF2-40B4-BE49-F238E27FC236}">
                <a16:creationId xmlns:a16="http://schemas.microsoft.com/office/drawing/2014/main" id="{0450C0ED-18E8-F19A-7152-FD6CE44C58BB}"/>
              </a:ext>
            </a:extLst>
          </p:cNvPr>
          <p:cNvSpPr txBox="1"/>
          <p:nvPr/>
        </p:nvSpPr>
        <p:spPr>
          <a:xfrm>
            <a:off x="1291990" y="2850529"/>
            <a:ext cx="595950" cy="1384995"/>
          </a:xfrm>
          <a:prstGeom prst="rect">
            <a:avLst/>
          </a:prstGeom>
          <a:noFill/>
        </p:spPr>
        <p:txBody>
          <a:bodyPr wrap="square" rtlCol="0">
            <a:spAutoFit/>
          </a:bodyPr>
          <a:lstStyle/>
          <a:p>
            <a:r>
              <a:rPr lang="zh-CN" altLang="en-US" sz="2800" dirty="0">
                <a:latin typeface="微软雅黑" panose="020B0503020204020204" pitchFamily="34" charset="-122"/>
                <a:ea typeface="微软雅黑" panose="020B0503020204020204" pitchFamily="34" charset="-122"/>
              </a:rPr>
              <a:t>系统类</a:t>
            </a:r>
          </a:p>
        </p:txBody>
      </p:sp>
      <p:sp>
        <p:nvSpPr>
          <p:cNvPr id="12" name="文本框 11">
            <a:extLst>
              <a:ext uri="{FF2B5EF4-FFF2-40B4-BE49-F238E27FC236}">
                <a16:creationId xmlns:a16="http://schemas.microsoft.com/office/drawing/2014/main" id="{44C1DCA9-3897-6EF8-7CD6-827CE1AFFDE0}"/>
              </a:ext>
            </a:extLst>
          </p:cNvPr>
          <p:cNvSpPr txBox="1"/>
          <p:nvPr/>
        </p:nvSpPr>
        <p:spPr>
          <a:xfrm>
            <a:off x="6762466" y="2758196"/>
            <a:ext cx="4503762" cy="1200329"/>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4.1 </a:t>
            </a:r>
            <a:r>
              <a:rPr lang="zh-CN" altLang="en-US" sz="1800" b="0" i="0" dirty="0">
                <a:solidFill>
                  <a:srgbClr val="000000"/>
                </a:solidFill>
                <a:effectLst/>
                <a:latin typeface="SimSun" panose="02010600030101010101" pitchFamily="2" charset="-122"/>
                <a:ea typeface="SimSun" panose="02010600030101010101" pitchFamily="2" charset="-122"/>
              </a:rPr>
              <a:t>数据收集和处理</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4.2 </a:t>
            </a:r>
            <a:r>
              <a:rPr lang="zh-CN" altLang="en-US" sz="1800" b="0" i="0" dirty="0">
                <a:solidFill>
                  <a:srgbClr val="000000"/>
                </a:solidFill>
                <a:effectLst/>
                <a:latin typeface="SimSun" panose="02010600030101010101" pitchFamily="2" charset="-122"/>
                <a:ea typeface="SimSun" panose="02010600030101010101" pitchFamily="2" charset="-122"/>
              </a:rPr>
              <a:t>模型训练与评估</a:t>
            </a:r>
            <a:br>
              <a:rPr lang="zh-CN" altLang="en-US" dirty="0"/>
            </a:br>
            <a:r>
              <a:rPr lang="en-US" altLang="zh-CN" dirty="0">
                <a:latin typeface="微软雅黑" panose="020B0503020204020204" pitchFamily="34" charset="-122"/>
                <a:ea typeface="微软雅黑" panose="020B0503020204020204" pitchFamily="34" charset="-122"/>
              </a:rPr>
              <a:t>4.3 </a:t>
            </a:r>
            <a:r>
              <a:rPr lang="zh-CN" altLang="en-US" sz="1800" b="0" i="0" dirty="0">
                <a:solidFill>
                  <a:srgbClr val="000000"/>
                </a:solidFill>
                <a:effectLst/>
                <a:latin typeface="SimSun" panose="02010600030101010101" pitchFamily="2" charset="-122"/>
                <a:ea typeface="SimSun" panose="02010600030101010101" pitchFamily="2" charset="-122"/>
              </a:rPr>
              <a:t>设计思路与方法</a:t>
            </a:r>
            <a:r>
              <a:rPr lang="zh-CN" altLang="en-US" dirty="0"/>
              <a:t> </a:t>
            </a:r>
            <a:br>
              <a:rPr lang="zh-CN" altLang="en-US" dirty="0"/>
            </a:br>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本章小结</a:t>
            </a:r>
          </a:p>
        </p:txBody>
      </p:sp>
    </p:spTree>
    <p:extLst>
      <p:ext uri="{BB962C8B-B14F-4D97-AF65-F5344CB8AC3E}">
        <p14:creationId xmlns:p14="http://schemas.microsoft.com/office/powerpoint/2010/main" val="11112750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5B846C4-E07C-DE31-8CB4-ADF3C024E3FF}"/>
              </a:ext>
            </a:extLst>
          </p:cNvPr>
          <p:cNvSpPr txBox="1"/>
          <p:nvPr/>
        </p:nvSpPr>
        <p:spPr>
          <a:xfrm>
            <a:off x="3775882" y="1537648"/>
            <a:ext cx="3525670" cy="646331"/>
          </a:xfrm>
          <a:prstGeom prst="rect">
            <a:avLst/>
          </a:prstGeom>
          <a:noFill/>
        </p:spPr>
        <p:txBody>
          <a:bodyPr wrap="square" rtlCol="0">
            <a:spAutoFit/>
          </a:bodyPr>
          <a:lstStyle/>
          <a:p>
            <a:r>
              <a:rPr lang="zh-CN" altLang="en-US" sz="3600" dirty="0">
                <a:latin typeface="微软雅黑" panose="020B0503020204020204" pitchFamily="34" charset="-122"/>
                <a:ea typeface="微软雅黑" panose="020B0503020204020204" pitchFamily="34" charset="-122"/>
              </a:rPr>
              <a:t>第四章系统设计</a:t>
            </a:r>
          </a:p>
        </p:txBody>
      </p:sp>
      <p:sp>
        <p:nvSpPr>
          <p:cNvPr id="5" name="文本框 4">
            <a:extLst>
              <a:ext uri="{FF2B5EF4-FFF2-40B4-BE49-F238E27FC236}">
                <a16:creationId xmlns:a16="http://schemas.microsoft.com/office/drawing/2014/main" id="{FDC4B851-89BA-B306-4C5F-661283666090}"/>
              </a:ext>
            </a:extLst>
          </p:cNvPr>
          <p:cNvSpPr txBox="1"/>
          <p:nvPr/>
        </p:nvSpPr>
        <p:spPr>
          <a:xfrm>
            <a:off x="4667535" y="2481197"/>
            <a:ext cx="6114196" cy="369332"/>
          </a:xfrm>
          <a:prstGeom prst="rect">
            <a:avLst/>
          </a:prstGeom>
          <a:noFill/>
        </p:spPr>
        <p:txBody>
          <a:bodyPr wrap="square">
            <a:spAutoFit/>
          </a:bodyPr>
          <a:lstStyle/>
          <a:p>
            <a:r>
              <a:rPr lang="en-US" altLang="zh-CN" dirty="0">
                <a:latin typeface="微软雅黑" panose="020B0503020204020204" pitchFamily="34" charset="-122"/>
                <a:ea typeface="微软雅黑" panose="020B0503020204020204" pitchFamily="34" charset="-122"/>
              </a:rPr>
              <a:t>4.1 </a:t>
            </a:r>
            <a:r>
              <a:rPr lang="zh-CN" altLang="en-US" dirty="0">
                <a:latin typeface="微软雅黑" panose="020B0503020204020204" pitchFamily="34" charset="-122"/>
                <a:ea typeface="微软雅黑" panose="020B0503020204020204" pitchFamily="34" charset="-122"/>
              </a:rPr>
              <a:t>系统功能模块设计</a:t>
            </a:r>
            <a:endParaRPr lang="en-US" altLang="zh-CN"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C99B05B9-437C-8A03-BD85-6C41E59F298D}"/>
              </a:ext>
            </a:extLst>
          </p:cNvPr>
          <p:cNvSpPr txBox="1"/>
          <p:nvPr/>
        </p:nvSpPr>
        <p:spPr>
          <a:xfrm>
            <a:off x="1842448" y="2850529"/>
            <a:ext cx="8507103" cy="2031325"/>
          </a:xfrm>
          <a:prstGeom prst="rect">
            <a:avLst/>
          </a:prstGeom>
          <a:noFill/>
        </p:spPr>
        <p:txBody>
          <a:bodyPr wrap="square" rtlCol="0">
            <a:spAutoFit/>
          </a:bodyPr>
          <a:lstStyle/>
          <a:p>
            <a:r>
              <a:rPr lang="zh-CN" altLang="en-US" sz="1800" b="0" i="0" dirty="0">
                <a:solidFill>
                  <a:srgbClr val="000000"/>
                </a:solidFill>
                <a:effectLst/>
                <a:latin typeface="宋体" panose="02010600030101010101" pitchFamily="2" charset="-122"/>
                <a:ea typeface="宋体" panose="02010600030101010101" pitchFamily="2" charset="-122"/>
              </a:rPr>
              <a:t>通过前期的需求分析以及</a:t>
            </a:r>
            <a:r>
              <a:rPr lang="en-US" altLang="zh-CN" sz="1800" b="0" i="0" dirty="0">
                <a:solidFill>
                  <a:srgbClr val="000000"/>
                </a:solidFill>
                <a:effectLst/>
                <a:latin typeface="宋体" panose="02010600030101010101" pitchFamily="2" charset="-122"/>
                <a:ea typeface="宋体" panose="02010600030101010101" pitchFamily="2" charset="-122"/>
              </a:rPr>
              <a:t>XXX</a:t>
            </a:r>
            <a:r>
              <a:rPr lang="zh-CN" altLang="en-US" sz="1800" b="0" i="0" dirty="0">
                <a:solidFill>
                  <a:srgbClr val="000000"/>
                </a:solidFill>
                <a:effectLst/>
                <a:latin typeface="宋体" panose="02010600030101010101" pitchFamily="2" charset="-122"/>
                <a:ea typeface="宋体" panose="02010600030101010101" pitchFamily="2" charset="-122"/>
              </a:rPr>
              <a:t>工作的实际情况</a:t>
            </a:r>
            <a:r>
              <a:rPr lang="en-US" altLang="zh-CN" sz="1800" b="0" i="0" dirty="0">
                <a:solidFill>
                  <a:srgbClr val="000000"/>
                </a:solidFill>
                <a:effectLst/>
                <a:latin typeface="宋体" panose="02010600030101010101" pitchFamily="2" charset="-122"/>
                <a:ea typeface="宋体" panose="02010600030101010101" pitchFamily="2" charset="-122"/>
              </a:rPr>
              <a:t>,XXXX</a:t>
            </a:r>
            <a:r>
              <a:rPr lang="zh-CN" altLang="en-US" sz="1800" b="0" i="0" dirty="0">
                <a:solidFill>
                  <a:srgbClr val="000000"/>
                </a:solidFill>
                <a:effectLst/>
                <a:latin typeface="宋体" panose="02010600030101010101" pitchFamily="2" charset="-122"/>
                <a:ea typeface="宋体" panose="02010600030101010101" pitchFamily="2" charset="-122"/>
              </a:rPr>
              <a:t>系统的主要功能可划分为以下</a:t>
            </a:r>
            <a:r>
              <a:rPr lang="en-US" altLang="zh-CN" sz="1800" b="0" i="0" dirty="0">
                <a:solidFill>
                  <a:srgbClr val="000000"/>
                </a:solidFill>
                <a:effectLst/>
                <a:latin typeface="宋体" panose="02010600030101010101" pitchFamily="2" charset="-122"/>
                <a:ea typeface="宋体" panose="02010600030101010101" pitchFamily="2" charset="-122"/>
              </a:rPr>
              <a:t>X</a:t>
            </a:r>
            <a:r>
              <a:rPr lang="zh-CN" altLang="en-US" sz="1800" b="0" i="0" dirty="0">
                <a:solidFill>
                  <a:srgbClr val="000000"/>
                </a:solidFill>
                <a:effectLst/>
                <a:latin typeface="宋体" panose="02010600030101010101" pitchFamily="2" charset="-122"/>
                <a:ea typeface="宋体" panose="02010600030101010101" pitchFamily="2" charset="-122"/>
              </a:rPr>
              <a:t> 大管理模块</a:t>
            </a:r>
            <a:r>
              <a:rPr lang="en-US" altLang="zh-CN" sz="1800" b="0" i="0" dirty="0">
                <a:solidFill>
                  <a:srgbClr val="000000"/>
                </a:solidFill>
                <a:effectLst/>
                <a:latin typeface="宋体" panose="02010600030101010101" pitchFamily="2" charset="-122"/>
                <a:ea typeface="宋体" panose="02010600030101010101" pitchFamily="2" charset="-122"/>
              </a:rPr>
              <a:t>:……</a:t>
            </a:r>
          </a:p>
          <a:p>
            <a:r>
              <a:rPr lang="zh-CN" altLang="en-US" dirty="0">
                <a:solidFill>
                  <a:srgbClr val="000000"/>
                </a:solidFill>
                <a:latin typeface="宋体" panose="02010600030101010101" pitchFamily="2" charset="-122"/>
                <a:ea typeface="宋体" panose="02010600030101010101" pitchFamily="2" charset="-122"/>
              </a:rPr>
              <a:t>分别介绍，并附系统功能架构图，如下图所示，并对每个模块进行介绍</a:t>
            </a:r>
            <a:endParaRPr lang="en-US" altLang="zh-CN" dirty="0">
              <a:solidFill>
                <a:srgbClr val="000000"/>
              </a:solidFill>
              <a:latin typeface="宋体" panose="02010600030101010101" pitchFamily="2" charset="-122"/>
              <a:ea typeface="宋体" panose="02010600030101010101" pitchFamily="2" charset="-122"/>
            </a:endParaRPr>
          </a:p>
          <a:p>
            <a:br>
              <a:rPr lang="zh-CN" altLang="en-US" dirty="0"/>
            </a:br>
            <a:br>
              <a:rPr lang="zh-CN" altLang="en-US" dirty="0">
                <a:latin typeface="宋体" panose="02010600030101010101" pitchFamily="2" charset="-122"/>
                <a:ea typeface="宋体" panose="02010600030101010101" pitchFamily="2" charset="-122"/>
              </a:rPr>
            </a:br>
            <a:r>
              <a:rPr lang="zh-CN" altLang="en-US" dirty="0">
                <a:latin typeface="宋体" panose="02010600030101010101" pitchFamily="2" charset="-122"/>
                <a:ea typeface="宋体" panose="02010600030101010101" pitchFamily="2" charset="-122"/>
              </a:rPr>
              <a:t> </a:t>
            </a:r>
            <a:br>
              <a:rPr lang="zh-CN" altLang="en-US" dirty="0">
                <a:latin typeface="宋体" panose="02010600030101010101" pitchFamily="2" charset="-122"/>
                <a:ea typeface="宋体" panose="02010600030101010101" pitchFamily="2" charset="-122"/>
              </a:rPr>
            </a:br>
            <a:endParaRPr lang="en-US" altLang="zh-CN" dirty="0">
              <a:latin typeface="宋体" panose="02010600030101010101" pitchFamily="2" charset="-122"/>
              <a:ea typeface="宋体" panose="02010600030101010101" pitchFamily="2" charset="-122"/>
            </a:endParaRPr>
          </a:p>
        </p:txBody>
      </p:sp>
      <p:pic>
        <p:nvPicPr>
          <p:cNvPr id="3" name="图片 2">
            <a:extLst>
              <a:ext uri="{FF2B5EF4-FFF2-40B4-BE49-F238E27FC236}">
                <a16:creationId xmlns:a16="http://schemas.microsoft.com/office/drawing/2014/main" id="{7E1FDB04-611C-0409-B876-FEDC9C1F86C8}"/>
              </a:ext>
            </a:extLst>
          </p:cNvPr>
          <p:cNvPicPr>
            <a:picLocks noChangeAspect="1"/>
          </p:cNvPicPr>
          <p:nvPr/>
        </p:nvPicPr>
        <p:blipFill>
          <a:blip r:embed="rId2"/>
          <a:stretch>
            <a:fillRect/>
          </a:stretch>
        </p:blipFill>
        <p:spPr>
          <a:xfrm>
            <a:off x="6758062" y="3724155"/>
            <a:ext cx="4467223" cy="2726523"/>
          </a:xfrm>
          <a:prstGeom prst="rect">
            <a:avLst/>
          </a:prstGeom>
        </p:spPr>
      </p:pic>
      <p:pic>
        <p:nvPicPr>
          <p:cNvPr id="4" name="图片 3">
            <a:extLst>
              <a:ext uri="{FF2B5EF4-FFF2-40B4-BE49-F238E27FC236}">
                <a16:creationId xmlns:a16="http://schemas.microsoft.com/office/drawing/2014/main" id="{727C3AD7-4B86-97FF-EE26-9FE5AD3977E9}"/>
              </a:ext>
            </a:extLst>
          </p:cNvPr>
          <p:cNvPicPr>
            <a:picLocks noChangeAspect="1"/>
          </p:cNvPicPr>
          <p:nvPr/>
        </p:nvPicPr>
        <p:blipFill>
          <a:blip r:embed="rId3"/>
          <a:stretch>
            <a:fillRect/>
          </a:stretch>
        </p:blipFill>
        <p:spPr>
          <a:xfrm>
            <a:off x="2117679" y="3724155"/>
            <a:ext cx="3531621" cy="3072764"/>
          </a:xfrm>
          <a:prstGeom prst="rect">
            <a:avLst/>
          </a:prstGeom>
        </p:spPr>
      </p:pic>
    </p:spTree>
    <p:extLst>
      <p:ext uri="{BB962C8B-B14F-4D97-AF65-F5344CB8AC3E}">
        <p14:creationId xmlns:p14="http://schemas.microsoft.com/office/powerpoint/2010/main" val="11077573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5B846C4-E07C-DE31-8CB4-ADF3C024E3FF}"/>
              </a:ext>
            </a:extLst>
          </p:cNvPr>
          <p:cNvSpPr txBox="1"/>
          <p:nvPr/>
        </p:nvSpPr>
        <p:spPr>
          <a:xfrm>
            <a:off x="3775882" y="1537648"/>
            <a:ext cx="3525670" cy="646331"/>
          </a:xfrm>
          <a:prstGeom prst="rect">
            <a:avLst/>
          </a:prstGeom>
          <a:noFill/>
        </p:spPr>
        <p:txBody>
          <a:bodyPr wrap="square" rtlCol="0">
            <a:spAutoFit/>
          </a:bodyPr>
          <a:lstStyle/>
          <a:p>
            <a:r>
              <a:rPr lang="zh-CN" altLang="en-US" sz="3600" dirty="0">
                <a:latin typeface="微软雅黑" panose="020B0503020204020204" pitchFamily="34" charset="-122"/>
                <a:ea typeface="微软雅黑" panose="020B0503020204020204" pitchFamily="34" charset="-122"/>
              </a:rPr>
              <a:t>第四章系统设计</a:t>
            </a:r>
          </a:p>
        </p:txBody>
      </p:sp>
      <p:sp>
        <p:nvSpPr>
          <p:cNvPr id="5" name="文本框 4">
            <a:extLst>
              <a:ext uri="{FF2B5EF4-FFF2-40B4-BE49-F238E27FC236}">
                <a16:creationId xmlns:a16="http://schemas.microsoft.com/office/drawing/2014/main" id="{FDC4B851-89BA-B306-4C5F-661283666090}"/>
              </a:ext>
            </a:extLst>
          </p:cNvPr>
          <p:cNvSpPr txBox="1"/>
          <p:nvPr/>
        </p:nvSpPr>
        <p:spPr>
          <a:xfrm>
            <a:off x="4667535" y="2481197"/>
            <a:ext cx="6114196" cy="369332"/>
          </a:xfrm>
          <a:prstGeom prst="rect">
            <a:avLst/>
          </a:prstGeom>
          <a:noFill/>
        </p:spPr>
        <p:txBody>
          <a:bodyPr wrap="square">
            <a:spAutoFit/>
          </a:bodyPr>
          <a:lstStyle/>
          <a:p>
            <a:r>
              <a:rPr lang="en-US" altLang="zh-CN" dirty="0">
                <a:latin typeface="微软雅黑" panose="020B0503020204020204" pitchFamily="34" charset="-122"/>
                <a:ea typeface="微软雅黑" panose="020B0503020204020204" pitchFamily="34" charset="-122"/>
              </a:rPr>
              <a:t>4.1 </a:t>
            </a:r>
            <a:r>
              <a:rPr lang="zh-CN" altLang="en-US" dirty="0">
                <a:latin typeface="微软雅黑" panose="020B0503020204020204" pitchFamily="34" charset="-122"/>
                <a:ea typeface="微软雅黑" panose="020B0503020204020204" pitchFamily="34" charset="-122"/>
              </a:rPr>
              <a:t>系统功能模块设计</a:t>
            </a:r>
            <a:endParaRPr lang="en-US" altLang="zh-CN"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C99B05B9-437C-8A03-BD85-6C41E59F298D}"/>
              </a:ext>
            </a:extLst>
          </p:cNvPr>
          <p:cNvSpPr txBox="1"/>
          <p:nvPr/>
        </p:nvSpPr>
        <p:spPr>
          <a:xfrm>
            <a:off x="1842448" y="2850529"/>
            <a:ext cx="8507103" cy="1200329"/>
          </a:xfrm>
          <a:prstGeom prst="rect">
            <a:avLst/>
          </a:prstGeom>
          <a:noFill/>
        </p:spPr>
        <p:txBody>
          <a:bodyPr wrap="square" rtlCol="0">
            <a:spAutoFit/>
          </a:bodyPr>
          <a:lstStyle/>
          <a:p>
            <a:r>
              <a:rPr lang="zh-CN" altLang="en-US" dirty="0">
                <a:solidFill>
                  <a:srgbClr val="000000"/>
                </a:solidFill>
                <a:latin typeface="宋体" panose="02010600030101010101" pitchFamily="2" charset="-122"/>
                <a:ea typeface="宋体" panose="02010600030101010101" pitchFamily="2" charset="-122"/>
              </a:rPr>
              <a:t>同时，在添加系统框架图之后，可以添加系统总的流程图，如下图所示</a:t>
            </a:r>
            <a:br>
              <a:rPr lang="zh-CN" altLang="en-US" dirty="0"/>
            </a:br>
            <a:br>
              <a:rPr lang="zh-CN" altLang="en-US" dirty="0">
                <a:latin typeface="宋体" panose="02010600030101010101" pitchFamily="2" charset="-122"/>
                <a:ea typeface="宋体" panose="02010600030101010101" pitchFamily="2" charset="-122"/>
              </a:rPr>
            </a:br>
            <a:r>
              <a:rPr lang="zh-CN" altLang="en-US" dirty="0">
                <a:latin typeface="宋体" panose="02010600030101010101" pitchFamily="2" charset="-122"/>
                <a:ea typeface="宋体" panose="02010600030101010101" pitchFamily="2" charset="-122"/>
              </a:rPr>
              <a:t> </a:t>
            </a:r>
            <a:br>
              <a:rPr lang="zh-CN" altLang="en-US" dirty="0">
                <a:latin typeface="宋体" panose="02010600030101010101" pitchFamily="2" charset="-122"/>
                <a:ea typeface="宋体" panose="02010600030101010101" pitchFamily="2" charset="-122"/>
              </a:rPr>
            </a:br>
            <a:endParaRPr lang="en-US" altLang="zh-CN" dirty="0">
              <a:latin typeface="宋体" panose="02010600030101010101" pitchFamily="2" charset="-122"/>
              <a:ea typeface="宋体" panose="02010600030101010101" pitchFamily="2" charset="-122"/>
            </a:endParaRPr>
          </a:p>
        </p:txBody>
      </p:sp>
      <p:pic>
        <p:nvPicPr>
          <p:cNvPr id="7" name="图片 6">
            <a:extLst>
              <a:ext uri="{FF2B5EF4-FFF2-40B4-BE49-F238E27FC236}">
                <a16:creationId xmlns:a16="http://schemas.microsoft.com/office/drawing/2014/main" id="{DB471859-2C3C-F3A1-8FD9-77FEF2D069C1}"/>
              </a:ext>
            </a:extLst>
          </p:cNvPr>
          <p:cNvPicPr>
            <a:picLocks noChangeAspect="1"/>
          </p:cNvPicPr>
          <p:nvPr/>
        </p:nvPicPr>
        <p:blipFill>
          <a:blip r:embed="rId2"/>
          <a:stretch>
            <a:fillRect/>
          </a:stretch>
        </p:blipFill>
        <p:spPr>
          <a:xfrm>
            <a:off x="2779594" y="3147747"/>
            <a:ext cx="6864824" cy="3002479"/>
          </a:xfrm>
          <a:prstGeom prst="rect">
            <a:avLst/>
          </a:prstGeom>
        </p:spPr>
      </p:pic>
    </p:spTree>
    <p:extLst>
      <p:ext uri="{BB962C8B-B14F-4D97-AF65-F5344CB8AC3E}">
        <p14:creationId xmlns:p14="http://schemas.microsoft.com/office/powerpoint/2010/main" val="142255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5B846C4-E07C-DE31-8CB4-ADF3C024E3FF}"/>
              </a:ext>
            </a:extLst>
          </p:cNvPr>
          <p:cNvSpPr txBox="1"/>
          <p:nvPr/>
        </p:nvSpPr>
        <p:spPr>
          <a:xfrm>
            <a:off x="3775882" y="1537648"/>
            <a:ext cx="3525670" cy="646331"/>
          </a:xfrm>
          <a:prstGeom prst="rect">
            <a:avLst/>
          </a:prstGeom>
          <a:noFill/>
        </p:spPr>
        <p:txBody>
          <a:bodyPr wrap="square" rtlCol="0">
            <a:spAutoFit/>
          </a:bodyPr>
          <a:lstStyle/>
          <a:p>
            <a:r>
              <a:rPr lang="zh-CN" altLang="en-US" sz="3600" dirty="0">
                <a:latin typeface="微软雅黑" panose="020B0503020204020204" pitchFamily="34" charset="-122"/>
                <a:ea typeface="微软雅黑" panose="020B0503020204020204" pitchFamily="34" charset="-122"/>
              </a:rPr>
              <a:t>第四章系统设计</a:t>
            </a:r>
          </a:p>
        </p:txBody>
      </p:sp>
      <p:sp>
        <p:nvSpPr>
          <p:cNvPr id="5" name="文本框 4">
            <a:extLst>
              <a:ext uri="{FF2B5EF4-FFF2-40B4-BE49-F238E27FC236}">
                <a16:creationId xmlns:a16="http://schemas.microsoft.com/office/drawing/2014/main" id="{FDC4B851-89BA-B306-4C5F-661283666090}"/>
              </a:ext>
            </a:extLst>
          </p:cNvPr>
          <p:cNvSpPr txBox="1"/>
          <p:nvPr/>
        </p:nvSpPr>
        <p:spPr>
          <a:xfrm>
            <a:off x="4667535" y="2481197"/>
            <a:ext cx="6114196" cy="369332"/>
          </a:xfrm>
          <a:prstGeom prst="rect">
            <a:avLst/>
          </a:prstGeom>
          <a:noFill/>
        </p:spPr>
        <p:txBody>
          <a:bodyPr wrap="square">
            <a:spAutoFit/>
          </a:bodyPr>
          <a:lstStyle/>
          <a:p>
            <a:r>
              <a:rPr lang="en-US" altLang="zh-CN" dirty="0">
                <a:latin typeface="微软雅黑" panose="020B0503020204020204" pitchFamily="34" charset="-122"/>
                <a:ea typeface="微软雅黑" panose="020B0503020204020204" pitchFamily="34" charset="-122"/>
              </a:rPr>
              <a:t>4.2 </a:t>
            </a:r>
            <a:r>
              <a:rPr lang="zh-CN" altLang="en-US" dirty="0">
                <a:latin typeface="微软雅黑" panose="020B0503020204020204" pitchFamily="34" charset="-122"/>
                <a:ea typeface="微软雅黑" panose="020B0503020204020204" pitchFamily="34" charset="-122"/>
              </a:rPr>
              <a:t>系统数据库设计</a:t>
            </a:r>
            <a:endParaRPr lang="en-US" altLang="zh-CN"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C99B05B9-437C-8A03-BD85-6C41E59F298D}"/>
              </a:ext>
            </a:extLst>
          </p:cNvPr>
          <p:cNvSpPr txBox="1"/>
          <p:nvPr/>
        </p:nvSpPr>
        <p:spPr>
          <a:xfrm>
            <a:off x="1842448" y="2850529"/>
            <a:ext cx="8507103" cy="2308324"/>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4.2.1E-R</a:t>
            </a:r>
            <a:r>
              <a:rPr lang="zh-CN" altLang="en-US" dirty="0">
                <a:latin typeface="微软雅黑" panose="020B0503020204020204" pitchFamily="34" charset="-122"/>
                <a:ea typeface="微软雅黑" panose="020B0503020204020204" pitchFamily="34" charset="-122"/>
              </a:rPr>
              <a:t>模型设计</a:t>
            </a:r>
            <a:endParaRPr lang="en-US" altLang="zh-CN" dirty="0">
              <a:latin typeface="微软雅黑" panose="020B0503020204020204" pitchFamily="34" charset="-122"/>
              <a:ea typeface="微软雅黑" panose="020B0503020204020204" pitchFamily="34" charset="-122"/>
            </a:endParaRPr>
          </a:p>
          <a:p>
            <a:r>
              <a:rPr lang="zh-CN" altLang="en-US" sz="1800" b="0" i="0" dirty="0">
                <a:solidFill>
                  <a:srgbClr val="000000"/>
                </a:solidFill>
                <a:effectLst/>
                <a:latin typeface="宋体" panose="02010600030101010101" pitchFamily="2" charset="-122"/>
                <a:ea typeface="宋体" panose="02010600030101010101" pitchFamily="2" charset="-122"/>
              </a:rPr>
              <a:t>数据库主要为</a:t>
            </a:r>
            <a:r>
              <a:rPr lang="en-US" altLang="zh-CN" sz="1800" b="0" i="0" dirty="0">
                <a:solidFill>
                  <a:srgbClr val="000000"/>
                </a:solidFill>
                <a:effectLst/>
                <a:latin typeface="宋体" panose="02010600030101010101" pitchFamily="2" charset="-122"/>
                <a:ea typeface="宋体" panose="02010600030101010101" pitchFamily="2" charset="-122"/>
              </a:rPr>
              <a:t>E-R</a:t>
            </a:r>
            <a:r>
              <a:rPr lang="zh-CN" altLang="en-US" sz="1800" b="0" i="0" dirty="0">
                <a:solidFill>
                  <a:srgbClr val="000000"/>
                </a:solidFill>
                <a:effectLst/>
                <a:latin typeface="宋体" panose="02010600030101010101" pitchFamily="2" charset="-122"/>
                <a:ea typeface="宋体" panose="02010600030101010101" pitchFamily="2" charset="-122"/>
              </a:rPr>
              <a:t>图的设计和描述</a:t>
            </a:r>
            <a:endParaRPr lang="en-US" altLang="zh-CN" sz="1800" b="0" i="0" dirty="0">
              <a:solidFill>
                <a:srgbClr val="000000"/>
              </a:solidFill>
              <a:effectLst/>
              <a:latin typeface="宋体" panose="02010600030101010101" pitchFamily="2" charset="-122"/>
              <a:ea typeface="宋体" panose="02010600030101010101" pitchFamily="2" charset="-122"/>
            </a:endParaRPr>
          </a:p>
          <a:p>
            <a:r>
              <a:rPr lang="zh-CN" altLang="en-US" sz="1800" b="0" i="0" dirty="0">
                <a:solidFill>
                  <a:srgbClr val="000000"/>
                </a:solidFill>
                <a:effectLst/>
                <a:latin typeface="宋体" panose="02010600030101010101" pitchFamily="2" charset="-122"/>
                <a:ea typeface="宋体" panose="02010600030101010101" pitchFamily="2" charset="-122"/>
              </a:rPr>
              <a:t>本文的学生宿舍管理系统总共设计了</a:t>
            </a:r>
            <a:r>
              <a:rPr lang="en-US" altLang="zh-CN" sz="1800" b="0" i="0" dirty="0">
                <a:solidFill>
                  <a:srgbClr val="000000"/>
                </a:solidFill>
                <a:effectLst/>
                <a:latin typeface="宋体" panose="02010600030101010101" pitchFamily="2" charset="-122"/>
                <a:ea typeface="宋体" panose="02010600030101010101" pitchFamily="2" charset="-122"/>
              </a:rPr>
              <a:t>X</a:t>
            </a:r>
            <a:r>
              <a:rPr lang="zh-CN" altLang="en-US" sz="1800" b="0" i="0" dirty="0">
                <a:solidFill>
                  <a:srgbClr val="000000"/>
                </a:solidFill>
                <a:effectLst/>
                <a:latin typeface="宋体" panose="02010600030101010101" pitchFamily="2" charset="-122"/>
                <a:ea typeface="宋体" panose="02010600030101010101" pitchFamily="2" charset="-122"/>
              </a:rPr>
              <a:t>个实体 ，分别是</a:t>
            </a:r>
            <a:r>
              <a:rPr lang="en-US" altLang="zh-CN" sz="1800" b="0" i="0" dirty="0">
                <a:solidFill>
                  <a:srgbClr val="000000"/>
                </a:solidFill>
                <a:effectLst/>
                <a:latin typeface="宋体" panose="02010600030101010101" pitchFamily="2" charset="-122"/>
                <a:ea typeface="宋体" panose="02010600030101010101" pitchFamily="2" charset="-122"/>
              </a:rPr>
              <a:t>XXXXXX</a:t>
            </a:r>
            <a:r>
              <a:rPr lang="zh-CN" altLang="en-US" dirty="0">
                <a:solidFill>
                  <a:srgbClr val="000000"/>
                </a:solidFill>
                <a:latin typeface="宋体" panose="02010600030101010101" pitchFamily="2" charset="-122"/>
                <a:ea typeface="宋体" panose="02010600030101010101" pitchFamily="2" charset="-122"/>
              </a:rPr>
              <a:t>。</a:t>
            </a:r>
            <a:endParaRPr lang="en-US" altLang="zh-CN" dirty="0">
              <a:solidFill>
                <a:srgbClr val="000000"/>
              </a:solidFill>
              <a:latin typeface="宋体" panose="02010600030101010101" pitchFamily="2" charset="-122"/>
              <a:ea typeface="宋体" panose="02010600030101010101" pitchFamily="2" charset="-122"/>
            </a:endParaRPr>
          </a:p>
          <a:p>
            <a:r>
              <a:rPr lang="en-US" altLang="zh-CN" dirty="0">
                <a:latin typeface="宋体" panose="02010600030101010101" pitchFamily="2" charset="-122"/>
                <a:ea typeface="宋体" panose="02010600030101010101" pitchFamily="2" charset="-122"/>
              </a:rPr>
              <a:t>(1)</a:t>
            </a:r>
            <a:r>
              <a:rPr lang="zh-CN" altLang="en-US" dirty="0">
                <a:latin typeface="宋体" panose="02010600030101010101" pitchFamily="2" charset="-122"/>
                <a:ea typeface="宋体" panose="02010600030101010101" pitchFamily="2" charset="-122"/>
              </a:rPr>
              <a:t>学生实体。用来保存学生的所有信息，包括学号、姓名、密码、宿舍号、话号码、电子邮件、性别。学生实体如图</a:t>
            </a:r>
            <a:r>
              <a:rPr lang="en-US" altLang="zh-CN" dirty="0">
                <a:latin typeface="宋体" panose="02010600030101010101" pitchFamily="2" charset="-122"/>
                <a:ea typeface="宋体" panose="02010600030101010101" pitchFamily="2" charset="-122"/>
              </a:rPr>
              <a:t>X</a:t>
            </a:r>
            <a:r>
              <a:rPr lang="zh-CN" altLang="en-US" dirty="0">
                <a:latin typeface="宋体" panose="02010600030101010101" pitchFamily="2" charset="-122"/>
                <a:ea typeface="宋体" panose="02010600030101010101" pitchFamily="2" charset="-122"/>
              </a:rPr>
              <a:t>所示</a:t>
            </a:r>
            <a:br>
              <a:rPr lang="zh-CN" altLang="en-US" dirty="0"/>
            </a:br>
            <a:br>
              <a:rPr lang="zh-CN" altLang="en-US" dirty="0">
                <a:latin typeface="宋体" panose="02010600030101010101" pitchFamily="2" charset="-122"/>
                <a:ea typeface="宋体" panose="02010600030101010101" pitchFamily="2" charset="-122"/>
              </a:rPr>
            </a:br>
            <a:r>
              <a:rPr lang="zh-CN" altLang="en-US" dirty="0">
                <a:latin typeface="宋体" panose="02010600030101010101" pitchFamily="2" charset="-122"/>
                <a:ea typeface="宋体" panose="02010600030101010101" pitchFamily="2" charset="-122"/>
              </a:rPr>
              <a:t> </a:t>
            </a:r>
            <a:br>
              <a:rPr lang="zh-CN" altLang="en-US" dirty="0">
                <a:latin typeface="宋体" panose="02010600030101010101" pitchFamily="2" charset="-122"/>
                <a:ea typeface="宋体" panose="02010600030101010101" pitchFamily="2" charset="-122"/>
              </a:rPr>
            </a:br>
            <a:endParaRPr lang="en-US" altLang="zh-CN" dirty="0">
              <a:latin typeface="宋体" panose="02010600030101010101" pitchFamily="2" charset="-122"/>
              <a:ea typeface="宋体" panose="02010600030101010101" pitchFamily="2" charset="-122"/>
            </a:endParaRPr>
          </a:p>
        </p:txBody>
      </p:sp>
      <p:pic>
        <p:nvPicPr>
          <p:cNvPr id="9" name="图片 8">
            <a:extLst>
              <a:ext uri="{FF2B5EF4-FFF2-40B4-BE49-F238E27FC236}">
                <a16:creationId xmlns:a16="http://schemas.microsoft.com/office/drawing/2014/main" id="{8C9F65F7-4DF0-35CD-F9DF-812695B4480A}"/>
              </a:ext>
            </a:extLst>
          </p:cNvPr>
          <p:cNvPicPr>
            <a:picLocks noChangeAspect="1"/>
          </p:cNvPicPr>
          <p:nvPr/>
        </p:nvPicPr>
        <p:blipFill>
          <a:blip r:embed="rId2"/>
          <a:stretch>
            <a:fillRect/>
          </a:stretch>
        </p:blipFill>
        <p:spPr>
          <a:xfrm>
            <a:off x="2092656" y="4375718"/>
            <a:ext cx="3194952" cy="1652043"/>
          </a:xfrm>
          <a:prstGeom prst="rect">
            <a:avLst/>
          </a:prstGeom>
        </p:spPr>
      </p:pic>
    </p:spTree>
    <p:extLst>
      <p:ext uri="{BB962C8B-B14F-4D97-AF65-F5344CB8AC3E}">
        <p14:creationId xmlns:p14="http://schemas.microsoft.com/office/powerpoint/2010/main" val="35086455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5B846C4-E07C-DE31-8CB4-ADF3C024E3FF}"/>
              </a:ext>
            </a:extLst>
          </p:cNvPr>
          <p:cNvSpPr txBox="1"/>
          <p:nvPr/>
        </p:nvSpPr>
        <p:spPr>
          <a:xfrm>
            <a:off x="3775882" y="1537648"/>
            <a:ext cx="3525670" cy="646331"/>
          </a:xfrm>
          <a:prstGeom prst="rect">
            <a:avLst/>
          </a:prstGeom>
          <a:noFill/>
        </p:spPr>
        <p:txBody>
          <a:bodyPr wrap="square" rtlCol="0">
            <a:spAutoFit/>
          </a:bodyPr>
          <a:lstStyle/>
          <a:p>
            <a:r>
              <a:rPr lang="zh-CN" altLang="en-US" sz="3600" dirty="0">
                <a:latin typeface="微软雅黑" panose="020B0503020204020204" pitchFamily="34" charset="-122"/>
                <a:ea typeface="微软雅黑" panose="020B0503020204020204" pitchFamily="34" charset="-122"/>
              </a:rPr>
              <a:t>第四章系统设计</a:t>
            </a:r>
          </a:p>
        </p:txBody>
      </p:sp>
      <p:sp>
        <p:nvSpPr>
          <p:cNvPr id="5" name="文本框 4">
            <a:extLst>
              <a:ext uri="{FF2B5EF4-FFF2-40B4-BE49-F238E27FC236}">
                <a16:creationId xmlns:a16="http://schemas.microsoft.com/office/drawing/2014/main" id="{FDC4B851-89BA-B306-4C5F-661283666090}"/>
              </a:ext>
            </a:extLst>
          </p:cNvPr>
          <p:cNvSpPr txBox="1"/>
          <p:nvPr/>
        </p:nvSpPr>
        <p:spPr>
          <a:xfrm>
            <a:off x="4667535" y="2481197"/>
            <a:ext cx="6114196" cy="369332"/>
          </a:xfrm>
          <a:prstGeom prst="rect">
            <a:avLst/>
          </a:prstGeom>
          <a:noFill/>
        </p:spPr>
        <p:txBody>
          <a:bodyPr wrap="square">
            <a:spAutoFit/>
          </a:bodyPr>
          <a:lstStyle/>
          <a:p>
            <a:r>
              <a:rPr lang="en-US" altLang="zh-CN" dirty="0">
                <a:latin typeface="微软雅黑" panose="020B0503020204020204" pitchFamily="34" charset="-122"/>
                <a:ea typeface="微软雅黑" panose="020B0503020204020204" pitchFamily="34" charset="-122"/>
              </a:rPr>
              <a:t>4.2 </a:t>
            </a:r>
            <a:r>
              <a:rPr lang="zh-CN" altLang="en-US" dirty="0">
                <a:latin typeface="微软雅黑" panose="020B0503020204020204" pitchFamily="34" charset="-122"/>
                <a:ea typeface="微软雅黑" panose="020B0503020204020204" pitchFamily="34" charset="-122"/>
              </a:rPr>
              <a:t>系统数据库设计</a:t>
            </a:r>
            <a:endParaRPr lang="en-US" altLang="zh-CN"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C99B05B9-437C-8A03-BD85-6C41E59F298D}"/>
              </a:ext>
            </a:extLst>
          </p:cNvPr>
          <p:cNvSpPr txBox="1"/>
          <p:nvPr/>
        </p:nvSpPr>
        <p:spPr>
          <a:xfrm>
            <a:off x="1842449" y="2850529"/>
            <a:ext cx="9476094" cy="3970318"/>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4.2.2</a:t>
            </a:r>
            <a:r>
              <a:rPr lang="zh-CN" altLang="en-US" dirty="0">
                <a:latin typeface="微软雅黑" panose="020B0503020204020204" pitchFamily="34" charset="-122"/>
                <a:ea typeface="微软雅黑" panose="020B0503020204020204" pitchFamily="34" charset="-122"/>
              </a:rPr>
              <a:t>数据库逻辑设计</a:t>
            </a:r>
            <a:endParaRPr lang="en-US" altLang="zh-CN" dirty="0">
              <a:latin typeface="微软雅黑" panose="020B0503020204020204" pitchFamily="34" charset="-122"/>
              <a:ea typeface="微软雅黑" panose="020B0503020204020204" pitchFamily="34" charset="-122"/>
            </a:endParaRPr>
          </a:p>
          <a:p>
            <a:r>
              <a:rPr lang="zh-CN" altLang="en-US" sz="1800" b="0" i="0" dirty="0">
                <a:solidFill>
                  <a:srgbClr val="000000"/>
                </a:solidFill>
                <a:effectLst/>
                <a:latin typeface="宋体" panose="02010600030101010101" pitchFamily="2" charset="-122"/>
                <a:ea typeface="宋体" panose="02010600030101010101" pitchFamily="2" charset="-122"/>
              </a:rPr>
              <a:t>数据库逻辑设计主要根据以上设计的</a:t>
            </a:r>
            <a:r>
              <a:rPr lang="en-US" altLang="zh-CN" sz="1800" b="0" i="0" dirty="0">
                <a:solidFill>
                  <a:srgbClr val="000000"/>
                </a:solidFill>
                <a:effectLst/>
                <a:latin typeface="宋体" panose="02010600030101010101" pitchFamily="2" charset="-122"/>
                <a:ea typeface="宋体" panose="02010600030101010101" pitchFamily="2" charset="-122"/>
              </a:rPr>
              <a:t>XXX</a:t>
            </a:r>
            <a:r>
              <a:rPr lang="zh-CN" altLang="en-US" sz="1800" b="0" i="0" dirty="0">
                <a:solidFill>
                  <a:srgbClr val="000000"/>
                </a:solidFill>
                <a:effectLst/>
                <a:latin typeface="宋体" panose="02010600030101010101" pitchFamily="2" charset="-122"/>
                <a:ea typeface="宋体" panose="02010600030101010101" pitchFamily="2" charset="-122"/>
              </a:rPr>
              <a:t>实体的</a:t>
            </a:r>
            <a:r>
              <a:rPr lang="en-US" altLang="zh-CN" sz="1800" b="0" i="0" dirty="0">
                <a:solidFill>
                  <a:srgbClr val="000000"/>
                </a:solidFill>
                <a:effectLst/>
                <a:latin typeface="宋体" panose="02010600030101010101" pitchFamily="2" charset="-122"/>
                <a:ea typeface="宋体" panose="02010600030101010101" pitchFamily="2" charset="-122"/>
              </a:rPr>
              <a:t>E-R</a:t>
            </a:r>
            <a:r>
              <a:rPr lang="zh-CN" altLang="en-US" sz="1800" b="0" i="0" dirty="0">
                <a:solidFill>
                  <a:srgbClr val="000000"/>
                </a:solidFill>
                <a:effectLst/>
                <a:latin typeface="宋体" panose="02010600030101010101" pitchFamily="2" charset="-122"/>
                <a:ea typeface="宋体" panose="02010600030101010101" pitchFamily="2" charset="-122"/>
              </a:rPr>
              <a:t>图，将数据库的概念结构模型转化为以下逻辑结构模型</a:t>
            </a:r>
            <a:r>
              <a:rPr lang="en-US" altLang="zh-CN" sz="1800" b="0" i="0" dirty="0">
                <a:solidFill>
                  <a:srgbClr val="000000"/>
                </a:solidFill>
                <a:effectLst/>
                <a:latin typeface="宋体" panose="02010600030101010101" pitchFamily="2" charset="-122"/>
                <a:ea typeface="宋体" panose="02010600030101010101" pitchFamily="2" charset="-122"/>
              </a:rPr>
              <a:t>,</a:t>
            </a:r>
            <a:r>
              <a:rPr lang="zh-CN" altLang="en-US" sz="1800" b="0" i="0" dirty="0">
                <a:solidFill>
                  <a:srgbClr val="000000"/>
                </a:solidFill>
                <a:effectLst/>
                <a:latin typeface="宋体" panose="02010600030101010101" pitchFamily="2" charset="-122"/>
                <a:ea typeface="宋体" panose="02010600030101010101" pitchFamily="2" charset="-122"/>
              </a:rPr>
              <a:t>即设计出具体的数据库表来存放数据。主要包括</a:t>
            </a:r>
            <a:r>
              <a:rPr lang="en-US" altLang="zh-CN" sz="1800" b="0" i="0" dirty="0">
                <a:solidFill>
                  <a:srgbClr val="000000"/>
                </a:solidFill>
                <a:effectLst/>
                <a:latin typeface="宋体" panose="02010600030101010101" pitchFamily="2" charset="-122"/>
                <a:ea typeface="宋体" panose="02010600030101010101" pitchFamily="2" charset="-122"/>
              </a:rPr>
              <a:t>XXX</a:t>
            </a:r>
            <a:r>
              <a:rPr lang="zh-CN" altLang="en-US" sz="1800" b="0" i="0" dirty="0">
                <a:solidFill>
                  <a:srgbClr val="000000"/>
                </a:solidFill>
                <a:effectLst/>
                <a:latin typeface="宋体" panose="02010600030101010101" pitchFamily="2" charset="-122"/>
                <a:ea typeface="宋体" panose="02010600030101010101" pitchFamily="2" charset="-122"/>
              </a:rPr>
              <a:t>表、</a:t>
            </a:r>
            <a:r>
              <a:rPr lang="en-US" altLang="zh-CN" sz="1800" b="0" i="0" dirty="0">
                <a:solidFill>
                  <a:srgbClr val="000000"/>
                </a:solidFill>
                <a:effectLst/>
                <a:latin typeface="宋体" panose="02010600030101010101" pitchFamily="2" charset="-122"/>
                <a:ea typeface="宋体" panose="02010600030101010101" pitchFamily="2" charset="-122"/>
              </a:rPr>
              <a:t>XXX</a:t>
            </a:r>
            <a:r>
              <a:rPr lang="zh-CN" altLang="en-US" sz="1800" b="0" i="0" dirty="0">
                <a:solidFill>
                  <a:srgbClr val="000000"/>
                </a:solidFill>
                <a:effectLst/>
                <a:latin typeface="宋体" panose="02010600030101010101" pitchFamily="2" charset="-122"/>
                <a:ea typeface="宋体" panose="02010600030101010101" pitchFamily="2" charset="-122"/>
              </a:rPr>
              <a:t>表、</a:t>
            </a:r>
            <a:r>
              <a:rPr lang="en-US" altLang="zh-CN" sz="1800" b="0" i="0" dirty="0">
                <a:solidFill>
                  <a:srgbClr val="000000"/>
                </a:solidFill>
                <a:effectLst/>
                <a:latin typeface="宋体" panose="02010600030101010101" pitchFamily="2" charset="-122"/>
                <a:ea typeface="宋体" panose="02010600030101010101" pitchFamily="2" charset="-122"/>
              </a:rPr>
              <a:t>XXX</a:t>
            </a:r>
            <a:r>
              <a:rPr lang="zh-CN" altLang="en-US" sz="1800" b="0" i="0" dirty="0">
                <a:solidFill>
                  <a:srgbClr val="000000"/>
                </a:solidFill>
                <a:effectLst/>
                <a:latin typeface="宋体" panose="02010600030101010101" pitchFamily="2" charset="-122"/>
                <a:ea typeface="宋体" panose="02010600030101010101" pitchFamily="2" charset="-122"/>
              </a:rPr>
              <a:t>表，分别描述如下</a:t>
            </a:r>
            <a:r>
              <a:rPr lang="en-US" altLang="zh-CN" sz="1800" b="0" i="0" dirty="0">
                <a:solidFill>
                  <a:srgbClr val="000000"/>
                </a:solidFill>
                <a:effectLst/>
                <a:latin typeface="宋体" panose="02010600030101010101" pitchFamily="2" charset="-122"/>
                <a:ea typeface="宋体" panose="02010600030101010101" pitchFamily="2" charset="-122"/>
              </a:rPr>
              <a:t>:</a:t>
            </a:r>
          </a:p>
          <a:p>
            <a:r>
              <a:rPr lang="en-US" altLang="zh-CN" sz="1800" b="0" i="0" dirty="0">
                <a:solidFill>
                  <a:srgbClr val="000000"/>
                </a:solidFill>
                <a:effectLst/>
                <a:latin typeface="FangSong" panose="02010609060101010101" pitchFamily="49" charset="-122"/>
                <a:ea typeface="FangSong" panose="02010609060101010101" pitchFamily="49" charset="-122"/>
              </a:rPr>
              <a:t>(1)</a:t>
            </a:r>
            <a:r>
              <a:rPr lang="zh-CN" altLang="en-US" sz="1800" b="0" i="0" dirty="0">
                <a:solidFill>
                  <a:srgbClr val="000000"/>
                </a:solidFill>
                <a:effectLst/>
                <a:latin typeface="FangSong" panose="02010609060101010101" pitchFamily="49" charset="-122"/>
                <a:ea typeface="FangSong" panose="02010609060101010101" pitchFamily="49" charset="-122"/>
              </a:rPr>
              <a:t>车牌表（ </a:t>
            </a:r>
            <a:r>
              <a:rPr lang="en-US" altLang="zh-CN" sz="1800" b="0" i="0" dirty="0">
                <a:solidFill>
                  <a:srgbClr val="000000"/>
                </a:solidFill>
                <a:effectLst/>
                <a:latin typeface="TimesNewRomanPSMT"/>
              </a:rPr>
              <a:t>plates</a:t>
            </a:r>
            <a:r>
              <a:rPr lang="zh-CN" altLang="en-US" sz="1800" b="0" i="0" dirty="0">
                <a:solidFill>
                  <a:srgbClr val="000000"/>
                </a:solidFill>
                <a:effectLst/>
                <a:latin typeface="FangSong" panose="02010609060101010101" pitchFamily="49" charset="-122"/>
                <a:ea typeface="FangSong" panose="02010609060101010101" pitchFamily="49" charset="-122"/>
              </a:rPr>
              <a:t>）使用自增的 </a:t>
            </a:r>
            <a:r>
              <a:rPr lang="en-US" altLang="zh-CN" sz="1800" b="0" i="0" dirty="0">
                <a:solidFill>
                  <a:srgbClr val="000000"/>
                </a:solidFill>
                <a:effectLst/>
                <a:latin typeface="TimesNewRomanPSMT"/>
              </a:rPr>
              <a:t>id </a:t>
            </a:r>
            <a:r>
              <a:rPr lang="zh-CN" altLang="en-US" sz="1800" b="0" i="0" dirty="0">
                <a:solidFill>
                  <a:srgbClr val="000000"/>
                </a:solidFill>
                <a:effectLst/>
                <a:latin typeface="FangSong" panose="02010609060101010101" pitchFamily="49" charset="-122"/>
                <a:ea typeface="FangSong" panose="02010609060101010101" pitchFamily="49" charset="-122"/>
              </a:rPr>
              <a:t>作为主键，确保每条记录的唯一</a:t>
            </a:r>
            <a:br>
              <a:rPr lang="zh-CN" altLang="en-US" sz="1800" b="0" i="0" dirty="0">
                <a:solidFill>
                  <a:srgbClr val="000000"/>
                </a:solidFill>
                <a:effectLst/>
                <a:latin typeface="FangSong" panose="02010609060101010101" pitchFamily="49" charset="-122"/>
                <a:ea typeface="FangSong" panose="02010609060101010101" pitchFamily="49" charset="-122"/>
              </a:rPr>
            </a:br>
            <a:r>
              <a:rPr lang="zh-CN" altLang="en-US" sz="1800" b="0" i="0" dirty="0">
                <a:solidFill>
                  <a:srgbClr val="000000"/>
                </a:solidFill>
                <a:effectLst/>
                <a:latin typeface="FangSong" panose="02010609060101010101" pitchFamily="49" charset="-122"/>
                <a:ea typeface="FangSong" panose="02010609060101010101" pitchFamily="49" charset="-122"/>
              </a:rPr>
              <a:t>性； </a:t>
            </a:r>
            <a:r>
              <a:rPr lang="en-US" altLang="zh-CN" sz="1800" b="0" i="0" dirty="0" err="1">
                <a:solidFill>
                  <a:srgbClr val="000000"/>
                </a:solidFill>
                <a:effectLst/>
                <a:latin typeface="TimesNewRomanPSMT"/>
              </a:rPr>
              <a:t>Plate_number</a:t>
            </a:r>
            <a:r>
              <a:rPr lang="en-US" altLang="zh-CN" sz="1800" b="0" i="0" dirty="0">
                <a:solidFill>
                  <a:srgbClr val="000000"/>
                </a:solidFill>
                <a:effectLst/>
                <a:latin typeface="TimesNewRomanPSMT"/>
              </a:rPr>
              <a:t> </a:t>
            </a:r>
            <a:r>
              <a:rPr lang="zh-CN" altLang="en-US" sz="1800" b="0" i="0" dirty="0">
                <a:solidFill>
                  <a:srgbClr val="000000"/>
                </a:solidFill>
                <a:effectLst/>
                <a:latin typeface="FangSong" panose="02010609060101010101" pitchFamily="49" charset="-122"/>
                <a:ea typeface="FangSong" panose="02010609060101010101" pitchFamily="49" charset="-122"/>
              </a:rPr>
              <a:t>为车牌号码，用于存储识别到的车牌号码； </a:t>
            </a:r>
            <a:r>
              <a:rPr lang="en-US" altLang="zh-CN" sz="1800" b="0" i="0" dirty="0">
                <a:solidFill>
                  <a:srgbClr val="000000"/>
                </a:solidFill>
                <a:effectLst/>
                <a:latin typeface="TimesNewRomanPSMT"/>
              </a:rPr>
              <a:t>Color</a:t>
            </a:r>
            <a:br>
              <a:rPr lang="en-US" altLang="zh-CN" sz="1800" b="0" i="0" dirty="0">
                <a:solidFill>
                  <a:srgbClr val="000000"/>
                </a:solidFill>
                <a:effectLst/>
                <a:latin typeface="TimesNewRomanPSMT"/>
              </a:rPr>
            </a:br>
            <a:r>
              <a:rPr lang="zh-CN" altLang="en-US" sz="1800" b="0" i="0" dirty="0">
                <a:solidFill>
                  <a:srgbClr val="000000"/>
                </a:solidFill>
                <a:effectLst/>
                <a:latin typeface="FangSong" panose="02010609060101010101" pitchFamily="49" charset="-122"/>
                <a:ea typeface="FangSong" panose="02010609060101010101" pitchFamily="49" charset="-122"/>
              </a:rPr>
              <a:t>为车牌颜色，存储车牌的颜色信息，如“</a:t>
            </a:r>
            <a:r>
              <a:rPr lang="en-US" altLang="zh-CN" sz="1800" b="0" i="0" dirty="0">
                <a:solidFill>
                  <a:srgbClr val="000000"/>
                </a:solidFill>
                <a:effectLst/>
                <a:latin typeface="TimesNewRomanPSMT"/>
              </a:rPr>
              <a:t>blue</a:t>
            </a:r>
            <a:r>
              <a:rPr lang="zh-CN" altLang="en-US" sz="1800" b="0" i="0" dirty="0">
                <a:solidFill>
                  <a:srgbClr val="000000"/>
                </a:solidFill>
                <a:effectLst/>
                <a:latin typeface="FangSong" panose="02010609060101010101" pitchFamily="49" charset="-122"/>
                <a:ea typeface="FangSong" panose="02010609060101010101" pitchFamily="49" charset="-122"/>
              </a:rPr>
              <a:t>”、 “</a:t>
            </a:r>
            <a:r>
              <a:rPr lang="en-US" altLang="zh-CN" sz="1800" b="0" i="0" dirty="0">
                <a:solidFill>
                  <a:srgbClr val="000000"/>
                </a:solidFill>
                <a:effectLst/>
                <a:latin typeface="TimesNewRomanPSMT"/>
              </a:rPr>
              <a:t>green</a:t>
            </a:r>
            <a:r>
              <a:rPr lang="zh-CN" altLang="en-US" sz="1800" b="0" i="0" dirty="0">
                <a:solidFill>
                  <a:srgbClr val="000000"/>
                </a:solidFill>
                <a:effectLst/>
                <a:latin typeface="FangSong" panose="02010609060101010101" pitchFamily="49" charset="-122"/>
                <a:ea typeface="FangSong" panose="02010609060101010101" pitchFamily="49" charset="-122"/>
              </a:rPr>
              <a:t>”等； </a:t>
            </a:r>
            <a:r>
              <a:rPr lang="en-US" altLang="zh-CN" sz="1800" b="0" i="0" dirty="0" err="1">
                <a:solidFill>
                  <a:srgbClr val="000000"/>
                </a:solidFill>
                <a:effectLst/>
                <a:latin typeface="TimesNewRomanPSMT"/>
              </a:rPr>
              <a:t>image_path</a:t>
            </a:r>
            <a:r>
              <a:rPr lang="zh-CN" altLang="en-US" sz="1800" b="0" i="0" dirty="0">
                <a:solidFill>
                  <a:srgbClr val="000000"/>
                </a:solidFill>
                <a:effectLst/>
                <a:latin typeface="FangSong" panose="02010609060101010101" pitchFamily="49" charset="-122"/>
                <a:ea typeface="FangSong" panose="02010609060101010101" pitchFamily="49" charset="-122"/>
              </a:rPr>
              <a:t>为图片路径，存储车牌图片的存储路径，方便后续查看原图；</a:t>
            </a:r>
            <a:br>
              <a:rPr lang="zh-CN" altLang="en-US" sz="1800" b="0" i="0" dirty="0">
                <a:solidFill>
                  <a:srgbClr val="000000"/>
                </a:solidFill>
                <a:effectLst/>
                <a:latin typeface="FangSong" panose="02010609060101010101" pitchFamily="49" charset="-122"/>
                <a:ea typeface="FangSong" panose="02010609060101010101" pitchFamily="49" charset="-122"/>
              </a:rPr>
            </a:br>
            <a:r>
              <a:rPr lang="en-US" altLang="zh-CN" sz="1800" b="0" i="0" dirty="0">
                <a:solidFill>
                  <a:srgbClr val="000000"/>
                </a:solidFill>
                <a:effectLst/>
                <a:latin typeface="TimesNewRomanPSMT"/>
              </a:rPr>
              <a:t>timestamp </a:t>
            </a:r>
            <a:r>
              <a:rPr lang="zh-CN" altLang="en-US" sz="1800" b="0" i="0" dirty="0">
                <a:solidFill>
                  <a:srgbClr val="000000"/>
                </a:solidFill>
                <a:effectLst/>
                <a:latin typeface="FangSong" panose="02010609060101010101" pitchFamily="49" charset="-122"/>
                <a:ea typeface="FangSong" panose="02010609060101010101" pitchFamily="49" charset="-122"/>
              </a:rPr>
              <a:t>为时间戳，默认为当前时间，记录车牌识别时间，用于统</a:t>
            </a:r>
            <a:br>
              <a:rPr lang="zh-CN" altLang="en-US" sz="1800" b="0" i="0" dirty="0">
                <a:solidFill>
                  <a:srgbClr val="000000"/>
                </a:solidFill>
                <a:effectLst/>
                <a:latin typeface="FangSong" panose="02010609060101010101" pitchFamily="49" charset="-122"/>
                <a:ea typeface="FangSong" panose="02010609060101010101" pitchFamily="49" charset="-122"/>
              </a:rPr>
            </a:br>
            <a:r>
              <a:rPr lang="zh-CN" altLang="en-US" sz="1800" b="0" i="0" dirty="0">
                <a:solidFill>
                  <a:srgbClr val="000000"/>
                </a:solidFill>
                <a:effectLst/>
                <a:latin typeface="FangSong" panose="02010609060101010101" pitchFamily="49" charset="-122"/>
                <a:ea typeface="FangSong" panose="02010609060101010101" pitchFamily="49" charset="-122"/>
              </a:rPr>
              <a:t>计和查询。具体如</a:t>
            </a:r>
            <a:r>
              <a:rPr lang="zh-CN" altLang="en-US" sz="1800" b="0" i="0" dirty="0">
                <a:solidFill>
                  <a:srgbClr val="000000"/>
                </a:solidFill>
                <a:effectLst/>
                <a:latin typeface="SimSun" panose="02010600030101010101" pitchFamily="2" charset="-122"/>
                <a:ea typeface="SimSun" panose="02010600030101010101" pitchFamily="2" charset="-122"/>
              </a:rPr>
              <a:t>表 </a:t>
            </a:r>
            <a:r>
              <a:rPr lang="en-US" altLang="zh-CN" sz="1800" b="0" i="0" dirty="0">
                <a:solidFill>
                  <a:srgbClr val="000000"/>
                </a:solidFill>
                <a:effectLst/>
                <a:latin typeface="TimesNewRomanPSMT"/>
              </a:rPr>
              <a:t>4-1 </a:t>
            </a:r>
            <a:r>
              <a:rPr lang="zh-CN" altLang="en-US" sz="1800" b="0" i="0" dirty="0">
                <a:solidFill>
                  <a:srgbClr val="000000"/>
                </a:solidFill>
                <a:effectLst/>
                <a:latin typeface="FangSong" panose="02010609060101010101" pitchFamily="49" charset="-122"/>
                <a:ea typeface="FangSong" panose="02010609060101010101" pitchFamily="49" charset="-122"/>
              </a:rPr>
              <a:t>所示</a:t>
            </a:r>
            <a:r>
              <a:rPr lang="zh-CN" altLang="en-US" dirty="0"/>
              <a:t> </a:t>
            </a:r>
            <a:br>
              <a:rPr lang="zh-CN" altLang="en-US" dirty="0"/>
            </a:br>
            <a:br>
              <a:rPr lang="zh-CN" altLang="en-US" dirty="0"/>
            </a:br>
            <a:br>
              <a:rPr lang="zh-CN" altLang="en-US" dirty="0">
                <a:latin typeface="宋体" panose="02010600030101010101" pitchFamily="2" charset="-122"/>
                <a:ea typeface="宋体" panose="02010600030101010101" pitchFamily="2" charset="-122"/>
              </a:rPr>
            </a:br>
            <a:r>
              <a:rPr lang="zh-CN" altLang="en-US" dirty="0">
                <a:latin typeface="宋体" panose="02010600030101010101" pitchFamily="2" charset="-122"/>
                <a:ea typeface="宋体" panose="02010600030101010101" pitchFamily="2" charset="-122"/>
              </a:rPr>
              <a:t> </a:t>
            </a:r>
            <a:br>
              <a:rPr lang="zh-CN" altLang="en-US" dirty="0">
                <a:latin typeface="宋体" panose="02010600030101010101" pitchFamily="2" charset="-122"/>
                <a:ea typeface="宋体" panose="02010600030101010101" pitchFamily="2" charset="-122"/>
              </a:rPr>
            </a:br>
            <a:endParaRPr lang="en-US" altLang="zh-CN" dirty="0">
              <a:latin typeface="宋体" panose="02010600030101010101" pitchFamily="2" charset="-122"/>
              <a:ea typeface="宋体" panose="02010600030101010101" pitchFamily="2" charset="-122"/>
            </a:endParaRPr>
          </a:p>
        </p:txBody>
      </p:sp>
      <p:pic>
        <p:nvPicPr>
          <p:cNvPr id="3" name="图片 2">
            <a:extLst>
              <a:ext uri="{FF2B5EF4-FFF2-40B4-BE49-F238E27FC236}">
                <a16:creationId xmlns:a16="http://schemas.microsoft.com/office/drawing/2014/main" id="{BC0C1FF0-B274-0375-1C33-2935261ED470}"/>
              </a:ext>
            </a:extLst>
          </p:cNvPr>
          <p:cNvPicPr>
            <a:picLocks noChangeAspect="1"/>
          </p:cNvPicPr>
          <p:nvPr/>
        </p:nvPicPr>
        <p:blipFill>
          <a:blip r:embed="rId2"/>
          <a:stretch>
            <a:fillRect/>
          </a:stretch>
        </p:blipFill>
        <p:spPr>
          <a:xfrm>
            <a:off x="7351594" y="1212792"/>
            <a:ext cx="5022375" cy="1942373"/>
          </a:xfrm>
          <a:prstGeom prst="rect">
            <a:avLst/>
          </a:prstGeom>
        </p:spPr>
      </p:pic>
    </p:spTree>
    <p:extLst>
      <p:ext uri="{BB962C8B-B14F-4D97-AF65-F5344CB8AC3E}">
        <p14:creationId xmlns:p14="http://schemas.microsoft.com/office/powerpoint/2010/main" val="36674448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5B846C4-E07C-DE31-8CB4-ADF3C024E3FF}"/>
              </a:ext>
            </a:extLst>
          </p:cNvPr>
          <p:cNvSpPr txBox="1"/>
          <p:nvPr/>
        </p:nvSpPr>
        <p:spPr>
          <a:xfrm>
            <a:off x="3775882" y="1537648"/>
            <a:ext cx="3525670" cy="646331"/>
          </a:xfrm>
          <a:prstGeom prst="rect">
            <a:avLst/>
          </a:prstGeom>
          <a:noFill/>
        </p:spPr>
        <p:txBody>
          <a:bodyPr wrap="square" rtlCol="0">
            <a:spAutoFit/>
          </a:bodyPr>
          <a:lstStyle/>
          <a:p>
            <a:r>
              <a:rPr lang="zh-CN" altLang="en-US" sz="3600" dirty="0">
                <a:latin typeface="微软雅黑" panose="020B0503020204020204" pitchFamily="34" charset="-122"/>
                <a:ea typeface="微软雅黑" panose="020B0503020204020204" pitchFamily="34" charset="-122"/>
              </a:rPr>
              <a:t>第四章系统设计</a:t>
            </a:r>
          </a:p>
        </p:txBody>
      </p:sp>
      <p:sp>
        <p:nvSpPr>
          <p:cNvPr id="6" name="文本框 5">
            <a:extLst>
              <a:ext uri="{FF2B5EF4-FFF2-40B4-BE49-F238E27FC236}">
                <a16:creationId xmlns:a16="http://schemas.microsoft.com/office/drawing/2014/main" id="{C99B05B9-437C-8A03-BD85-6C41E59F298D}"/>
              </a:ext>
            </a:extLst>
          </p:cNvPr>
          <p:cNvSpPr txBox="1"/>
          <p:nvPr/>
        </p:nvSpPr>
        <p:spPr>
          <a:xfrm>
            <a:off x="1842448" y="2850529"/>
            <a:ext cx="8507103" cy="1477328"/>
          </a:xfrm>
          <a:prstGeom prst="rect">
            <a:avLst/>
          </a:prstGeom>
          <a:noFill/>
        </p:spPr>
        <p:txBody>
          <a:bodyPr wrap="square" rtlCol="0">
            <a:spAutoFit/>
          </a:bodyPr>
          <a:lstStyle/>
          <a:p>
            <a:r>
              <a:rPr lang="zh-CN" altLang="en-US" dirty="0">
                <a:solidFill>
                  <a:srgbClr val="000000"/>
                </a:solidFill>
                <a:latin typeface="宋体" panose="02010600030101010101" pitchFamily="2" charset="-122"/>
                <a:ea typeface="宋体" panose="02010600030101010101" pitchFamily="2" charset="-122"/>
              </a:rPr>
              <a:t>对于模型类，则聚焦于你所使用的技术和数据的处理，包括数据集怎么来的，有哪些数据集，做一个介绍，对数据如何预处理、如何标注等，如果是深度学习，则强调深度学习的模型，有多少层，用了什么网络，如何训练的等</a:t>
            </a:r>
            <a:br>
              <a:rPr lang="zh-CN" altLang="en-US" dirty="0">
                <a:latin typeface="宋体" panose="02010600030101010101" pitchFamily="2" charset="-122"/>
                <a:ea typeface="宋体" panose="02010600030101010101" pitchFamily="2" charset="-122"/>
              </a:rPr>
            </a:br>
            <a:r>
              <a:rPr lang="zh-CN" altLang="en-US" dirty="0">
                <a:latin typeface="宋体" panose="02010600030101010101" pitchFamily="2" charset="-122"/>
                <a:ea typeface="宋体" panose="02010600030101010101" pitchFamily="2" charset="-122"/>
              </a:rPr>
              <a:t> </a:t>
            </a:r>
            <a:br>
              <a:rPr lang="zh-CN" altLang="en-US" dirty="0">
                <a:latin typeface="宋体" panose="02010600030101010101" pitchFamily="2" charset="-122"/>
                <a:ea typeface="宋体" panose="02010600030101010101" pitchFamily="2" charset="-122"/>
              </a:rPr>
            </a:br>
            <a:endParaRPr lang="en-US" altLang="zh-CN" dirty="0">
              <a:latin typeface="宋体" panose="02010600030101010101" pitchFamily="2" charset="-122"/>
              <a:ea typeface="宋体" panose="02010600030101010101" pitchFamily="2" charset="-122"/>
            </a:endParaRPr>
          </a:p>
        </p:txBody>
      </p:sp>
      <p:sp>
        <p:nvSpPr>
          <p:cNvPr id="3" name="文本框 2">
            <a:extLst>
              <a:ext uri="{FF2B5EF4-FFF2-40B4-BE49-F238E27FC236}">
                <a16:creationId xmlns:a16="http://schemas.microsoft.com/office/drawing/2014/main" id="{C2667F5C-05EF-06FF-3104-B0C5D0FC69A9}"/>
              </a:ext>
            </a:extLst>
          </p:cNvPr>
          <p:cNvSpPr txBox="1"/>
          <p:nvPr/>
        </p:nvSpPr>
        <p:spPr>
          <a:xfrm>
            <a:off x="1185082" y="3147579"/>
            <a:ext cx="657366" cy="1384995"/>
          </a:xfrm>
          <a:prstGeom prst="rect">
            <a:avLst/>
          </a:prstGeom>
          <a:noFill/>
        </p:spPr>
        <p:txBody>
          <a:bodyPr wrap="square" rtlCol="0">
            <a:spAutoFit/>
          </a:bodyPr>
          <a:lstStyle/>
          <a:p>
            <a:r>
              <a:rPr lang="zh-CN" altLang="en-US" sz="2800" dirty="0">
                <a:latin typeface="微软雅黑" panose="020B0503020204020204" pitchFamily="34" charset="-122"/>
                <a:ea typeface="微软雅黑" panose="020B0503020204020204" pitchFamily="34" charset="-122"/>
              </a:rPr>
              <a:t>模型类</a:t>
            </a:r>
          </a:p>
        </p:txBody>
      </p:sp>
      <p:sp>
        <p:nvSpPr>
          <p:cNvPr id="10" name="文本框 9">
            <a:extLst>
              <a:ext uri="{FF2B5EF4-FFF2-40B4-BE49-F238E27FC236}">
                <a16:creationId xmlns:a16="http://schemas.microsoft.com/office/drawing/2014/main" id="{10B5AA3A-7F03-3A78-5310-F49A63594900}"/>
              </a:ext>
            </a:extLst>
          </p:cNvPr>
          <p:cNvSpPr txBox="1"/>
          <p:nvPr/>
        </p:nvSpPr>
        <p:spPr>
          <a:xfrm>
            <a:off x="1842448" y="3778240"/>
            <a:ext cx="3784979" cy="2585323"/>
          </a:xfrm>
          <a:prstGeom prst="rect">
            <a:avLst/>
          </a:prstGeom>
          <a:noFill/>
        </p:spPr>
        <p:txBody>
          <a:bodyPr wrap="square">
            <a:spAutoFit/>
          </a:bodyPr>
          <a:lstStyle/>
          <a:p>
            <a:r>
              <a:rPr lang="zh-CN" altLang="en-US" dirty="0">
                <a:latin typeface="宋体" panose="02010600030101010101" pitchFamily="2" charset="-122"/>
                <a:ea typeface="宋体" panose="02010600030101010101" pitchFamily="2" charset="-122"/>
              </a:rPr>
              <a:t>4.1数据集的采集</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4.1.1数据预览</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4.1.2数据集存放位置展示</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4.2数据预处理</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4.3数据标注</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4.3.1 使用标注工具进行标注</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4.3.2标注文件预览..</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4.4 环境配置..</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4.5 模型所需数据集的整理.</a:t>
            </a:r>
          </a:p>
        </p:txBody>
      </p:sp>
      <p:sp>
        <p:nvSpPr>
          <p:cNvPr id="12" name="文本框 11">
            <a:extLst>
              <a:ext uri="{FF2B5EF4-FFF2-40B4-BE49-F238E27FC236}">
                <a16:creationId xmlns:a16="http://schemas.microsoft.com/office/drawing/2014/main" id="{6D7F8DAF-D1B5-8E16-BD94-6206F3104501}"/>
              </a:ext>
            </a:extLst>
          </p:cNvPr>
          <p:cNvSpPr txBox="1"/>
          <p:nvPr/>
        </p:nvSpPr>
        <p:spPr>
          <a:xfrm>
            <a:off x="6023212" y="4074783"/>
            <a:ext cx="5022376" cy="1754326"/>
          </a:xfrm>
          <a:prstGeom prst="rect">
            <a:avLst/>
          </a:prstGeom>
          <a:noFill/>
        </p:spPr>
        <p:txBody>
          <a:bodyPr wrap="square">
            <a:spAutoFit/>
          </a:bodyPr>
          <a:lstStyle/>
          <a:p>
            <a:r>
              <a:rPr lang="zh-CN" altLang="en-US" dirty="0">
                <a:latin typeface="宋体" panose="02010600030101010101" pitchFamily="2" charset="-122"/>
                <a:ea typeface="宋体" panose="02010600030101010101" pitchFamily="2" charset="-122"/>
              </a:rPr>
              <a:t>5.模型的训练与评估</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5.1模型介绍.</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5.5.1修改数据集配置文件</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5.5.2训练权重文件的下载与预训练模型的配置5.2配置模型训练参数.</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5.3模型评估</a:t>
            </a:r>
          </a:p>
        </p:txBody>
      </p:sp>
    </p:spTree>
    <p:extLst>
      <p:ext uri="{BB962C8B-B14F-4D97-AF65-F5344CB8AC3E}">
        <p14:creationId xmlns:p14="http://schemas.microsoft.com/office/powerpoint/2010/main" val="34075164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6989E87D-3856-C422-2CBB-AEF086703671}"/>
              </a:ext>
            </a:extLst>
          </p:cNvPr>
          <p:cNvSpPr txBox="1"/>
          <p:nvPr/>
        </p:nvSpPr>
        <p:spPr>
          <a:xfrm>
            <a:off x="3775882" y="1537648"/>
            <a:ext cx="3525670" cy="646331"/>
          </a:xfrm>
          <a:prstGeom prst="rect">
            <a:avLst/>
          </a:prstGeom>
          <a:noFill/>
        </p:spPr>
        <p:txBody>
          <a:bodyPr wrap="square" rtlCol="0">
            <a:spAutoFit/>
          </a:bodyPr>
          <a:lstStyle/>
          <a:p>
            <a:r>
              <a:rPr lang="zh-CN" altLang="en-US" sz="3600" dirty="0">
                <a:latin typeface="微软雅黑" panose="020B0503020204020204" pitchFamily="34" charset="-122"/>
                <a:ea typeface="微软雅黑" panose="020B0503020204020204" pitchFamily="34" charset="-122"/>
              </a:rPr>
              <a:t>第四章系统设计</a:t>
            </a:r>
          </a:p>
        </p:txBody>
      </p:sp>
      <p:sp>
        <p:nvSpPr>
          <p:cNvPr id="4" name="文本框 3">
            <a:extLst>
              <a:ext uri="{FF2B5EF4-FFF2-40B4-BE49-F238E27FC236}">
                <a16:creationId xmlns:a16="http://schemas.microsoft.com/office/drawing/2014/main" id="{F11247A1-62B1-22FB-DC48-D09F5274B0E6}"/>
              </a:ext>
            </a:extLst>
          </p:cNvPr>
          <p:cNvSpPr txBox="1"/>
          <p:nvPr/>
        </p:nvSpPr>
        <p:spPr>
          <a:xfrm>
            <a:off x="1760562" y="2623066"/>
            <a:ext cx="9476094" cy="2031325"/>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在系统设计这一章中，如果有相关内容与第三章的可行性分析存在相似之处，可以使用流程图的形式进行描述，</a:t>
            </a:r>
            <a:r>
              <a:rPr lang="zh-CN" altLang="en-US" dirty="0">
                <a:solidFill>
                  <a:srgbClr val="FF0000"/>
                </a:solidFill>
                <a:latin typeface="微软雅黑" panose="020B0503020204020204" pitchFamily="34" charset="-122"/>
                <a:ea typeface="微软雅黑" panose="020B0503020204020204" pitchFamily="34" charset="-122"/>
              </a:rPr>
              <a:t>如果是模型设计，可以更多的使用流程图的形式，直观表现模型的设计过程，对于有使用数据库的模型类设计，也可以添加</a:t>
            </a:r>
            <a:r>
              <a:rPr lang="en-US" altLang="zh-CN" dirty="0">
                <a:solidFill>
                  <a:srgbClr val="FF0000"/>
                </a:solidFill>
                <a:latin typeface="微软雅黑" panose="020B0503020204020204" pitchFamily="34" charset="-122"/>
                <a:ea typeface="微软雅黑" panose="020B0503020204020204" pitchFamily="34" charset="-122"/>
              </a:rPr>
              <a:t>E-R</a:t>
            </a:r>
            <a:r>
              <a:rPr lang="zh-CN" altLang="en-US" dirty="0">
                <a:solidFill>
                  <a:srgbClr val="FF0000"/>
                </a:solidFill>
                <a:latin typeface="微软雅黑" panose="020B0503020204020204" pitchFamily="34" charset="-122"/>
                <a:ea typeface="微软雅黑" panose="020B0503020204020204" pitchFamily="34" charset="-122"/>
              </a:rPr>
              <a:t>图来描述数据库</a:t>
            </a:r>
            <a:br>
              <a:rPr lang="zh-CN" altLang="en-US" dirty="0"/>
            </a:br>
            <a:br>
              <a:rPr lang="zh-CN" altLang="en-US" dirty="0"/>
            </a:br>
            <a:br>
              <a:rPr lang="zh-CN" altLang="en-US" dirty="0">
                <a:latin typeface="宋体" panose="02010600030101010101" pitchFamily="2" charset="-122"/>
                <a:ea typeface="宋体" panose="02010600030101010101" pitchFamily="2" charset="-122"/>
              </a:rPr>
            </a:br>
            <a:r>
              <a:rPr lang="zh-CN" altLang="en-US" dirty="0">
                <a:latin typeface="宋体" panose="02010600030101010101" pitchFamily="2" charset="-122"/>
                <a:ea typeface="宋体" panose="02010600030101010101" pitchFamily="2" charset="-122"/>
              </a:rPr>
              <a:t> </a:t>
            </a:r>
            <a:br>
              <a:rPr lang="zh-CN" altLang="en-US" dirty="0">
                <a:latin typeface="宋体" panose="02010600030101010101" pitchFamily="2" charset="-122"/>
                <a:ea typeface="宋体" panose="02010600030101010101" pitchFamily="2" charset="-122"/>
              </a:rPr>
            </a:br>
            <a:endParaRPr lang="en-US" altLang="zh-CN" dirty="0">
              <a:latin typeface="宋体" panose="02010600030101010101" pitchFamily="2" charset="-122"/>
              <a:ea typeface="宋体" panose="02010600030101010101" pitchFamily="2" charset="-122"/>
            </a:endParaRPr>
          </a:p>
        </p:txBody>
      </p:sp>
      <p:pic>
        <p:nvPicPr>
          <p:cNvPr id="8" name="图片 7" descr="白板上的文字&#10;&#10;描述已自动生成">
            <a:extLst>
              <a:ext uri="{FF2B5EF4-FFF2-40B4-BE49-F238E27FC236}">
                <a16:creationId xmlns:a16="http://schemas.microsoft.com/office/drawing/2014/main" id="{1EDBA857-FCC4-860B-89FB-21EDABDD8097}"/>
              </a:ext>
            </a:extLst>
          </p:cNvPr>
          <p:cNvPicPr>
            <a:picLocks noChangeAspect="1"/>
          </p:cNvPicPr>
          <p:nvPr/>
        </p:nvPicPr>
        <p:blipFill>
          <a:blip r:embed="rId2">
            <a:extLst>
              <a:ext uri="{28A0092B-C50C-407E-A947-70E740481C1C}">
                <a14:useLocalDpi xmlns:a14="http://schemas.microsoft.com/office/drawing/2010/main" val="0"/>
              </a:ext>
            </a:extLst>
          </a:blip>
          <a:srcRect r="3924"/>
          <a:stretch/>
        </p:blipFill>
        <p:spPr>
          <a:xfrm rot="16200000">
            <a:off x="7361652" y="2843518"/>
            <a:ext cx="3015430" cy="4186394"/>
          </a:xfrm>
          <a:prstGeom prst="rect">
            <a:avLst/>
          </a:prstGeom>
        </p:spPr>
      </p:pic>
    </p:spTree>
    <p:extLst>
      <p:ext uri="{BB962C8B-B14F-4D97-AF65-F5344CB8AC3E}">
        <p14:creationId xmlns:p14="http://schemas.microsoft.com/office/powerpoint/2010/main" val="20924816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5B846C4-E07C-DE31-8CB4-ADF3C024E3FF}"/>
              </a:ext>
            </a:extLst>
          </p:cNvPr>
          <p:cNvSpPr txBox="1"/>
          <p:nvPr/>
        </p:nvSpPr>
        <p:spPr>
          <a:xfrm>
            <a:off x="4294497" y="1551296"/>
            <a:ext cx="3575712" cy="646331"/>
          </a:xfrm>
          <a:prstGeom prst="rect">
            <a:avLst/>
          </a:prstGeom>
          <a:noFill/>
        </p:spPr>
        <p:txBody>
          <a:bodyPr wrap="square" rtlCol="0">
            <a:spAutoFit/>
          </a:bodyPr>
          <a:lstStyle/>
          <a:p>
            <a:r>
              <a:rPr lang="zh-CN" altLang="en-US" sz="3600" dirty="0">
                <a:latin typeface="微软雅黑" panose="020B0503020204020204" pitchFamily="34" charset="-122"/>
                <a:ea typeface="微软雅黑" panose="020B0503020204020204" pitchFamily="34" charset="-122"/>
              </a:rPr>
              <a:t>第五章系统实现</a:t>
            </a:r>
          </a:p>
        </p:txBody>
      </p:sp>
      <p:sp>
        <p:nvSpPr>
          <p:cNvPr id="3" name="文本框 2">
            <a:extLst>
              <a:ext uri="{FF2B5EF4-FFF2-40B4-BE49-F238E27FC236}">
                <a16:creationId xmlns:a16="http://schemas.microsoft.com/office/drawing/2014/main" id="{85EAF869-619E-D8EA-12B8-4D0234957086}"/>
              </a:ext>
            </a:extLst>
          </p:cNvPr>
          <p:cNvSpPr txBox="1"/>
          <p:nvPr/>
        </p:nvSpPr>
        <p:spPr>
          <a:xfrm>
            <a:off x="1956179" y="2803014"/>
            <a:ext cx="4503762" cy="1477328"/>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5.1 </a:t>
            </a:r>
            <a:r>
              <a:rPr lang="zh-CN" altLang="en-US" dirty="0">
                <a:latin typeface="微软雅黑" panose="020B0503020204020204" pitchFamily="34" charset="-122"/>
                <a:ea typeface="微软雅黑" panose="020B0503020204020204" pitchFamily="34" charset="-122"/>
              </a:rPr>
              <a:t>登录模块</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5.2 </a:t>
            </a:r>
            <a:r>
              <a:rPr lang="zh-CN" altLang="en-US" dirty="0">
                <a:latin typeface="微软雅黑" panose="020B0503020204020204" pitchFamily="34" charset="-122"/>
                <a:ea typeface="微软雅黑" panose="020B0503020204020204" pitchFamily="34" charset="-122"/>
              </a:rPr>
              <a:t>后台管理模块</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5.3 XXXX</a:t>
            </a:r>
            <a:r>
              <a:rPr lang="zh-CN" altLang="en-US" dirty="0">
                <a:latin typeface="微软雅黑" panose="020B0503020204020204" pitchFamily="34" charset="-122"/>
                <a:ea typeface="微软雅黑" panose="020B0503020204020204" pitchFamily="34" charset="-122"/>
              </a:rPr>
              <a:t>模块</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a:t>
            </a:r>
          </a:p>
          <a:p>
            <a:r>
              <a:rPr lang="en-US" altLang="zh-CN" dirty="0">
                <a:latin typeface="微软雅黑" panose="020B0503020204020204" pitchFamily="34" charset="-122"/>
                <a:ea typeface="微软雅黑" panose="020B0503020204020204" pitchFamily="34" charset="-122"/>
              </a:rPr>
              <a:t>5.4 </a:t>
            </a:r>
            <a:r>
              <a:rPr lang="zh-CN" altLang="en-US" dirty="0">
                <a:latin typeface="微软雅黑" panose="020B0503020204020204" pitchFamily="34" charset="-122"/>
                <a:ea typeface="微软雅黑" panose="020B0503020204020204" pitchFamily="34" charset="-122"/>
              </a:rPr>
              <a:t>本章小结</a:t>
            </a:r>
          </a:p>
        </p:txBody>
      </p:sp>
      <p:sp>
        <p:nvSpPr>
          <p:cNvPr id="4" name="文本框 3">
            <a:extLst>
              <a:ext uri="{FF2B5EF4-FFF2-40B4-BE49-F238E27FC236}">
                <a16:creationId xmlns:a16="http://schemas.microsoft.com/office/drawing/2014/main" id="{398CF165-4352-BF92-48F7-DC65CB1B4309}"/>
              </a:ext>
            </a:extLst>
          </p:cNvPr>
          <p:cNvSpPr txBox="1"/>
          <p:nvPr/>
        </p:nvSpPr>
        <p:spPr>
          <a:xfrm>
            <a:off x="4535605" y="5472584"/>
            <a:ext cx="3225421" cy="584775"/>
          </a:xfrm>
          <a:prstGeom prst="rect">
            <a:avLst/>
          </a:prstGeom>
          <a:noFill/>
        </p:spPr>
        <p:txBody>
          <a:bodyPr wrap="square">
            <a:spAutoFit/>
          </a:bodyPr>
          <a:lstStyle/>
          <a:p>
            <a:r>
              <a:rPr lang="zh-CN" altLang="en-US" sz="3200" dirty="0">
                <a:solidFill>
                  <a:srgbClr val="FF0000"/>
                </a:solidFill>
                <a:latin typeface="SimSun" panose="02010600030101010101" pitchFamily="2" charset="-122"/>
                <a:ea typeface="SimSun" panose="02010600030101010101" pitchFamily="2" charset="-122"/>
              </a:rPr>
              <a:t>第五</a:t>
            </a:r>
            <a:r>
              <a:rPr lang="zh-CN" altLang="en-US" sz="3200">
                <a:solidFill>
                  <a:srgbClr val="FF0000"/>
                </a:solidFill>
                <a:latin typeface="SimSun" panose="02010600030101010101" pitchFamily="2" charset="-122"/>
                <a:ea typeface="SimSun" panose="02010600030101010101" pitchFamily="2" charset="-122"/>
              </a:rPr>
              <a:t>章共</a:t>
            </a:r>
            <a:r>
              <a:rPr lang="en-US" altLang="zh-CN" sz="3200">
                <a:solidFill>
                  <a:srgbClr val="FF0000"/>
                </a:solidFill>
                <a:latin typeface="SimSun" panose="02010600030101010101" pitchFamily="2" charset="-122"/>
                <a:ea typeface="SimSun" panose="02010600030101010101" pitchFamily="2" charset="-122"/>
              </a:rPr>
              <a:t>9-10</a:t>
            </a:r>
            <a:r>
              <a:rPr lang="zh-CN" altLang="en-US" sz="3200" dirty="0">
                <a:solidFill>
                  <a:srgbClr val="FF0000"/>
                </a:solidFill>
                <a:latin typeface="SimSun" panose="02010600030101010101" pitchFamily="2" charset="-122"/>
                <a:ea typeface="SimSun" panose="02010600030101010101" pitchFamily="2" charset="-122"/>
              </a:rPr>
              <a:t>页</a:t>
            </a:r>
            <a:endParaRPr lang="zh-CN" altLang="en-US" sz="3200" dirty="0">
              <a:solidFill>
                <a:srgbClr val="FF0000"/>
              </a:solidFill>
            </a:endParaRPr>
          </a:p>
        </p:txBody>
      </p:sp>
      <p:sp>
        <p:nvSpPr>
          <p:cNvPr id="5" name="文本框 4">
            <a:extLst>
              <a:ext uri="{FF2B5EF4-FFF2-40B4-BE49-F238E27FC236}">
                <a16:creationId xmlns:a16="http://schemas.microsoft.com/office/drawing/2014/main" id="{DE947E15-ADAF-393C-1DBB-309ABE66744D}"/>
              </a:ext>
            </a:extLst>
          </p:cNvPr>
          <p:cNvSpPr txBox="1"/>
          <p:nvPr/>
        </p:nvSpPr>
        <p:spPr>
          <a:xfrm>
            <a:off x="6148315" y="2835028"/>
            <a:ext cx="657366" cy="1384995"/>
          </a:xfrm>
          <a:prstGeom prst="rect">
            <a:avLst/>
          </a:prstGeom>
          <a:noFill/>
        </p:spPr>
        <p:txBody>
          <a:bodyPr wrap="square" rtlCol="0">
            <a:spAutoFit/>
          </a:bodyPr>
          <a:lstStyle/>
          <a:p>
            <a:r>
              <a:rPr lang="zh-CN" altLang="en-US" sz="2800" dirty="0">
                <a:latin typeface="微软雅黑" panose="020B0503020204020204" pitchFamily="34" charset="-122"/>
                <a:ea typeface="微软雅黑" panose="020B0503020204020204" pitchFamily="34" charset="-122"/>
              </a:rPr>
              <a:t>模型类</a:t>
            </a:r>
          </a:p>
        </p:txBody>
      </p:sp>
      <p:sp>
        <p:nvSpPr>
          <p:cNvPr id="6" name="文本框 5">
            <a:extLst>
              <a:ext uri="{FF2B5EF4-FFF2-40B4-BE49-F238E27FC236}">
                <a16:creationId xmlns:a16="http://schemas.microsoft.com/office/drawing/2014/main" id="{E6BAC01F-8D61-9614-57DE-B6EBE01DE2FC}"/>
              </a:ext>
            </a:extLst>
          </p:cNvPr>
          <p:cNvSpPr txBox="1"/>
          <p:nvPr/>
        </p:nvSpPr>
        <p:spPr>
          <a:xfrm>
            <a:off x="1291990" y="2850529"/>
            <a:ext cx="595950" cy="1384995"/>
          </a:xfrm>
          <a:prstGeom prst="rect">
            <a:avLst/>
          </a:prstGeom>
          <a:noFill/>
        </p:spPr>
        <p:txBody>
          <a:bodyPr wrap="square" rtlCol="0">
            <a:spAutoFit/>
          </a:bodyPr>
          <a:lstStyle/>
          <a:p>
            <a:r>
              <a:rPr lang="zh-CN" altLang="en-US" sz="2800" dirty="0">
                <a:latin typeface="微软雅黑" panose="020B0503020204020204" pitchFamily="34" charset="-122"/>
                <a:ea typeface="微软雅黑" panose="020B0503020204020204" pitchFamily="34" charset="-122"/>
              </a:rPr>
              <a:t>系统类</a:t>
            </a:r>
          </a:p>
        </p:txBody>
      </p:sp>
      <p:sp>
        <p:nvSpPr>
          <p:cNvPr id="7" name="文本框 6">
            <a:extLst>
              <a:ext uri="{FF2B5EF4-FFF2-40B4-BE49-F238E27FC236}">
                <a16:creationId xmlns:a16="http://schemas.microsoft.com/office/drawing/2014/main" id="{30C52726-B2F1-47FD-4EDD-B47427E6F9CB}"/>
              </a:ext>
            </a:extLst>
          </p:cNvPr>
          <p:cNvSpPr txBox="1"/>
          <p:nvPr/>
        </p:nvSpPr>
        <p:spPr>
          <a:xfrm>
            <a:off x="6762466" y="2758196"/>
            <a:ext cx="4503762" cy="1754326"/>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5.1 </a:t>
            </a:r>
            <a:r>
              <a:rPr lang="zh-CN" altLang="en-US" sz="1800" b="0" i="0" dirty="0">
                <a:solidFill>
                  <a:srgbClr val="000000"/>
                </a:solidFill>
                <a:effectLst/>
                <a:latin typeface="SimSun" panose="02010600030101010101" pitchFamily="2" charset="-122"/>
                <a:ea typeface="SimSun" panose="02010600030101010101" pitchFamily="2" charset="-122"/>
              </a:rPr>
              <a:t>可视化界面展示</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5.2 </a:t>
            </a:r>
            <a:r>
              <a:rPr lang="zh-CN" altLang="en-US" dirty="0">
                <a:latin typeface="微软雅黑" panose="020B0503020204020204" pitchFamily="34" charset="-122"/>
                <a:ea typeface="微软雅黑" panose="020B0503020204020204" pitchFamily="34" charset="-122"/>
              </a:rPr>
              <a:t>功能描述</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（如车牌识别功能）</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5.3XXXX</a:t>
            </a:r>
            <a:r>
              <a:rPr lang="zh-CN" altLang="en-US" dirty="0">
                <a:latin typeface="微软雅黑" panose="020B0503020204020204" pitchFamily="34" charset="-122"/>
                <a:ea typeface="微软雅黑" panose="020B0503020204020204" pitchFamily="34" charset="-122"/>
              </a:rPr>
              <a:t>功能</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a:t>
            </a:r>
          </a:p>
          <a:p>
            <a:r>
              <a:rPr lang="en-US" altLang="zh-CN" dirty="0">
                <a:latin typeface="微软雅黑" panose="020B0503020204020204" pitchFamily="34" charset="-122"/>
                <a:ea typeface="微软雅黑" panose="020B0503020204020204" pitchFamily="34" charset="-122"/>
              </a:rPr>
              <a:t>5.4 </a:t>
            </a:r>
            <a:r>
              <a:rPr lang="zh-CN" altLang="en-US" dirty="0">
                <a:latin typeface="微软雅黑" panose="020B0503020204020204" pitchFamily="34" charset="-122"/>
                <a:ea typeface="微软雅黑" panose="020B0503020204020204" pitchFamily="34" charset="-122"/>
              </a:rPr>
              <a:t>本章小结</a:t>
            </a:r>
          </a:p>
        </p:txBody>
      </p:sp>
    </p:spTree>
    <p:extLst>
      <p:ext uri="{BB962C8B-B14F-4D97-AF65-F5344CB8AC3E}">
        <p14:creationId xmlns:p14="http://schemas.microsoft.com/office/powerpoint/2010/main" val="10990699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5B846C4-E07C-DE31-8CB4-ADF3C024E3FF}"/>
              </a:ext>
            </a:extLst>
          </p:cNvPr>
          <p:cNvSpPr txBox="1"/>
          <p:nvPr/>
        </p:nvSpPr>
        <p:spPr>
          <a:xfrm>
            <a:off x="3775882" y="1537648"/>
            <a:ext cx="3525670" cy="646331"/>
          </a:xfrm>
          <a:prstGeom prst="rect">
            <a:avLst/>
          </a:prstGeom>
          <a:noFill/>
        </p:spPr>
        <p:txBody>
          <a:bodyPr wrap="square" rtlCol="0">
            <a:spAutoFit/>
          </a:bodyPr>
          <a:lstStyle/>
          <a:p>
            <a:r>
              <a:rPr lang="zh-CN" altLang="en-US" sz="3600" dirty="0">
                <a:latin typeface="微软雅黑" panose="020B0503020204020204" pitchFamily="34" charset="-122"/>
                <a:ea typeface="微软雅黑" panose="020B0503020204020204" pitchFamily="34" charset="-122"/>
              </a:rPr>
              <a:t>第五章系统实现</a:t>
            </a:r>
          </a:p>
        </p:txBody>
      </p:sp>
      <p:sp>
        <p:nvSpPr>
          <p:cNvPr id="5" name="文本框 4">
            <a:extLst>
              <a:ext uri="{FF2B5EF4-FFF2-40B4-BE49-F238E27FC236}">
                <a16:creationId xmlns:a16="http://schemas.microsoft.com/office/drawing/2014/main" id="{FDC4B851-89BA-B306-4C5F-661283666090}"/>
              </a:ext>
            </a:extLst>
          </p:cNvPr>
          <p:cNvSpPr txBox="1"/>
          <p:nvPr/>
        </p:nvSpPr>
        <p:spPr>
          <a:xfrm>
            <a:off x="4667535" y="2481197"/>
            <a:ext cx="6114196" cy="369332"/>
          </a:xfrm>
          <a:prstGeom prst="rect">
            <a:avLst/>
          </a:prstGeom>
          <a:noFill/>
        </p:spPr>
        <p:txBody>
          <a:bodyPr wrap="square">
            <a:spAutoFit/>
          </a:bodyPr>
          <a:lstStyle/>
          <a:p>
            <a:r>
              <a:rPr lang="en-US" altLang="zh-CN" dirty="0">
                <a:latin typeface="微软雅黑" panose="020B0503020204020204" pitchFamily="34" charset="-122"/>
                <a:ea typeface="微软雅黑" panose="020B0503020204020204" pitchFamily="34" charset="-122"/>
              </a:rPr>
              <a:t>5.1 </a:t>
            </a:r>
            <a:r>
              <a:rPr lang="zh-CN" altLang="en-US" dirty="0">
                <a:latin typeface="微软雅黑" panose="020B0503020204020204" pitchFamily="34" charset="-122"/>
                <a:ea typeface="微软雅黑" panose="020B0503020204020204" pitchFamily="34" charset="-122"/>
              </a:rPr>
              <a:t>登录模块</a:t>
            </a:r>
            <a:endParaRPr lang="en-US" altLang="zh-CN" dirty="0">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56377BE3-AA72-26C8-18DF-A62CF46DD413}"/>
              </a:ext>
            </a:extLst>
          </p:cNvPr>
          <p:cNvSpPr txBox="1"/>
          <p:nvPr/>
        </p:nvSpPr>
        <p:spPr>
          <a:xfrm>
            <a:off x="850712" y="2850529"/>
            <a:ext cx="7501718" cy="3693319"/>
          </a:xfrm>
          <a:prstGeom prst="rect">
            <a:avLst/>
          </a:prstGeom>
          <a:noFill/>
        </p:spPr>
        <p:txBody>
          <a:bodyPr wrap="square">
            <a:spAutoFit/>
          </a:bodyPr>
          <a:lstStyle/>
          <a:p>
            <a:r>
              <a:rPr lang="en-US" altLang="zh-CN" sz="1800" b="0" i="0" dirty="0">
                <a:solidFill>
                  <a:srgbClr val="000000"/>
                </a:solidFill>
                <a:effectLst/>
                <a:latin typeface="TimesNewRomanPSMT"/>
              </a:rPr>
              <a:t>5.1.1 </a:t>
            </a:r>
            <a:r>
              <a:rPr lang="zh-CN" altLang="en-US" sz="1800" b="0" i="0" dirty="0">
                <a:solidFill>
                  <a:srgbClr val="000000"/>
                </a:solidFill>
                <a:effectLst/>
                <a:latin typeface="FangSong" panose="02010609060101010101" pitchFamily="49" charset="-122"/>
                <a:ea typeface="FangSong" panose="02010609060101010101" pitchFamily="49" charset="-122"/>
              </a:rPr>
              <a:t>注册登录功能实现</a:t>
            </a:r>
            <a:br>
              <a:rPr lang="zh-CN" altLang="en-US" sz="1800" b="0" i="0" dirty="0">
                <a:solidFill>
                  <a:srgbClr val="000000"/>
                </a:solidFill>
                <a:effectLst/>
                <a:latin typeface="FangSong" panose="02010609060101010101" pitchFamily="49" charset="-122"/>
                <a:ea typeface="FangSong" panose="02010609060101010101" pitchFamily="49" charset="-122"/>
              </a:rPr>
            </a:br>
            <a:r>
              <a:rPr lang="zh-CN" altLang="en-US" sz="1800" b="0" i="0" dirty="0">
                <a:solidFill>
                  <a:srgbClr val="000000"/>
                </a:solidFill>
                <a:effectLst/>
                <a:latin typeface="FangSong" panose="02010609060101010101" pitchFamily="49" charset="-122"/>
                <a:ea typeface="FangSong" panose="02010609060101010101" pitchFamily="49" charset="-122"/>
              </a:rPr>
              <a:t>在注册登录功能的实现中，前端使用 </a:t>
            </a:r>
            <a:r>
              <a:rPr lang="en-US" altLang="zh-CN" sz="1800" b="0" i="0" dirty="0">
                <a:solidFill>
                  <a:srgbClr val="000000"/>
                </a:solidFill>
                <a:effectLst/>
                <a:latin typeface="TimesNewRomanPSMT"/>
              </a:rPr>
              <a:t>Vue.js </a:t>
            </a:r>
            <a:r>
              <a:rPr lang="zh-CN" altLang="en-US" sz="1800" b="0" i="0" dirty="0">
                <a:solidFill>
                  <a:srgbClr val="000000"/>
                </a:solidFill>
                <a:effectLst/>
                <a:latin typeface="FangSong" panose="02010609060101010101" pitchFamily="49" charset="-122"/>
                <a:ea typeface="FangSong" panose="02010609060101010101" pitchFamily="49" charset="-122"/>
              </a:rPr>
              <a:t>构建，通过 </a:t>
            </a:r>
            <a:r>
              <a:rPr lang="en-US" altLang="zh-CN" sz="1800" b="0" i="0" dirty="0">
                <a:solidFill>
                  <a:srgbClr val="000000"/>
                </a:solidFill>
                <a:effectLst/>
                <a:latin typeface="TimesNewRomanPSMT"/>
              </a:rPr>
              <a:t>Element</a:t>
            </a:r>
            <a:br>
              <a:rPr lang="en-US" altLang="zh-CN" sz="1800" b="0" i="0" dirty="0">
                <a:solidFill>
                  <a:srgbClr val="000000"/>
                </a:solidFill>
                <a:effectLst/>
                <a:latin typeface="TimesNewRomanPSMT"/>
              </a:rPr>
            </a:br>
            <a:r>
              <a:rPr lang="en-US" altLang="zh-CN" sz="1800" b="0" i="0" dirty="0">
                <a:solidFill>
                  <a:srgbClr val="000000"/>
                </a:solidFill>
                <a:effectLst/>
                <a:latin typeface="TimesNewRomanPSMT"/>
              </a:rPr>
              <a:t>Plus </a:t>
            </a:r>
            <a:r>
              <a:rPr lang="zh-CN" altLang="en-US" sz="1800" b="0" i="0" dirty="0">
                <a:solidFill>
                  <a:srgbClr val="000000"/>
                </a:solidFill>
                <a:effectLst/>
                <a:latin typeface="FangSong" panose="02010609060101010101" pitchFamily="49" charset="-122"/>
                <a:ea typeface="FangSong" panose="02010609060101010101" pitchFamily="49" charset="-122"/>
              </a:rPr>
              <a:t>组件库提供界面，包含用户名和密码输入框及登录</a:t>
            </a:r>
            <a:r>
              <a:rPr lang="en-US" altLang="zh-CN" sz="1800" b="0" i="0" dirty="0">
                <a:solidFill>
                  <a:srgbClr val="000000"/>
                </a:solidFill>
                <a:effectLst/>
                <a:latin typeface="TimesNewRomanPSMT"/>
              </a:rPr>
              <a:t>/</a:t>
            </a:r>
            <a:r>
              <a:rPr lang="zh-CN" altLang="en-US" sz="1800" b="0" i="0" dirty="0">
                <a:solidFill>
                  <a:srgbClr val="000000"/>
                </a:solidFill>
                <a:effectLst/>
                <a:latin typeface="FangSong" panose="02010609060101010101" pitchFamily="49" charset="-122"/>
                <a:ea typeface="FangSong" panose="02010609060101010101" pitchFamily="49" charset="-122"/>
              </a:rPr>
              <a:t>注册切换功能。后端采用 </a:t>
            </a:r>
            <a:r>
              <a:rPr lang="en-US" altLang="zh-CN" sz="1800" b="0" i="0" dirty="0">
                <a:solidFill>
                  <a:srgbClr val="000000"/>
                </a:solidFill>
                <a:effectLst/>
                <a:latin typeface="TimesNewRomanPSMT"/>
              </a:rPr>
              <a:t>Flask </a:t>
            </a:r>
            <a:r>
              <a:rPr lang="zh-CN" altLang="en-US" sz="1800" b="0" i="0" dirty="0">
                <a:solidFill>
                  <a:srgbClr val="000000"/>
                </a:solidFill>
                <a:effectLst/>
                <a:latin typeface="FangSong" panose="02010609060101010101" pitchFamily="49" charset="-122"/>
                <a:ea typeface="FangSong" panose="02010609060101010101" pitchFamily="49" charset="-122"/>
              </a:rPr>
              <a:t>框架，提供</a:t>
            </a:r>
            <a:r>
              <a:rPr lang="en-US" altLang="zh-CN" sz="1800" b="0" i="0" dirty="0">
                <a:solidFill>
                  <a:srgbClr val="000000"/>
                </a:solidFill>
                <a:effectLst/>
                <a:latin typeface="TimesNewRomanPSMT"/>
              </a:rPr>
              <a:t>/register </a:t>
            </a:r>
            <a:r>
              <a:rPr lang="zh-CN" altLang="en-US" sz="1800" b="0" i="0" dirty="0">
                <a:solidFill>
                  <a:srgbClr val="000000"/>
                </a:solidFill>
                <a:effectLst/>
                <a:latin typeface="FangSong" panose="02010609060101010101" pitchFamily="49" charset="-122"/>
                <a:ea typeface="FangSong" panose="02010609060101010101" pitchFamily="49" charset="-122"/>
              </a:rPr>
              <a:t>和</a:t>
            </a:r>
            <a:r>
              <a:rPr lang="en-US" altLang="zh-CN" sz="1800" b="0" i="0" dirty="0">
                <a:solidFill>
                  <a:srgbClr val="000000"/>
                </a:solidFill>
                <a:effectLst/>
                <a:latin typeface="TimesNewRomanPSMT"/>
              </a:rPr>
              <a:t>/login </a:t>
            </a:r>
            <a:r>
              <a:rPr lang="zh-CN" altLang="en-US" sz="1800" b="0" i="0" dirty="0">
                <a:solidFill>
                  <a:srgbClr val="000000"/>
                </a:solidFill>
                <a:effectLst/>
                <a:latin typeface="FangSong" panose="02010609060101010101" pitchFamily="49" charset="-122"/>
                <a:ea typeface="FangSong" panose="02010609060101010101" pitchFamily="49" charset="-122"/>
              </a:rPr>
              <a:t>两个 </a:t>
            </a:r>
            <a:r>
              <a:rPr lang="en-US" altLang="zh-CN" sz="1800" b="0" i="0" dirty="0">
                <a:solidFill>
                  <a:srgbClr val="000000"/>
                </a:solidFill>
                <a:effectLst/>
                <a:latin typeface="TimesNewRomanPSMT"/>
              </a:rPr>
              <a:t>API </a:t>
            </a:r>
            <a:r>
              <a:rPr lang="zh-CN" altLang="en-US" sz="1800" b="0" i="0" dirty="0">
                <a:solidFill>
                  <a:srgbClr val="000000"/>
                </a:solidFill>
                <a:effectLst/>
                <a:latin typeface="FangSong" panose="02010609060101010101" pitchFamily="49" charset="-122"/>
                <a:ea typeface="FangSong" panose="02010609060101010101" pitchFamily="49" charset="-122"/>
              </a:rPr>
              <a:t>接口处理用</a:t>
            </a:r>
            <a:br>
              <a:rPr lang="zh-CN" altLang="en-US" sz="1800" b="0" i="0" dirty="0">
                <a:solidFill>
                  <a:srgbClr val="000000"/>
                </a:solidFill>
                <a:effectLst/>
                <a:latin typeface="FangSong" panose="02010609060101010101" pitchFamily="49" charset="-122"/>
                <a:ea typeface="FangSong" panose="02010609060101010101" pitchFamily="49" charset="-122"/>
              </a:rPr>
            </a:br>
            <a:r>
              <a:rPr lang="zh-CN" altLang="en-US" sz="1800" b="0" i="0" dirty="0">
                <a:solidFill>
                  <a:srgbClr val="000000"/>
                </a:solidFill>
                <a:effectLst/>
                <a:latin typeface="FangSong" panose="02010609060101010101" pitchFamily="49" charset="-122"/>
                <a:ea typeface="FangSong" panose="02010609060101010101" pitchFamily="49" charset="-122"/>
              </a:rPr>
              <a:t>户注册和登录请求。 </a:t>
            </a:r>
            <a:r>
              <a:rPr lang="en-US" altLang="zh-CN" sz="1800" b="0" i="0" dirty="0" err="1">
                <a:solidFill>
                  <a:srgbClr val="000000"/>
                </a:solidFill>
                <a:effectLst/>
                <a:latin typeface="TimesNewRomanPSMT"/>
              </a:rPr>
              <a:t>SQLAlchemy</a:t>
            </a:r>
            <a:r>
              <a:rPr lang="en-US" altLang="zh-CN" sz="1800" b="0" i="0" dirty="0">
                <a:solidFill>
                  <a:srgbClr val="000000"/>
                </a:solidFill>
                <a:effectLst/>
                <a:latin typeface="TimesNewRomanPSMT"/>
              </a:rPr>
              <a:t> </a:t>
            </a:r>
            <a:r>
              <a:rPr lang="zh-CN" altLang="en-US" sz="1800" b="0" i="0" dirty="0">
                <a:solidFill>
                  <a:srgbClr val="000000"/>
                </a:solidFill>
                <a:effectLst/>
                <a:latin typeface="FangSong" panose="02010609060101010101" pitchFamily="49" charset="-122"/>
                <a:ea typeface="FangSong" panose="02010609060101010101" pitchFamily="49" charset="-122"/>
              </a:rPr>
              <a:t>作为 </a:t>
            </a:r>
            <a:r>
              <a:rPr lang="en-US" altLang="zh-CN" sz="1800" b="0" i="0" dirty="0">
                <a:solidFill>
                  <a:srgbClr val="000000"/>
                </a:solidFill>
                <a:effectLst/>
                <a:latin typeface="TimesNewRomanPSMT"/>
              </a:rPr>
              <a:t>ORM </a:t>
            </a:r>
            <a:r>
              <a:rPr lang="zh-CN" altLang="en-US" sz="1800" b="0" i="0" dirty="0">
                <a:solidFill>
                  <a:srgbClr val="000000"/>
                </a:solidFill>
                <a:effectLst/>
                <a:latin typeface="FangSong" panose="02010609060101010101" pitchFamily="49" charset="-122"/>
                <a:ea typeface="FangSong" panose="02010609060101010101" pitchFamily="49" charset="-122"/>
              </a:rPr>
              <a:t>框架，实现了与 </a:t>
            </a:r>
            <a:r>
              <a:rPr lang="en-US" altLang="zh-CN" sz="1800" b="0" i="0" dirty="0">
                <a:solidFill>
                  <a:srgbClr val="000000"/>
                </a:solidFill>
                <a:effectLst/>
                <a:latin typeface="TimesNewRomanPSMT"/>
              </a:rPr>
              <a:t>MySQL</a:t>
            </a:r>
            <a:br>
              <a:rPr lang="en-US" altLang="zh-CN" sz="1800" b="0" i="0" dirty="0">
                <a:solidFill>
                  <a:srgbClr val="000000"/>
                </a:solidFill>
                <a:effectLst/>
                <a:latin typeface="TimesNewRomanPSMT"/>
              </a:rPr>
            </a:br>
            <a:r>
              <a:rPr lang="zh-CN" altLang="en-US" sz="1800" b="0" i="0" dirty="0">
                <a:solidFill>
                  <a:srgbClr val="000000"/>
                </a:solidFill>
                <a:effectLst/>
                <a:latin typeface="FangSong" panose="02010609060101010101" pitchFamily="49" charset="-122"/>
                <a:ea typeface="FangSong" panose="02010609060101010101" pitchFamily="49" charset="-122"/>
              </a:rPr>
              <a:t>数据库的交互，将数据库操作转化为面向对象的操作。</a:t>
            </a:r>
            <a:br>
              <a:rPr lang="zh-CN" altLang="en-US" sz="1800" b="0" i="0" dirty="0">
                <a:solidFill>
                  <a:srgbClr val="000000"/>
                </a:solidFill>
                <a:effectLst/>
                <a:latin typeface="FangSong" panose="02010609060101010101" pitchFamily="49" charset="-122"/>
                <a:ea typeface="FangSong" panose="02010609060101010101" pitchFamily="49" charset="-122"/>
              </a:rPr>
            </a:br>
            <a:r>
              <a:rPr lang="zh-CN" altLang="en-US" sz="1800" b="0" i="0" dirty="0">
                <a:solidFill>
                  <a:srgbClr val="000000"/>
                </a:solidFill>
                <a:effectLst/>
                <a:latin typeface="FangSong" panose="02010609060101010101" pitchFamily="49" charset="-122"/>
                <a:ea typeface="FangSong" panose="02010609060101010101" pitchFamily="49" charset="-122"/>
              </a:rPr>
              <a:t>当用户打开车牌号识别系统时，首先看到的是账号登录和注册界</a:t>
            </a:r>
            <a:br>
              <a:rPr lang="zh-CN" altLang="en-US" sz="1800" b="0" i="0" dirty="0">
                <a:solidFill>
                  <a:srgbClr val="000000"/>
                </a:solidFill>
                <a:effectLst/>
                <a:latin typeface="FangSong" panose="02010609060101010101" pitchFamily="49" charset="-122"/>
                <a:ea typeface="FangSong" panose="02010609060101010101" pitchFamily="49" charset="-122"/>
              </a:rPr>
            </a:br>
            <a:r>
              <a:rPr lang="zh-CN" altLang="en-US" sz="1800" b="0" i="0" dirty="0">
                <a:solidFill>
                  <a:srgbClr val="000000"/>
                </a:solidFill>
                <a:effectLst/>
                <a:latin typeface="FangSong" panose="02010609060101010101" pitchFamily="49" charset="-122"/>
                <a:ea typeface="FangSong" panose="02010609060101010101" pitchFamily="49" charset="-122"/>
              </a:rPr>
              <a:t>面，如</a:t>
            </a:r>
            <a:r>
              <a:rPr lang="zh-CN" altLang="en-US" sz="1800" b="0" i="0" dirty="0">
                <a:solidFill>
                  <a:srgbClr val="000000"/>
                </a:solidFill>
                <a:effectLst/>
                <a:latin typeface="SimSun" panose="02010600030101010101" pitchFamily="2" charset="-122"/>
                <a:ea typeface="SimSun" panose="02010600030101010101" pitchFamily="2" charset="-122"/>
              </a:rPr>
              <a:t>图 </a:t>
            </a:r>
            <a:r>
              <a:rPr lang="en-US" altLang="zh-CN" sz="1800" b="0" i="0" dirty="0">
                <a:solidFill>
                  <a:srgbClr val="000000"/>
                </a:solidFill>
                <a:effectLst/>
                <a:latin typeface="TimesNewRomanPSMT"/>
              </a:rPr>
              <a:t>5-8 </a:t>
            </a:r>
            <a:r>
              <a:rPr lang="zh-CN" altLang="en-US" sz="1800" b="0" i="0" dirty="0">
                <a:solidFill>
                  <a:srgbClr val="000000"/>
                </a:solidFill>
                <a:effectLst/>
                <a:latin typeface="FangSong" panose="02010609060101010101" pitchFamily="49" charset="-122"/>
                <a:ea typeface="FangSong" panose="02010609060101010101" pitchFamily="49" charset="-122"/>
              </a:rPr>
              <a:t>所示。</a:t>
            </a:r>
            <a:br>
              <a:rPr lang="zh-CN" altLang="en-US" sz="1800" b="0" i="0" dirty="0">
                <a:solidFill>
                  <a:srgbClr val="000000"/>
                </a:solidFill>
                <a:effectLst/>
                <a:latin typeface="FangSong" panose="02010609060101010101" pitchFamily="49" charset="-122"/>
                <a:ea typeface="FangSong" panose="02010609060101010101" pitchFamily="49" charset="-122"/>
              </a:rPr>
            </a:br>
            <a:r>
              <a:rPr lang="zh-CN" altLang="en-US" sz="1800" b="0" i="0" dirty="0">
                <a:solidFill>
                  <a:srgbClr val="000000"/>
                </a:solidFill>
                <a:effectLst/>
                <a:latin typeface="FangSong" panose="02010609060101010101" pitchFamily="49" charset="-122"/>
                <a:ea typeface="FangSong" panose="02010609060101010101" pitchFamily="49" charset="-122"/>
              </a:rPr>
              <a:t>已注册的用户可以通过输入账号和密码登录系统，系统在数据库</a:t>
            </a:r>
            <a:br>
              <a:rPr lang="zh-CN" altLang="en-US" sz="1800" b="0" i="0" dirty="0">
                <a:solidFill>
                  <a:srgbClr val="000000"/>
                </a:solidFill>
                <a:effectLst/>
                <a:latin typeface="FangSong" panose="02010609060101010101" pitchFamily="49" charset="-122"/>
                <a:ea typeface="FangSong" panose="02010609060101010101" pitchFamily="49" charset="-122"/>
              </a:rPr>
            </a:br>
            <a:r>
              <a:rPr lang="zh-CN" altLang="en-US" sz="1800" b="0" i="0" dirty="0">
                <a:solidFill>
                  <a:srgbClr val="000000"/>
                </a:solidFill>
                <a:effectLst/>
                <a:latin typeface="FangSong" panose="02010609060101010101" pitchFamily="49" charset="-122"/>
                <a:ea typeface="FangSong" panose="02010609060101010101" pitchFamily="49" charset="-122"/>
              </a:rPr>
              <a:t>中查询匹配的用户信息，如果查询到匹配的信息则登录成功，未查询</a:t>
            </a:r>
            <a:br>
              <a:rPr lang="zh-CN" altLang="en-US" sz="1800" b="0" i="0" dirty="0">
                <a:solidFill>
                  <a:srgbClr val="000000"/>
                </a:solidFill>
                <a:effectLst/>
                <a:latin typeface="FangSong" panose="02010609060101010101" pitchFamily="49" charset="-122"/>
                <a:ea typeface="FangSong" panose="02010609060101010101" pitchFamily="49" charset="-122"/>
              </a:rPr>
            </a:br>
            <a:r>
              <a:rPr lang="zh-CN" altLang="en-US" sz="1800" b="0" i="0" dirty="0">
                <a:solidFill>
                  <a:srgbClr val="000000"/>
                </a:solidFill>
                <a:effectLst/>
                <a:latin typeface="FangSong" panose="02010609060101010101" pitchFamily="49" charset="-122"/>
                <a:ea typeface="FangSong" panose="02010609060101010101" pitchFamily="49" charset="-122"/>
              </a:rPr>
              <a:t>到匹配信息则返回错误信息。</a:t>
            </a:r>
            <a:r>
              <a:rPr lang="zh-CN" altLang="en-US" dirty="0"/>
              <a:t> </a:t>
            </a:r>
            <a:br>
              <a:rPr lang="zh-CN" altLang="en-US" dirty="0"/>
            </a:br>
            <a:br>
              <a:rPr lang="zh-CN" altLang="en-US" dirty="0"/>
            </a:br>
            <a:endParaRPr lang="zh-CN" altLang="en-US" dirty="0"/>
          </a:p>
        </p:txBody>
      </p:sp>
      <p:pic>
        <p:nvPicPr>
          <p:cNvPr id="12" name="图片 11">
            <a:extLst>
              <a:ext uri="{FF2B5EF4-FFF2-40B4-BE49-F238E27FC236}">
                <a16:creationId xmlns:a16="http://schemas.microsoft.com/office/drawing/2014/main" id="{C1749FD4-9C59-8028-4DE3-A4D45D00B604}"/>
              </a:ext>
            </a:extLst>
          </p:cNvPr>
          <p:cNvPicPr>
            <a:picLocks noChangeAspect="1"/>
          </p:cNvPicPr>
          <p:nvPr/>
        </p:nvPicPr>
        <p:blipFill>
          <a:blip r:embed="rId2"/>
          <a:stretch>
            <a:fillRect/>
          </a:stretch>
        </p:blipFill>
        <p:spPr>
          <a:xfrm>
            <a:off x="8313842" y="2565778"/>
            <a:ext cx="2747099" cy="3769057"/>
          </a:xfrm>
          <a:prstGeom prst="rect">
            <a:avLst/>
          </a:prstGeom>
        </p:spPr>
      </p:pic>
      <p:sp>
        <p:nvSpPr>
          <p:cNvPr id="13" name="文本框 12">
            <a:extLst>
              <a:ext uri="{FF2B5EF4-FFF2-40B4-BE49-F238E27FC236}">
                <a16:creationId xmlns:a16="http://schemas.microsoft.com/office/drawing/2014/main" id="{10669D99-6DA0-4168-33FD-A8BD25F76A02}"/>
              </a:ext>
            </a:extLst>
          </p:cNvPr>
          <p:cNvSpPr txBox="1"/>
          <p:nvPr/>
        </p:nvSpPr>
        <p:spPr>
          <a:xfrm>
            <a:off x="750631" y="1581287"/>
            <a:ext cx="595950" cy="1384995"/>
          </a:xfrm>
          <a:prstGeom prst="rect">
            <a:avLst/>
          </a:prstGeom>
          <a:noFill/>
        </p:spPr>
        <p:txBody>
          <a:bodyPr wrap="square" rtlCol="0">
            <a:spAutoFit/>
          </a:bodyPr>
          <a:lstStyle/>
          <a:p>
            <a:r>
              <a:rPr lang="zh-CN" altLang="en-US" sz="2800" dirty="0">
                <a:latin typeface="微软雅黑" panose="020B0503020204020204" pitchFamily="34" charset="-122"/>
                <a:ea typeface="微软雅黑" panose="020B0503020204020204" pitchFamily="34" charset="-122"/>
              </a:rPr>
              <a:t>系统类</a:t>
            </a:r>
          </a:p>
        </p:txBody>
      </p:sp>
    </p:spTree>
    <p:extLst>
      <p:ext uri="{BB962C8B-B14F-4D97-AF65-F5344CB8AC3E}">
        <p14:creationId xmlns:p14="http://schemas.microsoft.com/office/powerpoint/2010/main" val="42861505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488B7D99-D06B-620C-24C3-3591C00E29F7}"/>
              </a:ext>
            </a:extLst>
          </p:cNvPr>
          <p:cNvPicPr>
            <a:picLocks noChangeAspect="1"/>
          </p:cNvPicPr>
          <p:nvPr/>
        </p:nvPicPr>
        <p:blipFill>
          <a:blip r:embed="rId2"/>
          <a:stretch>
            <a:fillRect/>
          </a:stretch>
        </p:blipFill>
        <p:spPr>
          <a:xfrm>
            <a:off x="3657599" y="1163773"/>
            <a:ext cx="4648531" cy="4697940"/>
          </a:xfrm>
          <a:prstGeom prst="rect">
            <a:avLst/>
          </a:prstGeom>
        </p:spPr>
      </p:pic>
      <p:sp>
        <p:nvSpPr>
          <p:cNvPr id="3" name="文本框 2">
            <a:extLst>
              <a:ext uri="{FF2B5EF4-FFF2-40B4-BE49-F238E27FC236}">
                <a16:creationId xmlns:a16="http://schemas.microsoft.com/office/drawing/2014/main" id="{EE23EA0F-FC90-5ECB-5BB0-569B79D8A488}"/>
              </a:ext>
            </a:extLst>
          </p:cNvPr>
          <p:cNvSpPr txBox="1"/>
          <p:nvPr/>
        </p:nvSpPr>
        <p:spPr>
          <a:xfrm>
            <a:off x="1291990" y="2850529"/>
            <a:ext cx="595950" cy="1384995"/>
          </a:xfrm>
          <a:prstGeom prst="rect">
            <a:avLst/>
          </a:prstGeom>
          <a:noFill/>
        </p:spPr>
        <p:txBody>
          <a:bodyPr wrap="square" rtlCol="0">
            <a:spAutoFit/>
          </a:bodyPr>
          <a:lstStyle/>
          <a:p>
            <a:r>
              <a:rPr lang="zh-CN" altLang="en-US" sz="2800" dirty="0">
                <a:latin typeface="微软雅黑" panose="020B0503020204020204" pitchFamily="34" charset="-122"/>
                <a:ea typeface="微软雅黑" panose="020B0503020204020204" pitchFamily="34" charset="-122"/>
              </a:rPr>
              <a:t>系统类</a:t>
            </a:r>
          </a:p>
        </p:txBody>
      </p:sp>
    </p:spTree>
    <p:extLst>
      <p:ext uri="{BB962C8B-B14F-4D97-AF65-F5344CB8AC3E}">
        <p14:creationId xmlns:p14="http://schemas.microsoft.com/office/powerpoint/2010/main" val="3776030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5B846C4-E07C-DE31-8CB4-ADF3C024E3FF}"/>
              </a:ext>
            </a:extLst>
          </p:cNvPr>
          <p:cNvSpPr txBox="1"/>
          <p:nvPr/>
        </p:nvSpPr>
        <p:spPr>
          <a:xfrm>
            <a:off x="3775882" y="1537648"/>
            <a:ext cx="3525670" cy="646331"/>
          </a:xfrm>
          <a:prstGeom prst="rect">
            <a:avLst/>
          </a:prstGeom>
          <a:noFill/>
        </p:spPr>
        <p:txBody>
          <a:bodyPr wrap="square" rtlCol="0">
            <a:spAutoFit/>
          </a:bodyPr>
          <a:lstStyle/>
          <a:p>
            <a:r>
              <a:rPr lang="zh-CN" altLang="en-US" sz="3600" dirty="0">
                <a:latin typeface="微软雅黑" panose="020B0503020204020204" pitchFamily="34" charset="-122"/>
                <a:ea typeface="微软雅黑" panose="020B0503020204020204" pitchFamily="34" charset="-122"/>
              </a:rPr>
              <a:t>第五章系统实现</a:t>
            </a:r>
          </a:p>
        </p:txBody>
      </p:sp>
      <p:sp>
        <p:nvSpPr>
          <p:cNvPr id="3" name="文本框 2">
            <a:extLst>
              <a:ext uri="{FF2B5EF4-FFF2-40B4-BE49-F238E27FC236}">
                <a16:creationId xmlns:a16="http://schemas.microsoft.com/office/drawing/2014/main" id="{527EA3F3-651A-B2FF-6E17-489A07B5F4D0}"/>
              </a:ext>
            </a:extLst>
          </p:cNvPr>
          <p:cNvSpPr txBox="1"/>
          <p:nvPr/>
        </p:nvSpPr>
        <p:spPr>
          <a:xfrm>
            <a:off x="1210103" y="3679842"/>
            <a:ext cx="657366" cy="1384995"/>
          </a:xfrm>
          <a:prstGeom prst="rect">
            <a:avLst/>
          </a:prstGeom>
          <a:noFill/>
        </p:spPr>
        <p:txBody>
          <a:bodyPr wrap="square" rtlCol="0">
            <a:spAutoFit/>
          </a:bodyPr>
          <a:lstStyle/>
          <a:p>
            <a:r>
              <a:rPr lang="zh-CN" altLang="en-US" sz="2800" dirty="0">
                <a:latin typeface="微软雅黑" panose="020B0503020204020204" pitchFamily="34" charset="-122"/>
                <a:ea typeface="微软雅黑" panose="020B0503020204020204" pitchFamily="34" charset="-122"/>
              </a:rPr>
              <a:t>模型类</a:t>
            </a:r>
          </a:p>
        </p:txBody>
      </p:sp>
      <p:pic>
        <p:nvPicPr>
          <p:cNvPr id="4" name="图片 3">
            <a:extLst>
              <a:ext uri="{FF2B5EF4-FFF2-40B4-BE49-F238E27FC236}">
                <a16:creationId xmlns:a16="http://schemas.microsoft.com/office/drawing/2014/main" id="{F0E7E646-C95F-DD40-565F-88526FF78A7B}"/>
              </a:ext>
            </a:extLst>
          </p:cNvPr>
          <p:cNvPicPr>
            <a:picLocks noChangeAspect="1"/>
          </p:cNvPicPr>
          <p:nvPr/>
        </p:nvPicPr>
        <p:blipFill>
          <a:blip r:embed="rId2"/>
          <a:stretch>
            <a:fillRect/>
          </a:stretch>
        </p:blipFill>
        <p:spPr>
          <a:xfrm>
            <a:off x="4731223" y="2550855"/>
            <a:ext cx="4375742" cy="4097879"/>
          </a:xfrm>
          <a:prstGeom prst="rect">
            <a:avLst/>
          </a:prstGeom>
        </p:spPr>
      </p:pic>
      <p:sp>
        <p:nvSpPr>
          <p:cNvPr id="7" name="文本框 6">
            <a:extLst>
              <a:ext uri="{FF2B5EF4-FFF2-40B4-BE49-F238E27FC236}">
                <a16:creationId xmlns:a16="http://schemas.microsoft.com/office/drawing/2014/main" id="{E7DC8AB9-9BB4-53BB-CBF5-D6D226ED9AC4}"/>
              </a:ext>
            </a:extLst>
          </p:cNvPr>
          <p:cNvSpPr txBox="1"/>
          <p:nvPr/>
        </p:nvSpPr>
        <p:spPr>
          <a:xfrm>
            <a:off x="1997122" y="2608575"/>
            <a:ext cx="6114196" cy="369332"/>
          </a:xfrm>
          <a:prstGeom prst="rect">
            <a:avLst/>
          </a:prstGeom>
          <a:noFill/>
        </p:spPr>
        <p:txBody>
          <a:bodyPr wrap="square">
            <a:spAutoFit/>
          </a:bodyPr>
          <a:lstStyle/>
          <a:p>
            <a:r>
              <a:rPr lang="en-US" altLang="zh-CN" dirty="0">
                <a:latin typeface="微软雅黑" panose="020B0503020204020204" pitchFamily="34" charset="-122"/>
                <a:ea typeface="微软雅黑" panose="020B0503020204020204" pitchFamily="34" charset="-122"/>
              </a:rPr>
              <a:t>5.1 </a:t>
            </a:r>
            <a:r>
              <a:rPr lang="zh-CN" altLang="en-US" sz="1800" b="0" i="0" dirty="0">
                <a:solidFill>
                  <a:srgbClr val="000000"/>
                </a:solidFill>
                <a:effectLst/>
                <a:latin typeface="SimSun" panose="02010600030101010101" pitchFamily="2" charset="-122"/>
                <a:ea typeface="SimSun" panose="02010600030101010101" pitchFamily="2" charset="-122"/>
              </a:rPr>
              <a:t>可视化界面展示</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390547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5B846C4-E07C-DE31-8CB4-ADF3C024E3FF}"/>
              </a:ext>
            </a:extLst>
          </p:cNvPr>
          <p:cNvSpPr txBox="1"/>
          <p:nvPr/>
        </p:nvSpPr>
        <p:spPr>
          <a:xfrm>
            <a:off x="3775882" y="1537648"/>
            <a:ext cx="3525670" cy="646331"/>
          </a:xfrm>
          <a:prstGeom prst="rect">
            <a:avLst/>
          </a:prstGeom>
          <a:noFill/>
        </p:spPr>
        <p:txBody>
          <a:bodyPr wrap="square" rtlCol="0">
            <a:spAutoFit/>
          </a:bodyPr>
          <a:lstStyle/>
          <a:p>
            <a:r>
              <a:rPr lang="zh-CN" altLang="en-US" sz="3600" dirty="0">
                <a:latin typeface="微软雅黑" panose="020B0503020204020204" pitchFamily="34" charset="-122"/>
                <a:ea typeface="微软雅黑" panose="020B0503020204020204" pitchFamily="34" charset="-122"/>
              </a:rPr>
              <a:t>第五章系统实现</a:t>
            </a:r>
          </a:p>
        </p:txBody>
      </p:sp>
      <p:sp>
        <p:nvSpPr>
          <p:cNvPr id="3" name="文本框 2">
            <a:extLst>
              <a:ext uri="{FF2B5EF4-FFF2-40B4-BE49-F238E27FC236}">
                <a16:creationId xmlns:a16="http://schemas.microsoft.com/office/drawing/2014/main" id="{527EA3F3-651A-B2FF-6E17-489A07B5F4D0}"/>
              </a:ext>
            </a:extLst>
          </p:cNvPr>
          <p:cNvSpPr txBox="1"/>
          <p:nvPr/>
        </p:nvSpPr>
        <p:spPr>
          <a:xfrm>
            <a:off x="1210103" y="3679842"/>
            <a:ext cx="657366" cy="1384995"/>
          </a:xfrm>
          <a:prstGeom prst="rect">
            <a:avLst/>
          </a:prstGeom>
          <a:noFill/>
        </p:spPr>
        <p:txBody>
          <a:bodyPr wrap="square" rtlCol="0">
            <a:spAutoFit/>
          </a:bodyPr>
          <a:lstStyle/>
          <a:p>
            <a:r>
              <a:rPr lang="zh-CN" altLang="en-US" sz="2800" dirty="0">
                <a:latin typeface="微软雅黑" panose="020B0503020204020204" pitchFamily="34" charset="-122"/>
                <a:ea typeface="微软雅黑" panose="020B0503020204020204" pitchFamily="34" charset="-122"/>
              </a:rPr>
              <a:t>模型类</a:t>
            </a:r>
          </a:p>
        </p:txBody>
      </p:sp>
      <p:sp>
        <p:nvSpPr>
          <p:cNvPr id="7" name="文本框 6">
            <a:extLst>
              <a:ext uri="{FF2B5EF4-FFF2-40B4-BE49-F238E27FC236}">
                <a16:creationId xmlns:a16="http://schemas.microsoft.com/office/drawing/2014/main" id="{E7DC8AB9-9BB4-53BB-CBF5-D6D226ED9AC4}"/>
              </a:ext>
            </a:extLst>
          </p:cNvPr>
          <p:cNvSpPr txBox="1"/>
          <p:nvPr/>
        </p:nvSpPr>
        <p:spPr>
          <a:xfrm>
            <a:off x="1983474" y="2472097"/>
            <a:ext cx="6114196" cy="369332"/>
          </a:xfrm>
          <a:prstGeom prst="rect">
            <a:avLst/>
          </a:prstGeom>
          <a:noFill/>
        </p:spPr>
        <p:txBody>
          <a:bodyPr wrap="square">
            <a:spAutoFit/>
          </a:bodyPr>
          <a:lstStyle/>
          <a:p>
            <a:r>
              <a:rPr lang="en-US" altLang="zh-CN" dirty="0">
                <a:latin typeface="微软雅黑" panose="020B0503020204020204" pitchFamily="34" charset="-122"/>
                <a:ea typeface="微软雅黑" panose="020B0503020204020204" pitchFamily="34" charset="-122"/>
              </a:rPr>
              <a:t>5.2 </a:t>
            </a:r>
            <a:r>
              <a:rPr lang="zh-CN" altLang="en-US" dirty="0">
                <a:latin typeface="微软雅黑" panose="020B0503020204020204" pitchFamily="34" charset="-122"/>
                <a:ea typeface="微软雅黑" panose="020B0503020204020204" pitchFamily="34" charset="-122"/>
              </a:rPr>
              <a:t>功能描述</a:t>
            </a:r>
            <a:endParaRPr lang="en-US" altLang="zh-CN"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D0751E86-305D-5BB7-6A78-643CED086ADC}"/>
              </a:ext>
            </a:extLst>
          </p:cNvPr>
          <p:cNvSpPr txBox="1"/>
          <p:nvPr/>
        </p:nvSpPr>
        <p:spPr>
          <a:xfrm>
            <a:off x="1733265" y="2750614"/>
            <a:ext cx="6114196" cy="3970318"/>
          </a:xfrm>
          <a:prstGeom prst="rect">
            <a:avLst/>
          </a:prstGeom>
          <a:noFill/>
        </p:spPr>
        <p:txBody>
          <a:bodyPr wrap="square">
            <a:spAutoFit/>
          </a:bodyPr>
          <a:lstStyle/>
          <a:p>
            <a:r>
              <a:rPr lang="zh-CN" altLang="en-US" sz="1800" b="0" i="0" dirty="0">
                <a:solidFill>
                  <a:srgbClr val="000000"/>
                </a:solidFill>
                <a:effectLst/>
                <a:latin typeface="FangSong" panose="02010609060101010101" pitchFamily="49" charset="-122"/>
                <a:ea typeface="FangSong" panose="02010609060101010101" pitchFamily="49" charset="-122"/>
              </a:rPr>
              <a:t>    如</a:t>
            </a:r>
            <a:r>
              <a:rPr lang="zh-CN" altLang="en-US" sz="1400" b="0" i="0" dirty="0">
                <a:solidFill>
                  <a:srgbClr val="000000"/>
                </a:solidFill>
                <a:effectLst/>
                <a:latin typeface="SimSun" panose="02010600030101010101" pitchFamily="2" charset="-122"/>
                <a:ea typeface="SimSun" panose="02010600030101010101" pitchFamily="2" charset="-122"/>
              </a:rPr>
              <a:t>图 </a:t>
            </a:r>
            <a:r>
              <a:rPr lang="en-US" altLang="zh-CN" sz="1400" b="0" i="0" dirty="0">
                <a:solidFill>
                  <a:srgbClr val="000000"/>
                </a:solidFill>
                <a:effectLst/>
                <a:latin typeface="TimesNewRomanPSMT"/>
              </a:rPr>
              <a:t>5-11 </a:t>
            </a:r>
            <a:r>
              <a:rPr lang="zh-CN" altLang="en-US" sz="1800" b="0" i="0" dirty="0">
                <a:solidFill>
                  <a:srgbClr val="000000"/>
                </a:solidFill>
                <a:effectLst/>
                <a:latin typeface="FangSong" panose="02010609060101010101" pitchFamily="49" charset="-122"/>
                <a:ea typeface="FangSong" panose="02010609060101010101" pitchFamily="49" charset="-122"/>
              </a:rPr>
              <a:t>所示，用户可以在该界面上选择要上传的车牌图片，当用户选择图片并点击上传按钮后，前端会将图片数据发送到后端的接口</a:t>
            </a:r>
            <a:endParaRPr lang="en-US" altLang="zh-CN" sz="1800" b="0" i="0" dirty="0">
              <a:solidFill>
                <a:srgbClr val="000000"/>
              </a:solidFill>
              <a:effectLst/>
              <a:latin typeface="FangSong" panose="02010609060101010101" pitchFamily="49" charset="-122"/>
              <a:ea typeface="FangSong" panose="02010609060101010101" pitchFamily="49" charset="-122"/>
            </a:endParaRPr>
          </a:p>
          <a:p>
            <a:r>
              <a:rPr lang="zh-CN" altLang="en-US" sz="1800" b="0" i="0" dirty="0">
                <a:solidFill>
                  <a:srgbClr val="000000"/>
                </a:solidFill>
                <a:effectLst/>
                <a:latin typeface="FangSong" panose="02010609060101010101" pitchFamily="49" charset="-122"/>
                <a:ea typeface="FangSong" panose="02010609060101010101" pitchFamily="49" charset="-122"/>
              </a:rPr>
              <a:t>    点击开始识别，系统将进行图像预处理，这是车牌识别的第一步，主要是为了提升图像质量，强化车牌区域特征。通过 </a:t>
            </a:r>
            <a:r>
              <a:rPr lang="en-US" altLang="zh-CN" sz="1800" b="0" i="0" dirty="0" err="1">
                <a:solidFill>
                  <a:srgbClr val="000000"/>
                </a:solidFill>
                <a:effectLst/>
                <a:latin typeface="TimesNewRomanPSMT"/>
              </a:rPr>
              <a:t>imreadex</a:t>
            </a:r>
            <a:r>
              <a:rPr lang="en-US" altLang="zh-CN" sz="1800" b="0" i="0" dirty="0">
                <a:solidFill>
                  <a:srgbClr val="000000"/>
                </a:solidFill>
                <a:effectLst/>
                <a:latin typeface="TimesNewRomanPSMT"/>
              </a:rPr>
              <a:t> </a:t>
            </a:r>
            <a:r>
              <a:rPr lang="zh-CN" altLang="en-US" sz="1800" b="0" i="0" dirty="0">
                <a:solidFill>
                  <a:srgbClr val="000000"/>
                </a:solidFill>
                <a:effectLst/>
                <a:latin typeface="FangSong" panose="02010609060101010101" pitchFamily="49" charset="-122"/>
                <a:ea typeface="FangSong" panose="02010609060101010101" pitchFamily="49" charset="-122"/>
              </a:rPr>
              <a:t>函数读取上传的车牌图片，随后将其调整至合适尺寸。</a:t>
            </a:r>
            <a:endParaRPr lang="en-US" altLang="zh-CN" sz="1800" b="0" i="0" dirty="0">
              <a:solidFill>
                <a:srgbClr val="000000"/>
              </a:solidFill>
              <a:effectLst/>
              <a:latin typeface="FangSong" panose="02010609060101010101" pitchFamily="49" charset="-122"/>
              <a:ea typeface="FangSong" panose="02010609060101010101" pitchFamily="49" charset="-122"/>
            </a:endParaRPr>
          </a:p>
          <a:p>
            <a:r>
              <a:rPr lang="zh-CN" altLang="en-US" sz="1800" b="0" i="0" dirty="0">
                <a:solidFill>
                  <a:srgbClr val="000000"/>
                </a:solidFill>
                <a:effectLst/>
                <a:latin typeface="FangSong" panose="02010609060101010101" pitchFamily="49" charset="-122"/>
                <a:ea typeface="FangSong" panose="02010609060101010101" pitchFamily="49" charset="-122"/>
              </a:rPr>
              <a:t>    接着采用高斯模糊对图像降低噪声干扰，使图像更加平滑。然后将彩色图像转换为灰度图，减少图像维度，降低计算复杂度</a:t>
            </a:r>
            <a:r>
              <a:rPr lang="en-US" altLang="zh-CN" sz="1800" b="0" i="0" dirty="0">
                <a:solidFill>
                  <a:srgbClr val="000000"/>
                </a:solidFill>
                <a:effectLst/>
                <a:latin typeface="TimesNewRomanPSMT"/>
              </a:rPr>
              <a:t>[6]</a:t>
            </a:r>
            <a:r>
              <a:rPr lang="zh-CN" altLang="en-US" sz="1800" b="0" i="0" dirty="0">
                <a:solidFill>
                  <a:srgbClr val="000000"/>
                </a:solidFill>
                <a:effectLst/>
                <a:latin typeface="FangSong" panose="02010609060101010101" pitchFamily="49" charset="-122"/>
                <a:ea typeface="FangSong" panose="02010609060101010101" pitchFamily="49" charset="-122"/>
              </a:rPr>
              <a:t>。使用直方图均衡化技术，增强图像对比度，使车牌区域更加清晰可辨。运用形态学操作去除无关区域，保留车牌候选区域，再通过 </a:t>
            </a:r>
            <a:r>
              <a:rPr lang="en-US" altLang="zh-CN" sz="1800" b="0" i="0" dirty="0">
                <a:solidFill>
                  <a:srgbClr val="000000"/>
                </a:solidFill>
                <a:effectLst/>
                <a:latin typeface="TimesNewRomanPSMT"/>
              </a:rPr>
              <a:t>Canny </a:t>
            </a:r>
            <a:r>
              <a:rPr lang="zh-CN" altLang="en-US" sz="1800" b="0" i="0" dirty="0">
                <a:solidFill>
                  <a:srgbClr val="000000"/>
                </a:solidFill>
                <a:effectLst/>
                <a:latin typeface="FangSong" panose="02010609060101010101" pitchFamily="49" charset="-122"/>
                <a:ea typeface="FangSong" panose="02010609060101010101" pitchFamily="49" charset="-122"/>
              </a:rPr>
              <a:t>边缘检测算法提取边缘信息并进行阈值分割，实现图像二值化，完成图像预处理。</a:t>
            </a:r>
            <a:r>
              <a:rPr lang="zh-CN" altLang="en-US" dirty="0"/>
              <a:t> </a:t>
            </a:r>
          </a:p>
        </p:txBody>
      </p:sp>
      <p:pic>
        <p:nvPicPr>
          <p:cNvPr id="8" name="图片 7">
            <a:extLst>
              <a:ext uri="{FF2B5EF4-FFF2-40B4-BE49-F238E27FC236}">
                <a16:creationId xmlns:a16="http://schemas.microsoft.com/office/drawing/2014/main" id="{B412951E-2A1C-F731-6244-7F6203EC55B0}"/>
              </a:ext>
            </a:extLst>
          </p:cNvPr>
          <p:cNvPicPr>
            <a:picLocks noChangeAspect="1"/>
          </p:cNvPicPr>
          <p:nvPr/>
        </p:nvPicPr>
        <p:blipFill>
          <a:blip r:embed="rId2"/>
          <a:stretch>
            <a:fillRect/>
          </a:stretch>
        </p:blipFill>
        <p:spPr>
          <a:xfrm>
            <a:off x="7829937" y="3020704"/>
            <a:ext cx="4362063" cy="2337551"/>
          </a:xfrm>
          <a:prstGeom prst="rect">
            <a:avLst/>
          </a:prstGeom>
        </p:spPr>
      </p:pic>
    </p:spTree>
    <p:extLst>
      <p:ext uri="{BB962C8B-B14F-4D97-AF65-F5344CB8AC3E}">
        <p14:creationId xmlns:p14="http://schemas.microsoft.com/office/powerpoint/2010/main" val="2549976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5B846C4-E07C-DE31-8CB4-ADF3C024E3FF}"/>
              </a:ext>
            </a:extLst>
          </p:cNvPr>
          <p:cNvSpPr txBox="1"/>
          <p:nvPr/>
        </p:nvSpPr>
        <p:spPr>
          <a:xfrm>
            <a:off x="3775882" y="1537648"/>
            <a:ext cx="3525670" cy="646331"/>
          </a:xfrm>
          <a:prstGeom prst="rect">
            <a:avLst/>
          </a:prstGeom>
          <a:noFill/>
        </p:spPr>
        <p:txBody>
          <a:bodyPr wrap="square" rtlCol="0">
            <a:spAutoFit/>
          </a:bodyPr>
          <a:lstStyle/>
          <a:p>
            <a:r>
              <a:rPr lang="zh-CN" altLang="en-US" sz="3600" dirty="0">
                <a:latin typeface="微软雅黑" panose="020B0503020204020204" pitchFamily="34" charset="-122"/>
                <a:ea typeface="微软雅黑" panose="020B0503020204020204" pitchFamily="34" charset="-122"/>
              </a:rPr>
              <a:t>第五章系统实现</a:t>
            </a:r>
          </a:p>
        </p:txBody>
      </p:sp>
      <p:sp>
        <p:nvSpPr>
          <p:cNvPr id="3" name="文本框 2">
            <a:extLst>
              <a:ext uri="{FF2B5EF4-FFF2-40B4-BE49-F238E27FC236}">
                <a16:creationId xmlns:a16="http://schemas.microsoft.com/office/drawing/2014/main" id="{527EA3F3-651A-B2FF-6E17-489A07B5F4D0}"/>
              </a:ext>
            </a:extLst>
          </p:cNvPr>
          <p:cNvSpPr txBox="1"/>
          <p:nvPr/>
        </p:nvSpPr>
        <p:spPr>
          <a:xfrm>
            <a:off x="1210103" y="3679842"/>
            <a:ext cx="657366" cy="1384995"/>
          </a:xfrm>
          <a:prstGeom prst="rect">
            <a:avLst/>
          </a:prstGeom>
          <a:noFill/>
        </p:spPr>
        <p:txBody>
          <a:bodyPr wrap="square" rtlCol="0">
            <a:spAutoFit/>
          </a:bodyPr>
          <a:lstStyle/>
          <a:p>
            <a:r>
              <a:rPr lang="zh-CN" altLang="en-US" sz="2800" dirty="0">
                <a:latin typeface="微软雅黑" panose="020B0503020204020204" pitchFamily="34" charset="-122"/>
                <a:ea typeface="微软雅黑" panose="020B0503020204020204" pitchFamily="34" charset="-122"/>
              </a:rPr>
              <a:t>模型类</a:t>
            </a:r>
          </a:p>
        </p:txBody>
      </p:sp>
      <p:sp>
        <p:nvSpPr>
          <p:cNvPr id="7" name="文本框 6">
            <a:extLst>
              <a:ext uri="{FF2B5EF4-FFF2-40B4-BE49-F238E27FC236}">
                <a16:creationId xmlns:a16="http://schemas.microsoft.com/office/drawing/2014/main" id="{E7DC8AB9-9BB4-53BB-CBF5-D6D226ED9AC4}"/>
              </a:ext>
            </a:extLst>
          </p:cNvPr>
          <p:cNvSpPr txBox="1"/>
          <p:nvPr/>
        </p:nvSpPr>
        <p:spPr>
          <a:xfrm>
            <a:off x="1983474" y="2472097"/>
            <a:ext cx="6114196" cy="369332"/>
          </a:xfrm>
          <a:prstGeom prst="rect">
            <a:avLst/>
          </a:prstGeom>
          <a:noFill/>
        </p:spPr>
        <p:txBody>
          <a:bodyPr wrap="square">
            <a:spAutoFit/>
          </a:bodyPr>
          <a:lstStyle/>
          <a:p>
            <a:r>
              <a:rPr lang="en-US" altLang="zh-CN" dirty="0">
                <a:latin typeface="微软雅黑" panose="020B0503020204020204" pitchFamily="34" charset="-122"/>
                <a:ea typeface="微软雅黑" panose="020B0503020204020204" pitchFamily="34" charset="-122"/>
              </a:rPr>
              <a:t>5.2 </a:t>
            </a:r>
            <a:r>
              <a:rPr lang="zh-CN" altLang="en-US" dirty="0">
                <a:latin typeface="微软雅黑" panose="020B0503020204020204" pitchFamily="34" charset="-122"/>
                <a:ea typeface="微软雅黑" panose="020B0503020204020204" pitchFamily="34" charset="-122"/>
              </a:rPr>
              <a:t>功能描述</a:t>
            </a:r>
            <a:endParaRPr lang="en-US" altLang="zh-CN"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D0751E86-305D-5BB7-6A78-643CED086ADC}"/>
              </a:ext>
            </a:extLst>
          </p:cNvPr>
          <p:cNvSpPr txBox="1"/>
          <p:nvPr/>
        </p:nvSpPr>
        <p:spPr>
          <a:xfrm>
            <a:off x="1733265" y="2750614"/>
            <a:ext cx="6114196" cy="1200329"/>
          </a:xfrm>
          <a:prstGeom prst="rect">
            <a:avLst/>
          </a:prstGeom>
          <a:noFill/>
        </p:spPr>
        <p:txBody>
          <a:bodyPr wrap="square">
            <a:spAutoFit/>
          </a:bodyPr>
          <a:lstStyle/>
          <a:p>
            <a:r>
              <a:rPr lang="zh-CN" altLang="en-US" sz="1800" b="0" i="0" dirty="0">
                <a:solidFill>
                  <a:srgbClr val="000000"/>
                </a:solidFill>
                <a:effectLst/>
                <a:latin typeface="FangSong" panose="02010609060101010101" pitchFamily="49" charset="-122"/>
                <a:ea typeface="FangSong" panose="02010609060101010101" pitchFamily="49" charset="-122"/>
              </a:rPr>
              <a:t>识别完成后，系统将识别结果以 </a:t>
            </a:r>
            <a:r>
              <a:rPr lang="en-US" altLang="zh-CN" sz="1800" b="0" i="0" dirty="0">
                <a:solidFill>
                  <a:srgbClr val="000000"/>
                </a:solidFill>
                <a:effectLst/>
                <a:latin typeface="TimesNewRomanPSMT"/>
              </a:rPr>
              <a:t>JSON </a:t>
            </a:r>
            <a:r>
              <a:rPr lang="zh-CN" altLang="en-US" sz="1800" b="0" i="0" dirty="0">
                <a:solidFill>
                  <a:srgbClr val="000000"/>
                </a:solidFill>
                <a:effectLst/>
                <a:latin typeface="FangSong" panose="02010609060101010101" pitchFamily="49" charset="-122"/>
                <a:ea typeface="FangSong" panose="02010609060101010101" pitchFamily="49" charset="-122"/>
              </a:rPr>
              <a:t>格式返回至前端页面进行展示，前端页面接收到结果后，将其显示在界面上，方便用户查看。识别效果如</a:t>
            </a:r>
            <a:r>
              <a:rPr lang="zh-CN" altLang="en-US" sz="1800" b="0" i="0" dirty="0">
                <a:solidFill>
                  <a:srgbClr val="000000"/>
                </a:solidFill>
                <a:effectLst/>
                <a:latin typeface="SimSun" panose="02010600030101010101" pitchFamily="2" charset="-122"/>
                <a:ea typeface="SimSun" panose="02010600030101010101" pitchFamily="2" charset="-122"/>
              </a:rPr>
              <a:t>图 </a:t>
            </a:r>
            <a:r>
              <a:rPr lang="en-US" altLang="zh-CN" sz="1800" b="0" i="0" dirty="0">
                <a:solidFill>
                  <a:srgbClr val="000000"/>
                </a:solidFill>
                <a:effectLst/>
                <a:latin typeface="TimesNewRomanPSMT"/>
              </a:rPr>
              <a:t>5-12 </a:t>
            </a:r>
            <a:r>
              <a:rPr lang="zh-CN" altLang="en-US" sz="1800" b="0" i="0" dirty="0">
                <a:solidFill>
                  <a:srgbClr val="000000"/>
                </a:solidFill>
                <a:effectLst/>
                <a:latin typeface="FangSong" panose="02010609060101010101" pitchFamily="49" charset="-122"/>
                <a:ea typeface="FangSong" panose="02010609060101010101" pitchFamily="49" charset="-122"/>
              </a:rPr>
              <a:t>所示。</a:t>
            </a:r>
            <a:r>
              <a:rPr lang="zh-CN" altLang="en-US" dirty="0"/>
              <a:t> </a:t>
            </a:r>
            <a:br>
              <a:rPr lang="zh-CN" altLang="en-US" dirty="0"/>
            </a:br>
            <a:endParaRPr lang="zh-CN" altLang="en-US" dirty="0"/>
          </a:p>
        </p:txBody>
      </p:sp>
      <p:pic>
        <p:nvPicPr>
          <p:cNvPr id="4" name="图片 3">
            <a:extLst>
              <a:ext uri="{FF2B5EF4-FFF2-40B4-BE49-F238E27FC236}">
                <a16:creationId xmlns:a16="http://schemas.microsoft.com/office/drawing/2014/main" id="{4BA5C691-3CFD-586C-CCA6-1696EE1ED117}"/>
              </a:ext>
            </a:extLst>
          </p:cNvPr>
          <p:cNvPicPr>
            <a:picLocks noChangeAspect="1"/>
          </p:cNvPicPr>
          <p:nvPr/>
        </p:nvPicPr>
        <p:blipFill>
          <a:blip r:embed="rId2"/>
          <a:stretch>
            <a:fillRect/>
          </a:stretch>
        </p:blipFill>
        <p:spPr>
          <a:xfrm>
            <a:off x="7788322" y="2750614"/>
            <a:ext cx="3715699" cy="2967572"/>
          </a:xfrm>
          <a:prstGeom prst="rect">
            <a:avLst/>
          </a:prstGeom>
        </p:spPr>
      </p:pic>
    </p:spTree>
    <p:extLst>
      <p:ext uri="{BB962C8B-B14F-4D97-AF65-F5344CB8AC3E}">
        <p14:creationId xmlns:p14="http://schemas.microsoft.com/office/powerpoint/2010/main" val="23423072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5B846C4-E07C-DE31-8CB4-ADF3C024E3FF}"/>
              </a:ext>
            </a:extLst>
          </p:cNvPr>
          <p:cNvSpPr txBox="1"/>
          <p:nvPr/>
        </p:nvSpPr>
        <p:spPr>
          <a:xfrm>
            <a:off x="4294497" y="1551296"/>
            <a:ext cx="3575712" cy="646331"/>
          </a:xfrm>
          <a:prstGeom prst="rect">
            <a:avLst/>
          </a:prstGeom>
          <a:noFill/>
        </p:spPr>
        <p:txBody>
          <a:bodyPr wrap="square" rtlCol="0">
            <a:spAutoFit/>
          </a:bodyPr>
          <a:lstStyle/>
          <a:p>
            <a:r>
              <a:rPr lang="zh-CN" altLang="en-US" sz="3600" dirty="0">
                <a:latin typeface="微软雅黑" panose="020B0503020204020204" pitchFamily="34" charset="-122"/>
                <a:ea typeface="微软雅黑" panose="020B0503020204020204" pitchFamily="34" charset="-122"/>
              </a:rPr>
              <a:t>第五章系统实现</a:t>
            </a:r>
          </a:p>
        </p:txBody>
      </p:sp>
      <p:sp>
        <p:nvSpPr>
          <p:cNvPr id="5" name="文本框 4">
            <a:extLst>
              <a:ext uri="{FF2B5EF4-FFF2-40B4-BE49-F238E27FC236}">
                <a16:creationId xmlns:a16="http://schemas.microsoft.com/office/drawing/2014/main" id="{14F6C3A6-3CB9-34A8-F147-0F74C400BAD4}"/>
              </a:ext>
            </a:extLst>
          </p:cNvPr>
          <p:cNvSpPr txBox="1"/>
          <p:nvPr/>
        </p:nvSpPr>
        <p:spPr>
          <a:xfrm>
            <a:off x="1505803" y="2629049"/>
            <a:ext cx="9476094" cy="1200329"/>
          </a:xfrm>
          <a:prstGeom prst="rect">
            <a:avLst/>
          </a:prstGeom>
          <a:noFill/>
        </p:spPr>
        <p:txBody>
          <a:bodyPr wrap="square" rtlCol="0">
            <a:spAutoFit/>
          </a:bodyPr>
          <a:lstStyle/>
          <a:p>
            <a:r>
              <a:rPr lang="zh-CN" altLang="en-US" dirty="0">
                <a:solidFill>
                  <a:srgbClr val="FF0000"/>
                </a:solidFill>
                <a:latin typeface="微软雅黑" panose="020B0503020204020204" pitchFamily="34" charset="-122"/>
                <a:ea typeface="微软雅黑" panose="020B0503020204020204" pitchFamily="34" charset="-122"/>
              </a:rPr>
              <a:t>在系统实现这一章中，尽量不要贴代码，图片多使用系统界面，贴图后进行文字描述</a:t>
            </a:r>
            <a:br>
              <a:rPr lang="zh-CN" altLang="en-US" dirty="0">
                <a:solidFill>
                  <a:srgbClr val="FF0000"/>
                </a:solidFill>
              </a:rPr>
            </a:br>
            <a:br>
              <a:rPr lang="zh-CN" altLang="en-US" dirty="0">
                <a:solidFill>
                  <a:srgbClr val="FF0000"/>
                </a:solidFill>
                <a:latin typeface="宋体" panose="02010600030101010101" pitchFamily="2" charset="-122"/>
                <a:ea typeface="宋体" panose="02010600030101010101" pitchFamily="2" charset="-122"/>
              </a:rPr>
            </a:br>
            <a:r>
              <a:rPr lang="zh-CN" altLang="en-US" dirty="0">
                <a:solidFill>
                  <a:srgbClr val="FF0000"/>
                </a:solidFill>
                <a:latin typeface="宋体" panose="02010600030101010101" pitchFamily="2" charset="-122"/>
                <a:ea typeface="宋体" panose="02010600030101010101" pitchFamily="2" charset="-122"/>
              </a:rPr>
              <a:t> </a:t>
            </a:r>
            <a:br>
              <a:rPr lang="zh-CN" altLang="en-US" dirty="0">
                <a:solidFill>
                  <a:srgbClr val="FF0000"/>
                </a:solidFill>
                <a:latin typeface="宋体" panose="02010600030101010101" pitchFamily="2" charset="-122"/>
                <a:ea typeface="宋体" panose="02010600030101010101" pitchFamily="2" charset="-122"/>
              </a:rPr>
            </a:br>
            <a:endParaRPr lang="en-US" altLang="zh-CN" dirty="0">
              <a:solidFill>
                <a:srgbClr val="FF0000"/>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42440873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5B846C4-E07C-DE31-8CB4-ADF3C024E3FF}"/>
              </a:ext>
            </a:extLst>
          </p:cNvPr>
          <p:cNvSpPr txBox="1"/>
          <p:nvPr/>
        </p:nvSpPr>
        <p:spPr>
          <a:xfrm>
            <a:off x="4294497" y="1551296"/>
            <a:ext cx="3575712" cy="646331"/>
          </a:xfrm>
          <a:prstGeom prst="rect">
            <a:avLst/>
          </a:prstGeom>
          <a:noFill/>
        </p:spPr>
        <p:txBody>
          <a:bodyPr wrap="square" rtlCol="0">
            <a:spAutoFit/>
          </a:bodyPr>
          <a:lstStyle/>
          <a:p>
            <a:r>
              <a:rPr lang="zh-CN" altLang="en-US" sz="3600" dirty="0">
                <a:latin typeface="微软雅黑" panose="020B0503020204020204" pitchFamily="34" charset="-122"/>
                <a:ea typeface="微软雅黑" panose="020B0503020204020204" pitchFamily="34" charset="-122"/>
              </a:rPr>
              <a:t>第六章系统测试</a:t>
            </a:r>
          </a:p>
        </p:txBody>
      </p:sp>
      <p:sp>
        <p:nvSpPr>
          <p:cNvPr id="3" name="文本框 2">
            <a:extLst>
              <a:ext uri="{FF2B5EF4-FFF2-40B4-BE49-F238E27FC236}">
                <a16:creationId xmlns:a16="http://schemas.microsoft.com/office/drawing/2014/main" id="{85EAF869-619E-D8EA-12B8-4D0234957086}"/>
              </a:ext>
            </a:extLst>
          </p:cNvPr>
          <p:cNvSpPr txBox="1"/>
          <p:nvPr/>
        </p:nvSpPr>
        <p:spPr>
          <a:xfrm>
            <a:off x="2151797" y="2929720"/>
            <a:ext cx="4503762" cy="1754326"/>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6.1 </a:t>
            </a:r>
            <a:r>
              <a:rPr lang="zh-CN" altLang="en-US" dirty="0">
                <a:latin typeface="微软雅黑" panose="020B0503020204020204" pitchFamily="34" charset="-122"/>
                <a:ea typeface="微软雅黑" panose="020B0503020204020204" pitchFamily="34" charset="-122"/>
              </a:rPr>
              <a:t>登录模块测试</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6.2 </a:t>
            </a:r>
            <a:r>
              <a:rPr lang="zh-CN" altLang="en-US" dirty="0">
                <a:latin typeface="微软雅黑" panose="020B0503020204020204" pitchFamily="34" charset="-122"/>
                <a:ea typeface="微软雅黑" panose="020B0503020204020204" pitchFamily="34" charset="-122"/>
              </a:rPr>
              <a:t>后台管理模块测试</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6.3 XXXX</a:t>
            </a:r>
            <a:r>
              <a:rPr lang="zh-CN" altLang="en-US" dirty="0">
                <a:latin typeface="微软雅黑" panose="020B0503020204020204" pitchFamily="34" charset="-122"/>
                <a:ea typeface="微软雅黑" panose="020B0503020204020204" pitchFamily="34" charset="-122"/>
              </a:rPr>
              <a:t>模块测试</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a:t>
            </a:r>
          </a:p>
          <a:p>
            <a:r>
              <a:rPr lang="en-US" altLang="zh-CN" dirty="0">
                <a:latin typeface="微软雅黑" panose="020B0503020204020204" pitchFamily="34" charset="-122"/>
                <a:ea typeface="微软雅黑" panose="020B0503020204020204" pitchFamily="34" charset="-122"/>
              </a:rPr>
              <a:t>6.4</a:t>
            </a:r>
            <a:r>
              <a:rPr lang="zh-CN" altLang="en-US" dirty="0">
                <a:latin typeface="微软雅黑" panose="020B0503020204020204" pitchFamily="34" charset="-122"/>
                <a:ea typeface="微软雅黑" panose="020B0503020204020204" pitchFamily="34" charset="-122"/>
              </a:rPr>
              <a:t>测试结论</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6.5 </a:t>
            </a:r>
            <a:r>
              <a:rPr lang="zh-CN" altLang="en-US" dirty="0">
                <a:latin typeface="微软雅黑" panose="020B0503020204020204" pitchFamily="34" charset="-122"/>
                <a:ea typeface="微软雅黑" panose="020B0503020204020204" pitchFamily="34" charset="-122"/>
              </a:rPr>
              <a:t>本章小结</a:t>
            </a:r>
          </a:p>
        </p:txBody>
      </p:sp>
      <p:sp>
        <p:nvSpPr>
          <p:cNvPr id="4" name="文本框 3">
            <a:extLst>
              <a:ext uri="{FF2B5EF4-FFF2-40B4-BE49-F238E27FC236}">
                <a16:creationId xmlns:a16="http://schemas.microsoft.com/office/drawing/2014/main" id="{398CF165-4352-BF92-48F7-DC65CB1B4309}"/>
              </a:ext>
            </a:extLst>
          </p:cNvPr>
          <p:cNvSpPr txBox="1"/>
          <p:nvPr/>
        </p:nvSpPr>
        <p:spPr>
          <a:xfrm>
            <a:off x="1589965" y="5014316"/>
            <a:ext cx="3225421" cy="1077218"/>
          </a:xfrm>
          <a:prstGeom prst="rect">
            <a:avLst/>
          </a:prstGeom>
          <a:noFill/>
        </p:spPr>
        <p:txBody>
          <a:bodyPr wrap="square">
            <a:spAutoFit/>
          </a:bodyPr>
          <a:lstStyle/>
          <a:p>
            <a:r>
              <a:rPr lang="zh-CN" altLang="en-US" sz="3200" dirty="0">
                <a:solidFill>
                  <a:srgbClr val="FF0000"/>
                </a:solidFill>
                <a:latin typeface="SimSun" panose="02010600030101010101" pitchFamily="2" charset="-122"/>
                <a:ea typeface="SimSun" panose="02010600030101010101" pitchFamily="2" charset="-122"/>
              </a:rPr>
              <a:t>系统类第六章共</a:t>
            </a:r>
            <a:r>
              <a:rPr lang="en-US" altLang="zh-CN" sz="3200" dirty="0">
                <a:solidFill>
                  <a:srgbClr val="FF0000"/>
                </a:solidFill>
                <a:latin typeface="SimSun" panose="02010600030101010101" pitchFamily="2" charset="-122"/>
                <a:ea typeface="SimSun" panose="02010600030101010101" pitchFamily="2" charset="-122"/>
              </a:rPr>
              <a:t>4-5</a:t>
            </a:r>
            <a:r>
              <a:rPr lang="zh-CN" altLang="en-US" sz="3200" dirty="0">
                <a:solidFill>
                  <a:srgbClr val="FF0000"/>
                </a:solidFill>
                <a:latin typeface="SimSun" panose="02010600030101010101" pitchFamily="2" charset="-122"/>
                <a:ea typeface="SimSun" panose="02010600030101010101" pitchFamily="2" charset="-122"/>
              </a:rPr>
              <a:t>页</a:t>
            </a:r>
            <a:endParaRPr lang="zh-CN" altLang="en-US" sz="3200" dirty="0">
              <a:solidFill>
                <a:srgbClr val="FF0000"/>
              </a:solidFill>
            </a:endParaRPr>
          </a:p>
        </p:txBody>
      </p:sp>
      <p:sp>
        <p:nvSpPr>
          <p:cNvPr id="5" name="文本框 4">
            <a:extLst>
              <a:ext uri="{FF2B5EF4-FFF2-40B4-BE49-F238E27FC236}">
                <a16:creationId xmlns:a16="http://schemas.microsoft.com/office/drawing/2014/main" id="{7F902A78-0ADF-653A-2158-382698AD15BF}"/>
              </a:ext>
            </a:extLst>
          </p:cNvPr>
          <p:cNvSpPr txBox="1"/>
          <p:nvPr/>
        </p:nvSpPr>
        <p:spPr>
          <a:xfrm>
            <a:off x="6148315" y="2835028"/>
            <a:ext cx="657366" cy="1384995"/>
          </a:xfrm>
          <a:prstGeom prst="rect">
            <a:avLst/>
          </a:prstGeom>
          <a:noFill/>
        </p:spPr>
        <p:txBody>
          <a:bodyPr wrap="square" rtlCol="0">
            <a:spAutoFit/>
          </a:bodyPr>
          <a:lstStyle/>
          <a:p>
            <a:r>
              <a:rPr lang="zh-CN" altLang="en-US" sz="2800" dirty="0">
                <a:latin typeface="微软雅黑" panose="020B0503020204020204" pitchFamily="34" charset="-122"/>
                <a:ea typeface="微软雅黑" panose="020B0503020204020204" pitchFamily="34" charset="-122"/>
              </a:rPr>
              <a:t>模型类</a:t>
            </a:r>
          </a:p>
        </p:txBody>
      </p:sp>
      <p:sp>
        <p:nvSpPr>
          <p:cNvPr id="6" name="文本框 5">
            <a:extLst>
              <a:ext uri="{FF2B5EF4-FFF2-40B4-BE49-F238E27FC236}">
                <a16:creationId xmlns:a16="http://schemas.microsoft.com/office/drawing/2014/main" id="{543C6827-AB82-EB5A-378A-B67E2547D9CC}"/>
              </a:ext>
            </a:extLst>
          </p:cNvPr>
          <p:cNvSpPr txBox="1"/>
          <p:nvPr/>
        </p:nvSpPr>
        <p:spPr>
          <a:xfrm>
            <a:off x="1291990" y="2850529"/>
            <a:ext cx="595950" cy="1384995"/>
          </a:xfrm>
          <a:prstGeom prst="rect">
            <a:avLst/>
          </a:prstGeom>
          <a:noFill/>
        </p:spPr>
        <p:txBody>
          <a:bodyPr wrap="square" rtlCol="0">
            <a:spAutoFit/>
          </a:bodyPr>
          <a:lstStyle/>
          <a:p>
            <a:r>
              <a:rPr lang="zh-CN" altLang="en-US" sz="2800" dirty="0">
                <a:latin typeface="微软雅黑" panose="020B0503020204020204" pitchFamily="34" charset="-122"/>
                <a:ea typeface="微软雅黑" panose="020B0503020204020204" pitchFamily="34" charset="-122"/>
              </a:rPr>
              <a:t>系统类</a:t>
            </a:r>
          </a:p>
        </p:txBody>
      </p:sp>
      <p:sp>
        <p:nvSpPr>
          <p:cNvPr id="7" name="文本框 6">
            <a:extLst>
              <a:ext uri="{FF2B5EF4-FFF2-40B4-BE49-F238E27FC236}">
                <a16:creationId xmlns:a16="http://schemas.microsoft.com/office/drawing/2014/main" id="{4DF34FDC-681E-F7C1-874E-38A3BB04390F}"/>
              </a:ext>
            </a:extLst>
          </p:cNvPr>
          <p:cNvSpPr txBox="1"/>
          <p:nvPr/>
        </p:nvSpPr>
        <p:spPr>
          <a:xfrm>
            <a:off x="6762466" y="2758196"/>
            <a:ext cx="4503762" cy="1754326"/>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6.1 </a:t>
            </a:r>
            <a:r>
              <a:rPr lang="zh-CN" altLang="en-US" dirty="0">
                <a:solidFill>
                  <a:srgbClr val="000000"/>
                </a:solidFill>
                <a:latin typeface="SimSun" panose="02010600030101010101" pitchFamily="2" charset="-122"/>
                <a:ea typeface="SimSun" panose="02010600030101010101" pitchFamily="2" charset="-122"/>
              </a:rPr>
              <a:t>车牌正常情况测试</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6.2 </a:t>
            </a:r>
            <a:r>
              <a:rPr lang="zh-CN" altLang="en-US" dirty="0">
                <a:latin typeface="微软雅黑" panose="020B0503020204020204" pitchFamily="34" charset="-122"/>
                <a:ea typeface="微软雅黑" panose="020B0503020204020204" pitchFamily="34" charset="-122"/>
              </a:rPr>
              <a:t>车牌污损情况测试</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6.3 XXXX</a:t>
            </a:r>
            <a:r>
              <a:rPr lang="zh-CN" altLang="en-US" dirty="0">
                <a:latin typeface="微软雅黑" panose="020B0503020204020204" pitchFamily="34" charset="-122"/>
                <a:ea typeface="微软雅黑" panose="020B0503020204020204" pitchFamily="34" charset="-122"/>
              </a:rPr>
              <a:t>情况测试</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a:t>
            </a:r>
          </a:p>
          <a:p>
            <a:r>
              <a:rPr lang="en-US" altLang="zh-CN" dirty="0">
                <a:latin typeface="微软雅黑" panose="020B0503020204020204" pitchFamily="34" charset="-122"/>
                <a:ea typeface="微软雅黑" panose="020B0503020204020204" pitchFamily="34" charset="-122"/>
              </a:rPr>
              <a:t>6.4</a:t>
            </a:r>
            <a:r>
              <a:rPr lang="zh-CN" altLang="en-US" dirty="0">
                <a:latin typeface="微软雅黑" panose="020B0503020204020204" pitchFamily="34" charset="-122"/>
                <a:ea typeface="微软雅黑" panose="020B0503020204020204" pitchFamily="34" charset="-122"/>
              </a:rPr>
              <a:t>测试结论</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6.5 </a:t>
            </a:r>
            <a:r>
              <a:rPr lang="zh-CN" altLang="en-US" dirty="0">
                <a:latin typeface="微软雅黑" panose="020B0503020204020204" pitchFamily="34" charset="-122"/>
                <a:ea typeface="微软雅黑" panose="020B0503020204020204" pitchFamily="34" charset="-122"/>
              </a:rPr>
              <a:t>本章小结</a:t>
            </a:r>
          </a:p>
        </p:txBody>
      </p:sp>
      <p:sp>
        <p:nvSpPr>
          <p:cNvPr id="8" name="文本框 7">
            <a:extLst>
              <a:ext uri="{FF2B5EF4-FFF2-40B4-BE49-F238E27FC236}">
                <a16:creationId xmlns:a16="http://schemas.microsoft.com/office/drawing/2014/main" id="{75019E37-28CC-3D7B-C6BD-260305DFB1A6}"/>
              </a:ext>
            </a:extLst>
          </p:cNvPr>
          <p:cNvSpPr txBox="1"/>
          <p:nvPr/>
        </p:nvSpPr>
        <p:spPr>
          <a:xfrm>
            <a:off x="7099109" y="5073091"/>
            <a:ext cx="3225421" cy="1077218"/>
          </a:xfrm>
          <a:prstGeom prst="rect">
            <a:avLst/>
          </a:prstGeom>
          <a:noFill/>
        </p:spPr>
        <p:txBody>
          <a:bodyPr wrap="square">
            <a:spAutoFit/>
          </a:bodyPr>
          <a:lstStyle/>
          <a:p>
            <a:r>
              <a:rPr lang="zh-CN" altLang="en-US" sz="3200" dirty="0">
                <a:solidFill>
                  <a:srgbClr val="FF0000"/>
                </a:solidFill>
                <a:latin typeface="SimSun" panose="02010600030101010101" pitchFamily="2" charset="-122"/>
                <a:ea typeface="SimSun" panose="02010600030101010101" pitchFamily="2" charset="-122"/>
              </a:rPr>
              <a:t>模型类第六章共</a:t>
            </a:r>
            <a:r>
              <a:rPr lang="en-US" altLang="zh-CN" sz="3200" dirty="0">
                <a:solidFill>
                  <a:srgbClr val="FF0000"/>
                </a:solidFill>
                <a:latin typeface="SimSun" panose="02010600030101010101" pitchFamily="2" charset="-122"/>
                <a:ea typeface="SimSun" panose="02010600030101010101" pitchFamily="2" charset="-122"/>
              </a:rPr>
              <a:t>5-7</a:t>
            </a:r>
            <a:r>
              <a:rPr lang="zh-CN" altLang="en-US" sz="3200" dirty="0">
                <a:solidFill>
                  <a:srgbClr val="FF0000"/>
                </a:solidFill>
                <a:latin typeface="SimSun" panose="02010600030101010101" pitchFamily="2" charset="-122"/>
                <a:ea typeface="SimSun" panose="02010600030101010101" pitchFamily="2" charset="-122"/>
              </a:rPr>
              <a:t>页</a:t>
            </a:r>
            <a:endParaRPr lang="zh-CN" altLang="en-US" sz="3200" dirty="0">
              <a:solidFill>
                <a:srgbClr val="FF0000"/>
              </a:solidFill>
            </a:endParaRPr>
          </a:p>
        </p:txBody>
      </p:sp>
    </p:spTree>
    <p:extLst>
      <p:ext uri="{BB962C8B-B14F-4D97-AF65-F5344CB8AC3E}">
        <p14:creationId xmlns:p14="http://schemas.microsoft.com/office/powerpoint/2010/main" val="42345073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670F4053-F006-56D3-0F84-EB11F548506B}"/>
              </a:ext>
            </a:extLst>
          </p:cNvPr>
          <p:cNvSpPr txBox="1"/>
          <p:nvPr/>
        </p:nvSpPr>
        <p:spPr>
          <a:xfrm>
            <a:off x="1291990" y="2850529"/>
            <a:ext cx="595950" cy="1384995"/>
          </a:xfrm>
          <a:prstGeom prst="rect">
            <a:avLst/>
          </a:prstGeom>
          <a:noFill/>
        </p:spPr>
        <p:txBody>
          <a:bodyPr wrap="square" rtlCol="0">
            <a:spAutoFit/>
          </a:bodyPr>
          <a:lstStyle/>
          <a:p>
            <a:r>
              <a:rPr lang="zh-CN" altLang="en-US" sz="2800" dirty="0">
                <a:latin typeface="微软雅黑" panose="020B0503020204020204" pitchFamily="34" charset="-122"/>
                <a:ea typeface="微软雅黑" panose="020B0503020204020204" pitchFamily="34" charset="-122"/>
              </a:rPr>
              <a:t>系统类</a:t>
            </a:r>
          </a:p>
        </p:txBody>
      </p:sp>
      <p:sp>
        <p:nvSpPr>
          <p:cNvPr id="3" name="文本框 2">
            <a:extLst>
              <a:ext uri="{FF2B5EF4-FFF2-40B4-BE49-F238E27FC236}">
                <a16:creationId xmlns:a16="http://schemas.microsoft.com/office/drawing/2014/main" id="{D7988359-02F7-689C-2C92-540479B8AB2A}"/>
              </a:ext>
            </a:extLst>
          </p:cNvPr>
          <p:cNvSpPr txBox="1"/>
          <p:nvPr/>
        </p:nvSpPr>
        <p:spPr>
          <a:xfrm>
            <a:off x="4294497" y="1551296"/>
            <a:ext cx="3575712" cy="646331"/>
          </a:xfrm>
          <a:prstGeom prst="rect">
            <a:avLst/>
          </a:prstGeom>
          <a:noFill/>
        </p:spPr>
        <p:txBody>
          <a:bodyPr wrap="square" rtlCol="0">
            <a:spAutoFit/>
          </a:bodyPr>
          <a:lstStyle/>
          <a:p>
            <a:r>
              <a:rPr lang="zh-CN" altLang="en-US" sz="3600" dirty="0">
                <a:latin typeface="微软雅黑" panose="020B0503020204020204" pitchFamily="34" charset="-122"/>
                <a:ea typeface="微软雅黑" panose="020B0503020204020204" pitchFamily="34" charset="-122"/>
              </a:rPr>
              <a:t>第六章系统测试</a:t>
            </a:r>
          </a:p>
        </p:txBody>
      </p:sp>
      <p:pic>
        <p:nvPicPr>
          <p:cNvPr id="5" name="图片 4">
            <a:extLst>
              <a:ext uri="{FF2B5EF4-FFF2-40B4-BE49-F238E27FC236}">
                <a16:creationId xmlns:a16="http://schemas.microsoft.com/office/drawing/2014/main" id="{32C2504A-2170-C202-8C2B-217F661E2A37}"/>
              </a:ext>
            </a:extLst>
          </p:cNvPr>
          <p:cNvPicPr>
            <a:picLocks noChangeAspect="1"/>
          </p:cNvPicPr>
          <p:nvPr/>
        </p:nvPicPr>
        <p:blipFill>
          <a:blip r:embed="rId2"/>
          <a:stretch>
            <a:fillRect/>
          </a:stretch>
        </p:blipFill>
        <p:spPr>
          <a:xfrm>
            <a:off x="2870579" y="2450890"/>
            <a:ext cx="3493939" cy="3688327"/>
          </a:xfrm>
          <a:prstGeom prst="rect">
            <a:avLst/>
          </a:prstGeom>
        </p:spPr>
      </p:pic>
      <p:sp>
        <p:nvSpPr>
          <p:cNvPr id="7" name="文本框 6">
            <a:extLst>
              <a:ext uri="{FF2B5EF4-FFF2-40B4-BE49-F238E27FC236}">
                <a16:creationId xmlns:a16="http://schemas.microsoft.com/office/drawing/2014/main" id="{798CDD59-FD8F-6045-E089-8ED377F9926C}"/>
              </a:ext>
            </a:extLst>
          </p:cNvPr>
          <p:cNvSpPr txBox="1"/>
          <p:nvPr/>
        </p:nvSpPr>
        <p:spPr>
          <a:xfrm>
            <a:off x="6500883" y="2383810"/>
            <a:ext cx="4863153" cy="3416320"/>
          </a:xfrm>
          <a:prstGeom prst="rect">
            <a:avLst/>
          </a:prstGeom>
          <a:noFill/>
        </p:spPr>
        <p:txBody>
          <a:bodyPr wrap="square">
            <a:spAutoFit/>
          </a:bodyPr>
          <a:lstStyle/>
          <a:p>
            <a:endParaRPr lang="en-US" altLang="zh-CN" sz="1800" b="0" i="0" dirty="0">
              <a:solidFill>
                <a:srgbClr val="000000"/>
              </a:solidFill>
              <a:effectLst/>
              <a:latin typeface="FangSong" panose="02010609060101010101" pitchFamily="49" charset="-122"/>
              <a:ea typeface="FangSong" panose="02010609060101010101" pitchFamily="49" charset="-122"/>
            </a:endParaRPr>
          </a:p>
          <a:p>
            <a:r>
              <a:rPr lang="en-US" altLang="zh-CN" b="1" dirty="0">
                <a:solidFill>
                  <a:srgbClr val="FF0000"/>
                </a:solidFill>
                <a:latin typeface="FangSong" panose="02010609060101010101" pitchFamily="49" charset="-122"/>
                <a:ea typeface="FangSong" panose="02010609060101010101" pitchFamily="49" charset="-122"/>
              </a:rPr>
              <a:t>6.4</a:t>
            </a:r>
            <a:r>
              <a:rPr lang="zh-CN" altLang="en-US" b="1" dirty="0">
                <a:solidFill>
                  <a:srgbClr val="FF0000"/>
                </a:solidFill>
                <a:latin typeface="FangSong" panose="02010609060101010101" pitchFamily="49" charset="-122"/>
                <a:ea typeface="FangSong" panose="02010609060101010101" pitchFamily="49" charset="-122"/>
              </a:rPr>
              <a:t>测试结论</a:t>
            </a:r>
            <a:endParaRPr lang="en-US" altLang="zh-CN" b="1" dirty="0">
              <a:solidFill>
                <a:srgbClr val="FF0000"/>
              </a:solidFill>
              <a:latin typeface="FangSong" panose="02010609060101010101" pitchFamily="49" charset="-122"/>
              <a:ea typeface="FangSong" panose="02010609060101010101" pitchFamily="49" charset="-122"/>
            </a:endParaRPr>
          </a:p>
          <a:p>
            <a:r>
              <a:rPr lang="zh-CN" altLang="en-US" sz="1800" b="0" i="0" dirty="0">
                <a:solidFill>
                  <a:srgbClr val="000000"/>
                </a:solidFill>
                <a:effectLst/>
                <a:latin typeface="FangSong" panose="02010609060101010101" pitchFamily="49" charset="-122"/>
                <a:ea typeface="FangSong" panose="02010609060101010101" pitchFamily="49" charset="-122"/>
              </a:rPr>
              <a:t>经过全面测试，系统整体功能表现基本稳定。用户登录功能在各种输入情况下均能正确响应，有效保障系统安全。博客管理功能的发布、编辑、删除和搜索功能核心流程正常。评论管理功能的发表、审核、回复和删除操作大多符合预期，仅批量删除时偶发数据更新延迟，需进一步排查。系统管理方面，密码修改、缓存刷新和安全退出功能可靠，确保用户账户安全和系统数据准确性。</a:t>
            </a:r>
            <a:r>
              <a:rPr lang="zh-CN" altLang="en-US" dirty="0"/>
              <a:t> </a:t>
            </a:r>
            <a:br>
              <a:rPr lang="zh-CN" altLang="en-US" dirty="0"/>
            </a:br>
            <a:endParaRPr lang="zh-CN" altLang="en-US" dirty="0"/>
          </a:p>
        </p:txBody>
      </p:sp>
    </p:spTree>
    <p:extLst>
      <p:ext uri="{BB962C8B-B14F-4D97-AF65-F5344CB8AC3E}">
        <p14:creationId xmlns:p14="http://schemas.microsoft.com/office/powerpoint/2010/main" val="19059177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7988359-02F7-689C-2C92-540479B8AB2A}"/>
              </a:ext>
            </a:extLst>
          </p:cNvPr>
          <p:cNvSpPr txBox="1"/>
          <p:nvPr/>
        </p:nvSpPr>
        <p:spPr>
          <a:xfrm>
            <a:off x="4294497" y="1551296"/>
            <a:ext cx="3575712" cy="646331"/>
          </a:xfrm>
          <a:prstGeom prst="rect">
            <a:avLst/>
          </a:prstGeom>
          <a:noFill/>
        </p:spPr>
        <p:txBody>
          <a:bodyPr wrap="square" rtlCol="0">
            <a:spAutoFit/>
          </a:bodyPr>
          <a:lstStyle/>
          <a:p>
            <a:r>
              <a:rPr lang="zh-CN" altLang="en-US" sz="3600" dirty="0">
                <a:latin typeface="微软雅黑" panose="020B0503020204020204" pitchFamily="34" charset="-122"/>
                <a:ea typeface="微软雅黑" panose="020B0503020204020204" pitchFamily="34" charset="-122"/>
              </a:rPr>
              <a:t>第六章系统测试</a:t>
            </a:r>
          </a:p>
        </p:txBody>
      </p:sp>
      <p:sp>
        <p:nvSpPr>
          <p:cNvPr id="4" name="文本框 3">
            <a:extLst>
              <a:ext uri="{FF2B5EF4-FFF2-40B4-BE49-F238E27FC236}">
                <a16:creationId xmlns:a16="http://schemas.microsoft.com/office/drawing/2014/main" id="{D0558683-1C3D-6057-E39F-5E94A75E3852}"/>
              </a:ext>
            </a:extLst>
          </p:cNvPr>
          <p:cNvSpPr txBox="1"/>
          <p:nvPr/>
        </p:nvSpPr>
        <p:spPr>
          <a:xfrm>
            <a:off x="1712793" y="3080688"/>
            <a:ext cx="657366" cy="1384995"/>
          </a:xfrm>
          <a:prstGeom prst="rect">
            <a:avLst/>
          </a:prstGeom>
          <a:noFill/>
        </p:spPr>
        <p:txBody>
          <a:bodyPr wrap="square" rtlCol="0">
            <a:spAutoFit/>
          </a:bodyPr>
          <a:lstStyle/>
          <a:p>
            <a:r>
              <a:rPr lang="zh-CN" altLang="en-US" sz="2800" dirty="0">
                <a:latin typeface="微软雅黑" panose="020B0503020204020204" pitchFamily="34" charset="-122"/>
                <a:ea typeface="微软雅黑" panose="020B0503020204020204" pitchFamily="34" charset="-122"/>
              </a:rPr>
              <a:t>模型类</a:t>
            </a:r>
          </a:p>
        </p:txBody>
      </p:sp>
      <p:pic>
        <p:nvPicPr>
          <p:cNvPr id="6" name="图片 5">
            <a:extLst>
              <a:ext uri="{FF2B5EF4-FFF2-40B4-BE49-F238E27FC236}">
                <a16:creationId xmlns:a16="http://schemas.microsoft.com/office/drawing/2014/main" id="{618BEB00-0FA7-59D3-365E-F709417A748C}"/>
              </a:ext>
            </a:extLst>
          </p:cNvPr>
          <p:cNvPicPr>
            <a:picLocks noChangeAspect="1"/>
          </p:cNvPicPr>
          <p:nvPr/>
        </p:nvPicPr>
        <p:blipFill>
          <a:blip r:embed="rId2"/>
          <a:stretch>
            <a:fillRect/>
          </a:stretch>
        </p:blipFill>
        <p:spPr>
          <a:xfrm>
            <a:off x="2370160" y="2470245"/>
            <a:ext cx="4679554" cy="1883392"/>
          </a:xfrm>
          <a:prstGeom prst="rect">
            <a:avLst/>
          </a:prstGeom>
        </p:spPr>
      </p:pic>
      <p:pic>
        <p:nvPicPr>
          <p:cNvPr id="7" name="图片 6">
            <a:extLst>
              <a:ext uri="{FF2B5EF4-FFF2-40B4-BE49-F238E27FC236}">
                <a16:creationId xmlns:a16="http://schemas.microsoft.com/office/drawing/2014/main" id="{5F0E4E96-092F-349A-D739-312053261C4B}"/>
              </a:ext>
            </a:extLst>
          </p:cNvPr>
          <p:cNvPicPr>
            <a:picLocks noChangeAspect="1"/>
          </p:cNvPicPr>
          <p:nvPr/>
        </p:nvPicPr>
        <p:blipFill>
          <a:blip r:embed="rId3"/>
          <a:stretch>
            <a:fillRect/>
          </a:stretch>
        </p:blipFill>
        <p:spPr>
          <a:xfrm>
            <a:off x="2438399" y="4465683"/>
            <a:ext cx="4321791" cy="1996581"/>
          </a:xfrm>
          <a:prstGeom prst="rect">
            <a:avLst/>
          </a:prstGeom>
        </p:spPr>
      </p:pic>
      <p:pic>
        <p:nvPicPr>
          <p:cNvPr id="8" name="图片 7">
            <a:extLst>
              <a:ext uri="{FF2B5EF4-FFF2-40B4-BE49-F238E27FC236}">
                <a16:creationId xmlns:a16="http://schemas.microsoft.com/office/drawing/2014/main" id="{2CA775EA-115B-449B-B4DD-F31A14A48E21}"/>
              </a:ext>
            </a:extLst>
          </p:cNvPr>
          <p:cNvPicPr>
            <a:picLocks noChangeAspect="1"/>
          </p:cNvPicPr>
          <p:nvPr/>
        </p:nvPicPr>
        <p:blipFill>
          <a:blip r:embed="rId4"/>
          <a:stretch>
            <a:fillRect/>
          </a:stretch>
        </p:blipFill>
        <p:spPr>
          <a:xfrm>
            <a:off x="7242681" y="2470245"/>
            <a:ext cx="4080411" cy="1687665"/>
          </a:xfrm>
          <a:prstGeom prst="rect">
            <a:avLst/>
          </a:prstGeom>
        </p:spPr>
      </p:pic>
      <p:sp>
        <p:nvSpPr>
          <p:cNvPr id="10" name="文本框 9">
            <a:extLst>
              <a:ext uri="{FF2B5EF4-FFF2-40B4-BE49-F238E27FC236}">
                <a16:creationId xmlns:a16="http://schemas.microsoft.com/office/drawing/2014/main" id="{BD8E5021-3271-89EC-DBB2-BBD3B7C96BE7}"/>
              </a:ext>
            </a:extLst>
          </p:cNvPr>
          <p:cNvSpPr txBox="1"/>
          <p:nvPr/>
        </p:nvSpPr>
        <p:spPr>
          <a:xfrm>
            <a:off x="6910317" y="4706539"/>
            <a:ext cx="4679554" cy="1477328"/>
          </a:xfrm>
          <a:prstGeom prst="rect">
            <a:avLst/>
          </a:prstGeom>
          <a:noFill/>
        </p:spPr>
        <p:txBody>
          <a:bodyPr wrap="square">
            <a:spAutoFit/>
          </a:bodyPr>
          <a:lstStyle/>
          <a:p>
            <a:r>
              <a:rPr lang="en-US" altLang="zh-CN" b="1" dirty="0">
                <a:solidFill>
                  <a:srgbClr val="FF0000"/>
                </a:solidFill>
                <a:latin typeface="FangSong" panose="02010609060101010101" pitchFamily="49" charset="-122"/>
                <a:ea typeface="FangSong" panose="02010609060101010101" pitchFamily="49" charset="-122"/>
              </a:rPr>
              <a:t>6.4</a:t>
            </a:r>
            <a:r>
              <a:rPr lang="zh-CN" altLang="en-US" b="1" dirty="0">
                <a:solidFill>
                  <a:srgbClr val="FF0000"/>
                </a:solidFill>
                <a:latin typeface="FangSong" panose="02010609060101010101" pitchFamily="49" charset="-122"/>
                <a:ea typeface="FangSong" panose="02010609060101010101" pitchFamily="49" charset="-122"/>
              </a:rPr>
              <a:t>测试结论</a:t>
            </a:r>
            <a:endParaRPr lang="en-US" altLang="zh-CN" b="1" dirty="0">
              <a:solidFill>
                <a:srgbClr val="FF0000"/>
              </a:solidFill>
              <a:latin typeface="FangSong" panose="02010609060101010101" pitchFamily="49" charset="-122"/>
              <a:ea typeface="FangSong" panose="02010609060101010101" pitchFamily="49" charset="-122"/>
            </a:endParaRPr>
          </a:p>
          <a:p>
            <a:r>
              <a:rPr lang="zh-CN" altLang="en-US" sz="1800" b="0" i="0" dirty="0">
                <a:solidFill>
                  <a:srgbClr val="000000"/>
                </a:solidFill>
                <a:effectLst/>
                <a:latin typeface="FangSong" panose="02010609060101010101" pitchFamily="49" charset="-122"/>
                <a:ea typeface="FangSong" panose="02010609060101010101" pitchFamily="49" charset="-122"/>
              </a:rPr>
              <a:t>综上所述，在车牌号正常情况下，本模型识别准确率为</a:t>
            </a:r>
            <a:r>
              <a:rPr lang="en-US" altLang="zh-CN" sz="1800" b="0" i="0" dirty="0">
                <a:solidFill>
                  <a:srgbClr val="000000"/>
                </a:solidFill>
                <a:effectLst/>
                <a:latin typeface="FangSong" panose="02010609060101010101" pitchFamily="49" charset="-122"/>
                <a:ea typeface="FangSong" panose="02010609060101010101" pitchFamily="49" charset="-122"/>
              </a:rPr>
              <a:t>100%</a:t>
            </a:r>
            <a:r>
              <a:rPr lang="zh-CN" altLang="en-US" sz="1800" b="0" i="0" dirty="0">
                <a:solidFill>
                  <a:srgbClr val="000000"/>
                </a:solidFill>
                <a:effectLst/>
                <a:latin typeface="FangSong" panose="02010609060101010101" pitchFamily="49" charset="-122"/>
                <a:ea typeface="FangSong" panose="02010609060101010101" pitchFamily="49" charset="-122"/>
              </a:rPr>
              <a:t>，在有污损、遮挡的情况下，本车牌号识别系统的正确率约为 </a:t>
            </a:r>
            <a:r>
              <a:rPr lang="en-US" altLang="zh-CN" sz="1800" b="0" i="0" dirty="0">
                <a:solidFill>
                  <a:srgbClr val="000000"/>
                </a:solidFill>
                <a:effectLst/>
                <a:latin typeface="TimesNewRomanPSMT"/>
              </a:rPr>
              <a:t>60%</a:t>
            </a:r>
            <a:r>
              <a:rPr lang="zh-CN" altLang="en-US" dirty="0"/>
              <a:t> 。</a:t>
            </a:r>
            <a:br>
              <a:rPr lang="zh-CN" altLang="en-US" dirty="0"/>
            </a:br>
            <a:endParaRPr lang="zh-CN" altLang="en-US" dirty="0"/>
          </a:p>
        </p:txBody>
      </p:sp>
    </p:spTree>
    <p:extLst>
      <p:ext uri="{BB962C8B-B14F-4D97-AF65-F5344CB8AC3E}">
        <p14:creationId xmlns:p14="http://schemas.microsoft.com/office/powerpoint/2010/main" val="36226620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5B846C4-E07C-DE31-8CB4-ADF3C024E3FF}"/>
              </a:ext>
            </a:extLst>
          </p:cNvPr>
          <p:cNvSpPr txBox="1"/>
          <p:nvPr/>
        </p:nvSpPr>
        <p:spPr>
          <a:xfrm>
            <a:off x="4294497" y="1551296"/>
            <a:ext cx="4012440" cy="646331"/>
          </a:xfrm>
          <a:prstGeom prst="rect">
            <a:avLst/>
          </a:prstGeom>
          <a:noFill/>
        </p:spPr>
        <p:txBody>
          <a:bodyPr wrap="square" rtlCol="0">
            <a:spAutoFit/>
          </a:bodyPr>
          <a:lstStyle/>
          <a:p>
            <a:r>
              <a:rPr lang="zh-CN" altLang="en-US" sz="3600" dirty="0">
                <a:latin typeface="微软雅黑" panose="020B0503020204020204" pitchFamily="34" charset="-122"/>
                <a:ea typeface="微软雅黑" panose="020B0503020204020204" pitchFamily="34" charset="-122"/>
              </a:rPr>
              <a:t>第七章总结与展望</a:t>
            </a:r>
          </a:p>
        </p:txBody>
      </p:sp>
      <p:sp>
        <p:nvSpPr>
          <p:cNvPr id="4" name="文本框 3">
            <a:extLst>
              <a:ext uri="{FF2B5EF4-FFF2-40B4-BE49-F238E27FC236}">
                <a16:creationId xmlns:a16="http://schemas.microsoft.com/office/drawing/2014/main" id="{398CF165-4352-BF92-48F7-DC65CB1B4309}"/>
              </a:ext>
            </a:extLst>
          </p:cNvPr>
          <p:cNvSpPr txBox="1"/>
          <p:nvPr/>
        </p:nvSpPr>
        <p:spPr>
          <a:xfrm>
            <a:off x="4535605" y="5472584"/>
            <a:ext cx="3225421" cy="584775"/>
          </a:xfrm>
          <a:prstGeom prst="rect">
            <a:avLst/>
          </a:prstGeom>
          <a:noFill/>
        </p:spPr>
        <p:txBody>
          <a:bodyPr wrap="square">
            <a:spAutoFit/>
          </a:bodyPr>
          <a:lstStyle/>
          <a:p>
            <a:r>
              <a:rPr lang="zh-CN" altLang="en-US" sz="3200" dirty="0">
                <a:solidFill>
                  <a:srgbClr val="FF0000"/>
                </a:solidFill>
                <a:latin typeface="SimSun" panose="02010600030101010101" pitchFamily="2" charset="-122"/>
                <a:ea typeface="SimSun" panose="02010600030101010101" pitchFamily="2" charset="-122"/>
              </a:rPr>
              <a:t>第七章共</a:t>
            </a:r>
            <a:r>
              <a:rPr lang="en-US" altLang="zh-CN" sz="3200" dirty="0">
                <a:solidFill>
                  <a:srgbClr val="FF0000"/>
                </a:solidFill>
                <a:latin typeface="SimSun" panose="02010600030101010101" pitchFamily="2" charset="-122"/>
                <a:ea typeface="SimSun" panose="02010600030101010101" pitchFamily="2" charset="-122"/>
              </a:rPr>
              <a:t>1</a:t>
            </a:r>
            <a:r>
              <a:rPr lang="zh-CN" altLang="en-US" sz="3200" dirty="0">
                <a:solidFill>
                  <a:srgbClr val="FF0000"/>
                </a:solidFill>
                <a:latin typeface="SimSun" panose="02010600030101010101" pitchFamily="2" charset="-122"/>
                <a:ea typeface="SimSun" panose="02010600030101010101" pitchFamily="2" charset="-122"/>
              </a:rPr>
              <a:t>页</a:t>
            </a:r>
            <a:endParaRPr lang="zh-CN" altLang="en-US" sz="3200" dirty="0">
              <a:solidFill>
                <a:srgbClr val="FF0000"/>
              </a:solidFill>
            </a:endParaRPr>
          </a:p>
        </p:txBody>
      </p:sp>
      <p:sp>
        <p:nvSpPr>
          <p:cNvPr id="8" name="文本框 7">
            <a:extLst>
              <a:ext uri="{FF2B5EF4-FFF2-40B4-BE49-F238E27FC236}">
                <a16:creationId xmlns:a16="http://schemas.microsoft.com/office/drawing/2014/main" id="{4D955A55-B535-3FD2-F8E8-5F091B923849}"/>
              </a:ext>
            </a:extLst>
          </p:cNvPr>
          <p:cNvSpPr txBox="1"/>
          <p:nvPr/>
        </p:nvSpPr>
        <p:spPr>
          <a:xfrm>
            <a:off x="1505803" y="2629049"/>
            <a:ext cx="9476094" cy="1477328"/>
          </a:xfrm>
          <a:prstGeom prst="rect">
            <a:avLst/>
          </a:prstGeom>
          <a:noFill/>
        </p:spPr>
        <p:txBody>
          <a:bodyPr wrap="square" rtlCol="0">
            <a:spAutoFit/>
          </a:bodyPr>
          <a:lstStyle/>
          <a:p>
            <a:r>
              <a:rPr lang="zh-CN" altLang="en-US" dirty="0">
                <a:solidFill>
                  <a:srgbClr val="FF0000"/>
                </a:solidFill>
                <a:latin typeface="微软雅黑" panose="020B0503020204020204" pitchFamily="34" charset="-122"/>
                <a:ea typeface="微软雅黑" panose="020B0503020204020204" pitchFamily="34" charset="-122"/>
              </a:rPr>
              <a:t>在这一章中，总结部分为自己对系统</a:t>
            </a:r>
            <a:r>
              <a:rPr lang="en-US" altLang="zh-CN" dirty="0">
                <a:solidFill>
                  <a:srgbClr val="FF0000"/>
                </a:solidFill>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模型的总结，该系统</a:t>
            </a:r>
            <a:r>
              <a:rPr lang="en-US" altLang="zh-CN" dirty="0">
                <a:solidFill>
                  <a:srgbClr val="FF0000"/>
                </a:solidFill>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模型有什么作用，实现了什么功能，展望部分为自己这个系统</a:t>
            </a:r>
            <a:r>
              <a:rPr lang="en-US" altLang="zh-CN" dirty="0">
                <a:solidFill>
                  <a:srgbClr val="FF0000"/>
                </a:solidFill>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模型的不足，后续可以在哪些部分可以增强</a:t>
            </a:r>
            <a:br>
              <a:rPr lang="zh-CN" altLang="en-US" dirty="0">
                <a:solidFill>
                  <a:srgbClr val="FF0000"/>
                </a:solidFill>
              </a:rPr>
            </a:br>
            <a:br>
              <a:rPr lang="zh-CN" altLang="en-US" dirty="0">
                <a:solidFill>
                  <a:srgbClr val="FF0000"/>
                </a:solidFill>
                <a:latin typeface="宋体" panose="02010600030101010101" pitchFamily="2" charset="-122"/>
                <a:ea typeface="宋体" panose="02010600030101010101" pitchFamily="2" charset="-122"/>
              </a:rPr>
            </a:br>
            <a:r>
              <a:rPr lang="zh-CN" altLang="en-US" dirty="0">
                <a:solidFill>
                  <a:srgbClr val="FF0000"/>
                </a:solidFill>
                <a:latin typeface="宋体" panose="02010600030101010101" pitchFamily="2" charset="-122"/>
                <a:ea typeface="宋体" panose="02010600030101010101" pitchFamily="2" charset="-122"/>
              </a:rPr>
              <a:t> </a:t>
            </a:r>
            <a:br>
              <a:rPr lang="zh-CN" altLang="en-US" dirty="0">
                <a:solidFill>
                  <a:srgbClr val="FF0000"/>
                </a:solidFill>
                <a:latin typeface="宋体" panose="02010600030101010101" pitchFamily="2" charset="-122"/>
                <a:ea typeface="宋体" panose="02010600030101010101" pitchFamily="2" charset="-122"/>
              </a:rPr>
            </a:br>
            <a:endParaRPr lang="en-US" altLang="zh-CN" dirty="0">
              <a:solidFill>
                <a:srgbClr val="FF0000"/>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5512505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512FCC3F-5414-EB8C-B35E-44C7098109FE}"/>
              </a:ext>
            </a:extLst>
          </p:cNvPr>
          <p:cNvSpPr>
            <a:spLocks noGrp="1"/>
          </p:cNvSpPr>
          <p:nvPr>
            <p:ph type="ctrTitle"/>
          </p:nvPr>
        </p:nvSpPr>
        <p:spPr/>
        <p:txBody>
          <a:bodyPr/>
          <a:lstStyle/>
          <a:p>
            <a:r>
              <a:rPr lang="zh-CN" altLang="en-US" dirty="0">
                <a:latin typeface="微软雅黑" panose="020B0503020204020204" pitchFamily="34" charset="-122"/>
                <a:ea typeface="微软雅黑" panose="020B0503020204020204" pitchFamily="34" charset="-122"/>
              </a:rPr>
              <a:t>论文后续部分</a:t>
            </a:r>
          </a:p>
        </p:txBody>
      </p:sp>
    </p:spTree>
    <p:extLst>
      <p:ext uri="{BB962C8B-B14F-4D97-AF65-F5344CB8AC3E}">
        <p14:creationId xmlns:p14="http://schemas.microsoft.com/office/powerpoint/2010/main" val="34323504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5B846C4-E07C-DE31-8CB4-ADF3C024E3FF}"/>
              </a:ext>
            </a:extLst>
          </p:cNvPr>
          <p:cNvSpPr txBox="1"/>
          <p:nvPr/>
        </p:nvSpPr>
        <p:spPr>
          <a:xfrm>
            <a:off x="3648503" y="1574042"/>
            <a:ext cx="4012440" cy="646331"/>
          </a:xfrm>
          <a:prstGeom prst="rect">
            <a:avLst/>
          </a:prstGeom>
          <a:noFill/>
        </p:spPr>
        <p:txBody>
          <a:bodyPr wrap="square" rtlCol="0">
            <a:spAutoFit/>
          </a:bodyPr>
          <a:lstStyle/>
          <a:p>
            <a:pPr algn="ctr"/>
            <a:r>
              <a:rPr lang="zh-CN" altLang="en-US" sz="3600" dirty="0">
                <a:latin typeface="微软雅黑" panose="020B0503020204020204" pitchFamily="34" charset="-122"/>
                <a:ea typeface="微软雅黑" panose="020B0503020204020204" pitchFamily="34" charset="-122"/>
              </a:rPr>
              <a:t>参考文献</a:t>
            </a:r>
          </a:p>
        </p:txBody>
      </p:sp>
      <p:sp>
        <p:nvSpPr>
          <p:cNvPr id="8" name="文本框 7">
            <a:extLst>
              <a:ext uri="{FF2B5EF4-FFF2-40B4-BE49-F238E27FC236}">
                <a16:creationId xmlns:a16="http://schemas.microsoft.com/office/drawing/2014/main" id="{4D955A55-B535-3FD2-F8E8-5F091B923849}"/>
              </a:ext>
            </a:extLst>
          </p:cNvPr>
          <p:cNvSpPr txBox="1"/>
          <p:nvPr/>
        </p:nvSpPr>
        <p:spPr>
          <a:xfrm>
            <a:off x="1505803" y="2629049"/>
            <a:ext cx="9476094" cy="1477328"/>
          </a:xfrm>
          <a:prstGeom prst="rect">
            <a:avLst/>
          </a:prstGeom>
          <a:noFill/>
        </p:spPr>
        <p:txBody>
          <a:bodyPr wrap="square" rtlCol="0">
            <a:spAutoFit/>
          </a:bodyPr>
          <a:lstStyle/>
          <a:p>
            <a:r>
              <a:rPr lang="zh-CN" altLang="en-US" dirty="0">
                <a:solidFill>
                  <a:srgbClr val="FF0000"/>
                </a:solidFill>
                <a:latin typeface="微软雅黑" panose="020B0503020204020204" pitchFamily="34" charset="-122"/>
                <a:ea typeface="微软雅黑" panose="020B0503020204020204" pitchFamily="34" charset="-122"/>
              </a:rPr>
              <a:t>按湖南警察学院模板要求进行整理，注意字体字号、论文引用格式要求，具体格式参照论文格式部分，引用文献</a:t>
            </a:r>
            <a:r>
              <a:rPr lang="zh-CN" altLang="en-US">
                <a:solidFill>
                  <a:srgbClr val="FF0000"/>
                </a:solidFill>
                <a:latin typeface="微软雅黑" panose="020B0503020204020204" pitchFamily="34" charset="-122"/>
                <a:ea typeface="微软雅黑" panose="020B0503020204020204" pitchFamily="34" charset="-122"/>
              </a:rPr>
              <a:t>不要过少。</a:t>
            </a:r>
            <a:br>
              <a:rPr lang="zh-CN" altLang="en-US" dirty="0">
                <a:solidFill>
                  <a:srgbClr val="FF0000"/>
                </a:solidFill>
              </a:rPr>
            </a:br>
            <a:br>
              <a:rPr lang="zh-CN" altLang="en-US" dirty="0">
                <a:solidFill>
                  <a:srgbClr val="FF0000"/>
                </a:solidFill>
                <a:latin typeface="宋体" panose="02010600030101010101" pitchFamily="2" charset="-122"/>
                <a:ea typeface="宋体" panose="02010600030101010101" pitchFamily="2" charset="-122"/>
              </a:rPr>
            </a:br>
            <a:r>
              <a:rPr lang="zh-CN" altLang="en-US" dirty="0">
                <a:solidFill>
                  <a:srgbClr val="FF0000"/>
                </a:solidFill>
                <a:latin typeface="宋体" panose="02010600030101010101" pitchFamily="2" charset="-122"/>
                <a:ea typeface="宋体" panose="02010600030101010101" pitchFamily="2" charset="-122"/>
              </a:rPr>
              <a:t> </a:t>
            </a:r>
            <a:br>
              <a:rPr lang="zh-CN" altLang="en-US" dirty="0">
                <a:solidFill>
                  <a:srgbClr val="FF0000"/>
                </a:solidFill>
                <a:latin typeface="宋体" panose="02010600030101010101" pitchFamily="2" charset="-122"/>
                <a:ea typeface="宋体" panose="02010600030101010101" pitchFamily="2" charset="-122"/>
              </a:rPr>
            </a:br>
            <a:endParaRPr lang="en-US" altLang="zh-CN" dirty="0">
              <a:solidFill>
                <a:srgbClr val="FF0000"/>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8611354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5B846C4-E07C-DE31-8CB4-ADF3C024E3FF}"/>
              </a:ext>
            </a:extLst>
          </p:cNvPr>
          <p:cNvSpPr txBox="1"/>
          <p:nvPr/>
        </p:nvSpPr>
        <p:spPr>
          <a:xfrm>
            <a:off x="3926007" y="1537648"/>
            <a:ext cx="4012440" cy="646331"/>
          </a:xfrm>
          <a:prstGeom prst="rect">
            <a:avLst/>
          </a:prstGeom>
          <a:noFill/>
        </p:spPr>
        <p:txBody>
          <a:bodyPr wrap="square" rtlCol="0">
            <a:spAutoFit/>
          </a:bodyPr>
          <a:lstStyle/>
          <a:p>
            <a:pPr algn="ctr"/>
            <a:r>
              <a:rPr lang="zh-CN" altLang="en-US" sz="3600" dirty="0">
                <a:latin typeface="微软雅黑" panose="020B0503020204020204" pitchFamily="34" charset="-122"/>
                <a:ea typeface="微软雅黑" panose="020B0503020204020204" pitchFamily="34" charset="-122"/>
              </a:rPr>
              <a:t>致谢</a:t>
            </a:r>
          </a:p>
        </p:txBody>
      </p:sp>
      <p:sp>
        <p:nvSpPr>
          <p:cNvPr id="8" name="文本框 7">
            <a:extLst>
              <a:ext uri="{FF2B5EF4-FFF2-40B4-BE49-F238E27FC236}">
                <a16:creationId xmlns:a16="http://schemas.microsoft.com/office/drawing/2014/main" id="{4D955A55-B535-3FD2-F8E8-5F091B923849}"/>
              </a:ext>
            </a:extLst>
          </p:cNvPr>
          <p:cNvSpPr txBox="1"/>
          <p:nvPr/>
        </p:nvSpPr>
        <p:spPr>
          <a:xfrm>
            <a:off x="1505803" y="2629049"/>
            <a:ext cx="9476094" cy="1200329"/>
          </a:xfrm>
          <a:prstGeom prst="rect">
            <a:avLst/>
          </a:prstGeom>
          <a:noFill/>
        </p:spPr>
        <p:txBody>
          <a:bodyPr wrap="square" rtlCol="0">
            <a:spAutoFit/>
          </a:bodyPr>
          <a:lstStyle/>
          <a:p>
            <a:r>
              <a:rPr lang="zh-CN" altLang="en-US" dirty="0">
                <a:solidFill>
                  <a:srgbClr val="FF0000"/>
                </a:solidFill>
                <a:latin typeface="微软雅黑" panose="020B0503020204020204" pitchFamily="34" charset="-122"/>
                <a:ea typeface="微软雅黑" panose="020B0503020204020204" pitchFamily="34" charset="-122"/>
              </a:rPr>
              <a:t>致谢部分按自己的想法写，只要符合社会主义核心价值观就行</a:t>
            </a:r>
            <a:br>
              <a:rPr lang="zh-CN" altLang="en-US" dirty="0">
                <a:solidFill>
                  <a:srgbClr val="FF0000"/>
                </a:solidFill>
              </a:rPr>
            </a:br>
            <a:br>
              <a:rPr lang="zh-CN" altLang="en-US" dirty="0">
                <a:solidFill>
                  <a:srgbClr val="FF0000"/>
                </a:solidFill>
                <a:latin typeface="宋体" panose="02010600030101010101" pitchFamily="2" charset="-122"/>
                <a:ea typeface="宋体" panose="02010600030101010101" pitchFamily="2" charset="-122"/>
              </a:rPr>
            </a:br>
            <a:r>
              <a:rPr lang="zh-CN" altLang="en-US" dirty="0">
                <a:solidFill>
                  <a:srgbClr val="FF0000"/>
                </a:solidFill>
                <a:latin typeface="宋体" panose="02010600030101010101" pitchFamily="2" charset="-122"/>
                <a:ea typeface="宋体" panose="02010600030101010101" pitchFamily="2" charset="-122"/>
              </a:rPr>
              <a:t> </a:t>
            </a:r>
            <a:br>
              <a:rPr lang="zh-CN" altLang="en-US" dirty="0">
                <a:solidFill>
                  <a:srgbClr val="FF0000"/>
                </a:solidFill>
                <a:latin typeface="宋体" panose="02010600030101010101" pitchFamily="2" charset="-122"/>
                <a:ea typeface="宋体" panose="02010600030101010101" pitchFamily="2" charset="-122"/>
              </a:rPr>
            </a:br>
            <a:endParaRPr lang="en-US" altLang="zh-CN" dirty="0">
              <a:solidFill>
                <a:srgbClr val="FF0000"/>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8554239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5B846C4-E07C-DE31-8CB4-ADF3C024E3FF}"/>
              </a:ext>
            </a:extLst>
          </p:cNvPr>
          <p:cNvSpPr txBox="1"/>
          <p:nvPr/>
        </p:nvSpPr>
        <p:spPr>
          <a:xfrm>
            <a:off x="3926007" y="1537648"/>
            <a:ext cx="4012440" cy="646331"/>
          </a:xfrm>
          <a:prstGeom prst="rect">
            <a:avLst/>
          </a:prstGeom>
          <a:noFill/>
        </p:spPr>
        <p:txBody>
          <a:bodyPr wrap="square" rtlCol="0">
            <a:spAutoFit/>
          </a:bodyPr>
          <a:lstStyle/>
          <a:p>
            <a:pPr algn="ctr"/>
            <a:r>
              <a:rPr lang="zh-CN" altLang="en-US" sz="3600" dirty="0">
                <a:latin typeface="微软雅黑" panose="020B0503020204020204" pitchFamily="34" charset="-122"/>
                <a:ea typeface="微软雅黑" panose="020B0503020204020204" pitchFamily="34" charset="-122"/>
              </a:rPr>
              <a:t>论文其他注意点</a:t>
            </a:r>
          </a:p>
        </p:txBody>
      </p:sp>
      <p:sp>
        <p:nvSpPr>
          <p:cNvPr id="8" name="文本框 7">
            <a:extLst>
              <a:ext uri="{FF2B5EF4-FFF2-40B4-BE49-F238E27FC236}">
                <a16:creationId xmlns:a16="http://schemas.microsoft.com/office/drawing/2014/main" id="{4D955A55-B535-3FD2-F8E8-5F091B923849}"/>
              </a:ext>
            </a:extLst>
          </p:cNvPr>
          <p:cNvSpPr txBox="1"/>
          <p:nvPr/>
        </p:nvSpPr>
        <p:spPr>
          <a:xfrm>
            <a:off x="1633182" y="2751879"/>
            <a:ext cx="9476094" cy="2031325"/>
          </a:xfrm>
          <a:prstGeom prst="rect">
            <a:avLst/>
          </a:prstGeom>
          <a:noFill/>
        </p:spPr>
        <p:txBody>
          <a:bodyPr wrap="square" rtlCol="0">
            <a:spAutoFit/>
          </a:bodyPr>
          <a:lstStyle/>
          <a:p>
            <a:r>
              <a:rPr lang="en-US" altLang="zh-CN" b="1" dirty="0">
                <a:solidFill>
                  <a:srgbClr val="FF0000"/>
                </a:solidFill>
                <a:latin typeface="宋体" panose="02010600030101010101" pitchFamily="2" charset="-122"/>
                <a:ea typeface="宋体" panose="02010600030101010101" pitchFamily="2" charset="-122"/>
              </a:rPr>
              <a:t>1.</a:t>
            </a:r>
            <a:r>
              <a:rPr lang="zh-CN" altLang="en-US" b="1" dirty="0">
                <a:solidFill>
                  <a:srgbClr val="FF0000"/>
                </a:solidFill>
                <a:effectLst/>
                <a:latin typeface="宋体" panose="02010600030101010101" pitchFamily="2" charset="-122"/>
                <a:ea typeface="宋体" panose="02010600030101010101" pitchFamily="2" charset="-122"/>
              </a:rPr>
              <a:t>多次校对</a:t>
            </a:r>
            <a:r>
              <a:rPr lang="zh-CN" altLang="en-US" b="1" dirty="0">
                <a:solidFill>
                  <a:srgbClr val="FF0000"/>
                </a:solidFill>
                <a:latin typeface="宋体" panose="02010600030101010101" pitchFamily="2" charset="-122"/>
                <a:ea typeface="宋体" panose="02010600030101010101" pitchFamily="2" charset="-122"/>
              </a:rPr>
              <a:t>，错别字、病句、标点、格式错误是大忌。</a:t>
            </a:r>
            <a:endParaRPr lang="en-US" altLang="zh-CN" b="1" dirty="0">
              <a:solidFill>
                <a:srgbClr val="FF0000"/>
              </a:solidFill>
              <a:latin typeface="宋体" panose="02010600030101010101" pitchFamily="2" charset="-122"/>
              <a:ea typeface="宋体" panose="02010600030101010101" pitchFamily="2" charset="-122"/>
            </a:endParaRPr>
          </a:p>
          <a:p>
            <a:r>
              <a:rPr lang="en-US" altLang="zh-CN" b="1" dirty="0">
                <a:solidFill>
                  <a:srgbClr val="FF0000"/>
                </a:solidFill>
                <a:latin typeface="宋体" panose="02010600030101010101" pitchFamily="2" charset="-122"/>
                <a:ea typeface="宋体" panose="02010600030101010101" pitchFamily="2" charset="-122"/>
              </a:rPr>
              <a:t>2.</a:t>
            </a:r>
            <a:r>
              <a:rPr lang="zh-CN" altLang="en-US" b="1" dirty="0">
                <a:solidFill>
                  <a:srgbClr val="FF0000"/>
                </a:solidFill>
                <a:effectLst/>
                <a:latin typeface="宋体" panose="02010600030101010101" pitchFamily="2" charset="-122"/>
                <a:ea typeface="宋体" panose="02010600030101010101" pitchFamily="2" charset="-122"/>
              </a:rPr>
              <a:t>查重控制在要求内</a:t>
            </a:r>
            <a:r>
              <a:rPr lang="zh-CN" altLang="en-US" b="1" dirty="0">
                <a:solidFill>
                  <a:srgbClr val="FF0000"/>
                </a:solidFill>
                <a:latin typeface="宋体" panose="02010600030101010101" pitchFamily="2" charset="-122"/>
                <a:ea typeface="宋体" panose="02010600030101010101" pitchFamily="2" charset="-122"/>
              </a:rPr>
              <a:t>，大段复制一定要改写、转述。</a:t>
            </a:r>
            <a:endParaRPr lang="en-US" altLang="zh-CN" b="1" dirty="0">
              <a:solidFill>
                <a:srgbClr val="FF0000"/>
              </a:solidFill>
              <a:latin typeface="宋体" panose="02010600030101010101" pitchFamily="2" charset="-122"/>
              <a:ea typeface="宋体" panose="02010600030101010101" pitchFamily="2" charset="-122"/>
            </a:endParaRPr>
          </a:p>
          <a:p>
            <a:r>
              <a:rPr lang="en-US" altLang="zh-CN" b="1" dirty="0">
                <a:solidFill>
                  <a:srgbClr val="FF0000"/>
                </a:solidFill>
                <a:effectLst/>
                <a:latin typeface="宋体" panose="02010600030101010101" pitchFamily="2" charset="-122"/>
                <a:ea typeface="宋体" panose="02010600030101010101" pitchFamily="2" charset="-122"/>
              </a:rPr>
              <a:t>3.</a:t>
            </a:r>
            <a:r>
              <a:rPr lang="zh-CN" altLang="en-US" b="1" dirty="0">
                <a:solidFill>
                  <a:srgbClr val="FF0000"/>
                </a:solidFill>
                <a:effectLst/>
                <a:latin typeface="宋体" panose="02010600030101010101" pitchFamily="2" charset="-122"/>
                <a:ea typeface="宋体" panose="02010600030101010101" pitchFamily="2" charset="-122"/>
              </a:rPr>
              <a:t>引用必须规范</a:t>
            </a:r>
            <a:r>
              <a:rPr lang="zh-CN" altLang="en-US" b="1" dirty="0">
                <a:solidFill>
                  <a:srgbClr val="FF0000"/>
                </a:solidFill>
                <a:latin typeface="宋体" panose="02010600030101010101" pitchFamily="2" charset="-122"/>
                <a:ea typeface="宋体" panose="02010600030101010101" pitchFamily="2" charset="-122"/>
              </a:rPr>
              <a:t>，杜绝抄袭，脚注 </a:t>
            </a:r>
            <a:r>
              <a:rPr lang="en-US" altLang="zh-CN" b="1" dirty="0">
                <a:solidFill>
                  <a:srgbClr val="FF0000"/>
                </a:solidFill>
                <a:latin typeface="宋体" panose="02010600030101010101" pitchFamily="2" charset="-122"/>
                <a:ea typeface="宋体" panose="02010600030101010101" pitchFamily="2" charset="-122"/>
              </a:rPr>
              <a:t>/ </a:t>
            </a:r>
            <a:r>
              <a:rPr lang="zh-CN" altLang="en-US" b="1" dirty="0">
                <a:solidFill>
                  <a:srgbClr val="FF0000"/>
                </a:solidFill>
                <a:latin typeface="宋体" panose="02010600030101010101" pitchFamily="2" charset="-122"/>
                <a:ea typeface="宋体" panose="02010600030101010101" pitchFamily="2" charset="-122"/>
              </a:rPr>
              <a:t>参考文献格式统一。</a:t>
            </a:r>
            <a:endParaRPr lang="en-US" altLang="zh-CN" b="1" dirty="0">
              <a:solidFill>
                <a:srgbClr val="FF0000"/>
              </a:solidFill>
              <a:latin typeface="宋体" panose="02010600030101010101" pitchFamily="2" charset="-122"/>
              <a:ea typeface="宋体" panose="02010600030101010101" pitchFamily="2" charset="-122"/>
            </a:endParaRPr>
          </a:p>
          <a:p>
            <a:r>
              <a:rPr lang="en-US" altLang="zh-CN" b="1" dirty="0">
                <a:solidFill>
                  <a:srgbClr val="FF0000"/>
                </a:solidFill>
                <a:latin typeface="宋体" panose="02010600030101010101" pitchFamily="2" charset="-122"/>
                <a:ea typeface="宋体" panose="02010600030101010101" pitchFamily="2" charset="-122"/>
              </a:rPr>
              <a:t>4.</a:t>
            </a:r>
            <a:r>
              <a:rPr lang="zh-CN" altLang="en-US" b="1" dirty="0">
                <a:solidFill>
                  <a:srgbClr val="FF0000"/>
                </a:solidFill>
                <a:effectLst/>
                <a:latin typeface="宋体" panose="02010600030101010101" pitchFamily="2" charset="-122"/>
                <a:ea typeface="宋体" panose="02010600030101010101" pitchFamily="2" charset="-122"/>
              </a:rPr>
              <a:t>图表清晰规范</a:t>
            </a:r>
            <a:r>
              <a:rPr lang="zh-CN" altLang="en-US" b="1" dirty="0">
                <a:solidFill>
                  <a:srgbClr val="FF0000"/>
                </a:solidFill>
                <a:latin typeface="宋体" panose="02010600030101010101" pitchFamily="2" charset="-122"/>
                <a:ea typeface="宋体" panose="02010600030101010101" pitchFamily="2" charset="-122"/>
              </a:rPr>
              <a:t>，有编号、有标题、来源标注清楚。</a:t>
            </a:r>
            <a:endParaRPr lang="en-US" altLang="zh-CN" b="1" dirty="0">
              <a:solidFill>
                <a:srgbClr val="FF0000"/>
              </a:solidFill>
              <a:latin typeface="宋体" panose="02010600030101010101" pitchFamily="2" charset="-122"/>
              <a:ea typeface="宋体" panose="02010600030101010101" pitchFamily="2" charset="-122"/>
            </a:endParaRPr>
          </a:p>
          <a:p>
            <a:r>
              <a:rPr lang="en-US" altLang="zh-CN" b="1" dirty="0">
                <a:solidFill>
                  <a:srgbClr val="FF0000"/>
                </a:solidFill>
                <a:latin typeface="宋体" panose="02010600030101010101" pitchFamily="2" charset="-122"/>
                <a:ea typeface="宋体" panose="02010600030101010101" pitchFamily="2" charset="-122"/>
              </a:rPr>
              <a:t>5.</a:t>
            </a:r>
            <a:r>
              <a:rPr lang="zh-CN" altLang="en-US" b="1" dirty="0">
                <a:solidFill>
                  <a:srgbClr val="FF0000"/>
                </a:solidFill>
                <a:effectLst/>
                <a:latin typeface="宋体" panose="02010600030101010101" pitchFamily="2" charset="-122"/>
                <a:ea typeface="宋体" panose="02010600030101010101" pitchFamily="2" charset="-122"/>
              </a:rPr>
              <a:t>逻辑自洽</a:t>
            </a:r>
            <a:r>
              <a:rPr lang="zh-CN" altLang="en-US" b="1" dirty="0">
                <a:solidFill>
                  <a:srgbClr val="FF0000"/>
                </a:solidFill>
                <a:latin typeface="宋体" panose="02010600030101010101" pitchFamily="2" charset="-122"/>
                <a:ea typeface="宋体" panose="02010600030101010101" pitchFamily="2" charset="-122"/>
              </a:rPr>
              <a:t>，问题、方法、结论要对应，不前后矛盾。</a:t>
            </a:r>
            <a:br>
              <a:rPr lang="zh-CN" altLang="en-US" b="1" dirty="0">
                <a:solidFill>
                  <a:srgbClr val="FF0000"/>
                </a:solidFill>
                <a:latin typeface="宋体" panose="02010600030101010101" pitchFamily="2" charset="-122"/>
                <a:ea typeface="宋体" panose="02010600030101010101" pitchFamily="2" charset="-122"/>
              </a:rPr>
            </a:br>
            <a:r>
              <a:rPr lang="zh-CN" altLang="en-US" b="1" dirty="0">
                <a:solidFill>
                  <a:srgbClr val="FF0000"/>
                </a:solidFill>
                <a:latin typeface="宋体" panose="02010600030101010101" pitchFamily="2" charset="-122"/>
                <a:ea typeface="宋体" panose="02010600030101010101" pitchFamily="2" charset="-122"/>
              </a:rPr>
              <a:t> </a:t>
            </a:r>
            <a:br>
              <a:rPr lang="zh-CN" altLang="en-US" b="1" dirty="0">
                <a:solidFill>
                  <a:srgbClr val="FF0000"/>
                </a:solidFill>
                <a:latin typeface="宋体" panose="02010600030101010101" pitchFamily="2" charset="-122"/>
                <a:ea typeface="宋体" panose="02010600030101010101" pitchFamily="2" charset="-122"/>
              </a:rPr>
            </a:br>
            <a:endParaRPr lang="en-US" altLang="zh-CN" b="1" dirty="0">
              <a:solidFill>
                <a:srgbClr val="FF0000"/>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5225515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C7DBFE-EC15-D415-858E-ABB563735B7A}"/>
              </a:ext>
            </a:extLst>
          </p:cNvPr>
          <p:cNvSpPr>
            <a:spLocks noGrp="1"/>
          </p:cNvSpPr>
          <p:nvPr>
            <p:ph type="ctrTitle"/>
          </p:nvPr>
        </p:nvSpPr>
        <p:spPr/>
        <p:txBody>
          <a:bodyPr/>
          <a:lstStyle/>
          <a:p>
            <a:r>
              <a:rPr lang="zh-CN" altLang="en-US" dirty="0"/>
              <a:t>谢谢</a:t>
            </a:r>
          </a:p>
        </p:txBody>
      </p:sp>
    </p:spTree>
    <p:extLst>
      <p:ext uri="{BB962C8B-B14F-4D97-AF65-F5344CB8AC3E}">
        <p14:creationId xmlns:p14="http://schemas.microsoft.com/office/powerpoint/2010/main" val="1219925923"/>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环保">
  <a:themeElements>
    <a:clrScheme name="环保">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环保">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环保">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606</TotalTime>
  <Words>2704</Words>
  <Application>Microsoft Office PowerPoint</Application>
  <PresentationFormat>宽屏</PresentationFormat>
  <Paragraphs>217</Paragraphs>
  <Slides>45</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45</vt:i4>
      </vt:variant>
    </vt:vector>
  </HeadingPairs>
  <TitlesOfParts>
    <vt:vector size="53" baseType="lpstr">
      <vt:lpstr>TimesNewRomanPSMT</vt:lpstr>
      <vt:lpstr>FangSong</vt:lpstr>
      <vt:lpstr>SimSun</vt:lpstr>
      <vt:lpstr>SimSun</vt:lpstr>
      <vt:lpstr>微软雅黑</vt:lpstr>
      <vt:lpstr>Arial</vt:lpstr>
      <vt:lpstr>Garamond</vt:lpstr>
      <vt:lpstr>环保</vt:lpstr>
      <vt:lpstr>毕业论文写作指导</vt:lpstr>
      <vt:lpstr>论文格式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论文正文内容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论文后续部分</vt:lpstr>
      <vt:lpstr>PowerPoint 演示文稿</vt:lpstr>
      <vt:lpstr>PowerPoint 演示文稿</vt:lpstr>
      <vt:lpstr>PowerPoint 演示文稿</vt:lpstr>
      <vt:lpstr>谢谢</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毕业论文写作指导</dc:title>
  <dc:creator>HUAWEI</dc:creator>
  <cp:lastModifiedBy>HUAWEI</cp:lastModifiedBy>
  <cp:revision>18</cp:revision>
  <dcterms:created xsi:type="dcterms:W3CDTF">2026-03-11T08:13:28Z</dcterms:created>
  <dcterms:modified xsi:type="dcterms:W3CDTF">2026-03-17T06:43:05Z</dcterms:modified>
</cp:coreProperties>
</file>