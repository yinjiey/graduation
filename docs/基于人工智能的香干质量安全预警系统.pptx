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45" y="3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尊敬的各位评委老师，大家上午好。我是来自信息与智能科学技术学院的欧俊杰。今天我汇报的题目是《基于人工智能的香干质量安全预警系统设计与实现》。本项目旨在解决传统食品安全监管中面临的严峻挑战，通过融合前沿的AI技术与区块链技术，构建一个从“被动存证”到“主动预警”升级的智能化监管体系。接下来，我将从研究背景、系统架构、核心功能和总结展望四个方面展开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次汇报将分为四个部分。首先，我将介绍项目的研究背景与意义，阐述当前食品安全监管面临的挑战以及我们项目的研究价值。其次，我会详细解读系统的总体架构和所采用的核心技术栈。接着，将重点展示系统的核心功能模块和关键技术创新点。最后，对整个项目进行总结，并对未来的工作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首先来看研究背景。当前，我国食品安全监管形势依然严峻，传统的监管模式存在明显的滞后性。以我们关注的攸县香干产业为例，作为一个年产值超10亿的特色产业，其生产主体极度分散，以家庭作坊为主，这给质量安全监管带来了巨大挑战。因此，本项目的研究意义在于，通过引入AI和区块链等前沿技术，构建一个主动预警系统，从而实现从被动响应到主动预防的转变，为产业的规范化发展提供技术支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接下来是系统的总体架构。我们采用了经典的分层架构设计，从下至上分为数据层、AI服务层、服务层和展现层。数据层采用MySQL和FISCO-BCOS区块链的混合方案，确保数据的高效处理与不可篡改。AI服务层是本系统的核心，它集成了Drools规则引擎和基于ONNX Runtime的AI模型。服务层通过Spring Cloud构建微服务，实现业务逻辑的解耦。最上层的展现层则通过Vue3为不同用户提供友好的交互界面。整个流程形成了一个从数据采集、风险评估到预警处置和上链存证的技术闭环。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为了实现高效且精准的风险评估，我们引入了知识蒸馏技术。简单来说，我们训练了两个模型：一个是复杂但精准的“教师模型”，它像一位经验丰富的专家；另一个是轻量且高效的“学生模型”，它通过学习教师模型的知识来快速做出判断。在训练过程中，我们通过一种特殊的损失函数，让学生模型不仅学习真实的标签，更重要的是学习教师模型输出的概率分布，从而继承其泛化能力。这样，我们就得到了一个既快又准的模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在模型部署和应用层面，我们将训练好的学生模型转换为ONNX格式，通过ONNX Runtime在Java后端实现了毫秒级的快速推理。模型接收5个关键的扫码行为特征，输出一个风险概率。为了让决策更可靠，我们将AI模型的输出与Drools规则引擎的结果按6:4的权重进行融合，形成混合决策。此外，我们还设计了降级机制，当AI模型服务出现问题时，系统会自动切换到备用的线性加权公式，确保整个评估流程永不中断，保证了系统的高可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核心功能主要包括三个模块：首先是基于不可伪造二维码的溯源管理；其次是通过“规则+AI”双引擎对扫码行为进行实时监测和风险评估；最后是形成一个从预警到处置再到反馈的闭环管理流程。我们的技术创新点主要体现在三个方面：一是双驱动的智能预警机制，结合了规则和AI的优势；二是利用区块链技术实现了全流程的可信存证；三是通过自动化闭环管理，极大地提升了监管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，对项目进行总结与展望。目前，我们已经成功实现了系统的核心价值，落地了完整的技术架构，实现了从被动记录到主动预警的跨越。展望未来，我们计划从三个方面继续深化工作：一是持续优化AI模型，提升其识别能力；二是扩展监控链条，引入物联网设备，实现全链条监控；三是将这套成熟的方案推广到更多的食品行业领域。在此，我要特别感谢我的指导老师李长云教授，感谢他在整个研究过程中的悉心指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我的汇报到此结束，感谢各位评委老师的聆听，期待与各位老师进行深入的交流。谢谢大家！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50800" y="392546"/>
            <a:ext cx="12192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基于人工智能的香干质量安全预警系统</a:t>
            </a:r>
            <a:br>
              <a:rPr lang="en-US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设计与实现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3822123"/>
            <a:ext cx="12192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答辩人：欧俊杰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66800" y="4559300"/>
            <a:ext cx="10160000" cy="1651000"/>
          </a:xfrm>
          <a:prstGeom prst="roundRect">
            <a:avLst>
              <a:gd name="adj" fmla="val 9230"/>
            </a:avLst>
          </a:prstGeom>
          <a:solidFill>
            <a:srgbClr val="0F172A">
              <a:alpha val="7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4826000"/>
            <a:ext cx="990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学号：202241040125</a:t>
            </a:r>
            <a:r>
              <a:rPr lang="en-US" sz="1600" b="0" i="0" u="none" strike="noStrike">
                <a:solidFill>
                  <a:srgbClr val="FFFFFF">
                    <a:alpha val="4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姓名：欧俊杰</a:t>
            </a:r>
            <a:r>
              <a:rPr lang="en-US" sz="1600" b="0" i="0" u="none" strike="noStrike">
                <a:solidFill>
                  <a:srgbClr val="FFFFFF">
                    <a:alpha val="4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指导老师：李长云 教授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5524500"/>
            <a:ext cx="990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信息与智能科学技术学院</a:t>
            </a:r>
            <a:r>
              <a:rPr lang="en-US" sz="1600" b="0" i="0" u="none" strike="noStrike">
                <a:solidFill>
                  <a:srgbClr val="FFFFFF">
                    <a:alpha val="4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E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222500"/>
            <a:ext cx="1143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286000" y="2222500"/>
            <a:ext cx="3429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研究背景与意义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606C80"/>
                </a:solidFill>
                <a:latin typeface="Noto Sans SC"/>
                <a:ea typeface="Noto Sans SC"/>
                <a:cs typeface="Noto Sans SC"/>
                <a:sym typeface="Noto Sans SC"/>
              </a:rPr>
              <a:t>食品安全挑战、产业困境与研究价值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905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E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477000" y="2222500"/>
            <a:ext cx="1143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747000" y="2222500"/>
            <a:ext cx="3429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606C80"/>
                </a:solidFill>
                <a:latin typeface="Noto Sans SC"/>
                <a:ea typeface="Noto Sans SC"/>
                <a:cs typeface="Noto Sans SC"/>
                <a:sym typeface="Noto Sans SC"/>
              </a:rPr>
              <a:t>分层架构设计与核心技术栈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31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E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4635500"/>
            <a:ext cx="1143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86000" y="4635500"/>
            <a:ext cx="3429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核心功能与创新点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606C80"/>
                </a:solidFill>
                <a:latin typeface="Noto Sans SC"/>
                <a:ea typeface="Noto Sans SC"/>
                <a:cs typeface="Noto Sans SC"/>
                <a:sym typeface="Noto Sans SC"/>
              </a:rPr>
              <a:t>双引擎预警机制与可信存证体系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431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EF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7000" y="4635500"/>
            <a:ext cx="1143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747000" y="4635500"/>
            <a:ext cx="3429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606C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系统成果总结与未来优化方向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01 研究背景与意义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8888"/>
            </a:avLst>
          </a:prstGeom>
          <a:solidFill>
            <a:srgbClr val="1E3A5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1016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800" b="0" i="1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“传统食品安全监管面临严峻挑战，亟需从‘被动存证’向‘主动预警’升级。”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3302000" cy="342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3111500"/>
            <a:ext cx="2921000" cy="1270000"/>
          </a:xfrm>
          <a:prstGeom prst="roundRect">
            <a:avLst>
              <a:gd name="adj" fmla="val 8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460500" y="3238500"/>
            <a:ext cx="228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12700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监管形势严峻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事后监管滞后 · 缺乏主动预警</a:t>
            </a:r>
          </a:p>
        </p:txBody>
      </p:sp>
      <p:sp>
        <p:nvSpPr>
          <p:cNvPr id="9" name="AutoShape 9"/>
          <p:cNvSpPr/>
          <p:nvPr/>
        </p:nvSpPr>
        <p:spPr>
          <a:xfrm>
            <a:off x="952500" y="4508500"/>
            <a:ext cx="29210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食品安全挑战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问题量大：2023年全国查处食安违法案件36.5万件，涉案金额超百亿。传统溯源侧重事后记录，缺乏主动预警能力，严重依赖人工抽检，监管存在明显滞后性。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445000" y="2921000"/>
            <a:ext cx="3302000" cy="342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635500" y="3111500"/>
            <a:ext cx="2921000" cy="1270000"/>
          </a:xfrm>
          <a:prstGeom prst="roundRect">
            <a:avLst>
              <a:gd name="adj" fmla="val 800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143500" y="3238500"/>
            <a:ext cx="228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12700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特色产业痛点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生产主体分散 · 监管难度巨大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635500" y="4508500"/>
            <a:ext cx="29210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攸县香干产业困境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年产值超10万吨的特色农产品，但生产主体极度分散，以家庭作坊为主。生产环节分散、流通链条复杂，传统手段难以全覆盖，质量安全监管面临巨大挑战。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128000" y="2921000"/>
            <a:ext cx="3302000" cy="342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318500" y="3111500"/>
            <a:ext cx="2921000" cy="1270000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826500" y="3238500"/>
            <a:ext cx="2286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12700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技术赋能升级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AI+区块链 · 主动预警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318500" y="4508500"/>
            <a:ext cx="29210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研究意义与价值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深度融合AI人工智能与区块链技术，构建数据可信、风险可判的主动预警系统。应用价值在于显著提升监管效率，保障食品安全，最终推动攸县香干产业规范化与品牌化发展。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系统总体架构与技术栈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03500" cy="76200"/>
          </a:xfrm>
          <a:prstGeom prst="roundRect">
            <a:avLst>
              <a:gd name="adj" fmla="val 0"/>
            </a:avLst>
          </a:prstGeom>
          <a:solidFill>
            <a:srgbClr val="1E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905000"/>
            <a:ext cx="23495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展现层 Frontend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Vue3 + Vite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用户端、企业管理后台、监管后台、溯源查询等页面，实现前后端分离，提供多端一致的交互体验。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3492500" y="1651000"/>
            <a:ext cx="26035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492500" y="1651000"/>
            <a:ext cx="2603500" cy="76200"/>
          </a:xfrm>
          <a:prstGeom prst="roundRect">
            <a:avLst>
              <a:gd name="adj" fmla="val 0"/>
            </a:avLst>
          </a:prstGeom>
          <a:solidFill>
            <a:srgbClr val="1E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619500" y="1905000"/>
            <a:ext cx="23495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服务层 Backend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Spring Boot 3.0 + Spring Cloud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提供认证、溯源、预警、监管、区块链存证等微服务，实现业务逻辑的服务解耦与弹性扩展。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26035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2603500" cy="76200"/>
          </a:xfrm>
          <a:prstGeom prst="roundRect">
            <a:avLst>
              <a:gd name="adj" fmla="val 0"/>
            </a:avLst>
          </a:prstGeom>
          <a:solidFill>
            <a:srgbClr val="1E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50000" y="1905000"/>
            <a:ext cx="23495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 Data Layer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MySQL + FISCO-BCOS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采用混合数据库，MySQL负责常规业务数据，FISCO-BCOS链则对关键事件和证据链进行存证以确保不可篡改。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953500" y="1651000"/>
            <a:ext cx="26035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953500" y="1651000"/>
            <a:ext cx="2603500" cy="76200"/>
          </a:xfrm>
          <a:prstGeom prst="roundRect">
            <a:avLst>
              <a:gd name="adj" fmla="val 0"/>
            </a:avLst>
          </a:prstGeom>
          <a:solidFill>
            <a:srgbClr val="1E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080500" y="1905000"/>
            <a:ext cx="23495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AI服务层 AI Service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Drools + ONNX Runtime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Drools规则引擎负责常规业务逻辑的智能判定与实时分析，ONNX Runtime则负责加载和运行AI风险评估模型。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10795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 t="581" b="581"/>
          <a:stretch>
            <a:fillRect/>
          </a:stretch>
        </p:blipFill>
        <p:spPr>
          <a:xfrm>
            <a:off x="1016000" y="4191000"/>
            <a:ext cx="1397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2667000" y="4191000"/>
            <a:ext cx="7874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系统架构全景图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上图展示了展现层、服务层、数据层与AI服务层之间的逻辑交互关系，各层级职责明确，通过标准化接口进行通信，共支业务高效运行。底层的数据层与AI服务层为上层业务提供稳固的数据与算力支持，展现层则实现了对最终用户的友好交互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5588000"/>
            <a:ext cx="10795000" cy="1016000"/>
          </a:xfrm>
          <a:prstGeom prst="roundRect">
            <a:avLst>
              <a:gd name="adj" fmla="val 15000"/>
            </a:avLst>
          </a:prstGeom>
          <a:solidFill>
            <a:srgbClr val="1E3A5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5715000"/>
            <a:ext cx="1079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关键技术闭环流程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用户扫码 → 多维数据采集 → 双引擎风险评估 → 实时预警与处置 → 关键事件上链存证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核心技术：知识蒸馏模型架构与训练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8888"/>
            </a:avLst>
          </a:prstGeom>
          <a:solidFill>
            <a:srgbClr val="1E3A5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1016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800" b="0" i="1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“通过知识蒸馏技术，构建兼具高精度与高效率的混合智能风险评估模型。”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3302000" cy="342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3111500"/>
            <a:ext cx="2921000" cy="1270000"/>
          </a:xfrm>
          <a:prstGeom prst="roundRect">
            <a:avLst>
              <a:gd name="adj" fmla="val 8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905000" y="3238500"/>
            <a:ext cx="203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12700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方法概述：为何选择蒸馏？</a:t>
            </a:r>
            <a:endParaRPr lang="en-US" sz="1100"/>
          </a:p>
          <a:p>
            <a:pPr indent="0" algn="l">
              <a:lnSpc>
                <a:spcPct val="91666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解决高精度与实时部署的矛盾</a:t>
            </a:r>
          </a:p>
        </p:txBody>
      </p:sp>
      <p:sp>
        <p:nvSpPr>
          <p:cNvPr id="9" name="AutoShape 9"/>
          <p:cNvSpPr/>
          <p:nvPr/>
        </p:nvSpPr>
        <p:spPr>
          <a:xfrm>
            <a:off x="952500" y="4572000"/>
            <a:ext cx="2921000" cy="171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核心逻辑与挑战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挑战：</a:t>
            </a: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高精度大模型推理慢、难部署，轻量模型精度不足。</a:t>
            </a:r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方案：</a:t>
            </a: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将复杂“教师模型”的知识迁移至轻量“学生模型”，平衡二者优势。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445000" y="2921000"/>
            <a:ext cx="3302000" cy="342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635500" y="3111500"/>
            <a:ext cx="2921000" cy="1270000"/>
          </a:xfrm>
          <a:prstGeom prst="roundRect">
            <a:avLst>
              <a:gd name="adj" fmla="val 800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588000" y="3238500"/>
            <a:ext cx="203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12700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模型架构：双模型协同</a:t>
            </a:r>
            <a:endParaRPr lang="en-US" sz="1100"/>
          </a:p>
          <a:p>
            <a:pPr indent="0" algn="l">
              <a:lnSpc>
                <a:spcPct val="91666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专家级“教师”与敏捷型“学生”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635500" y="4572000"/>
            <a:ext cx="2921000" cy="171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架构设计与分工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教师模型：</a:t>
            </a: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Transformer+图分支双通道融合，高精度大容量，负责挖掘复杂规律。</a:t>
            </a:r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学生模型：</a:t>
            </a: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3层全连接网络，轻量级低延迟，快速继承教师经验实现推理。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128000" y="2921000"/>
            <a:ext cx="3302000" cy="342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318500" y="3111500"/>
            <a:ext cx="2921000" cy="1270000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271000" y="3238500"/>
            <a:ext cx="203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12700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知识蒸馏：训练机制</a:t>
            </a:r>
            <a:endParaRPr lang="en-US" sz="1100"/>
          </a:p>
          <a:p>
            <a:pPr indent="0" algn="l">
              <a:lnSpc>
                <a:spcPct val="91666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复合损失函数引导知识迁移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318500" y="4572000"/>
            <a:ext cx="2921000" cy="171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损失函数与目标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核心目标：</a:t>
            </a: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使学生模型输出分布无限逼近教师模型，继承其泛化能力。</a:t>
            </a:r>
          </a:p>
          <a:p>
            <a:pPr indent="0" algn="l">
              <a:lnSpc>
                <a:spcPct val="108333"/>
              </a:lnSpc>
              <a:spcBef>
                <a:spcPts val="400"/>
              </a:spcBef>
            </a:pPr>
            <a:r>
              <a:rPr lang="en-US" sz="11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• 复合损失：</a:t>
            </a: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结合KL散度损失(模拟教师)与交叉熵损失(贴合真实标签)进行训练。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核心技术：模型部署、推理与混合决策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03500" cy="76200"/>
          </a:xfrm>
          <a:prstGeom prst="roundRect">
            <a:avLst>
              <a:gd name="adj" fmla="val 0"/>
            </a:avLst>
          </a:prstGeom>
          <a:solidFill>
            <a:srgbClr val="1E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905000"/>
            <a:ext cx="23495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模型部署与推理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ONNX 格式 + ONNX Runtime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模型导出为跨平台的ONNX格式，Java后端通过Runtime实现毫秒级推理。输入扫码行为五维特征，输出0-1的风险概率分数。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3492500" y="1651000"/>
            <a:ext cx="26035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492500" y="1651000"/>
            <a:ext cx="2603500" cy="76200"/>
          </a:xfrm>
          <a:prstGeom prst="roundRect">
            <a:avLst>
              <a:gd name="adj" fmla="val 0"/>
            </a:avLst>
          </a:prstGeom>
          <a:solidFill>
            <a:srgbClr val="1E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619500" y="1905000"/>
            <a:ext cx="23495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混合决策融合策略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AI评分 6 : 4 Drools规则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结合AI模型的概率预测与规则引擎的确定性逻辑，按权重融合决策结果，兼顾预警准确性与业务规则的可解释性。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26035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2603500" cy="76200"/>
          </a:xfrm>
          <a:prstGeom prst="roundRect">
            <a:avLst>
              <a:gd name="adj" fmla="val 0"/>
            </a:avLst>
          </a:prstGeom>
          <a:solidFill>
            <a:srgbClr val="1E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50000" y="1905000"/>
            <a:ext cx="23495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系统高可用降级机制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线性加权公式兜底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当模型加载失败或服务故障时，系统自动切换为线性加权公式计算风险，保障评估流程不中断与业务连续性。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953500" y="1651000"/>
            <a:ext cx="26035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953500" y="1651000"/>
            <a:ext cx="2603500" cy="76200"/>
          </a:xfrm>
          <a:prstGeom prst="roundRect">
            <a:avLst>
              <a:gd name="adj" fmla="val 0"/>
            </a:avLst>
          </a:prstGeom>
          <a:solidFill>
            <a:srgbClr val="1E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080500" y="1905000"/>
            <a:ext cx="23495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完整风控体系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实时 · 准确 · 可靠</a:t>
            </a:r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构建了从“数据采集-模型推理-混合决策-降级兜底”的完整闭环，确保了风险评估体系在性能与稳定性上的双重优势。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10795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4191000"/>
            <a:ext cx="10287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技术逻辑与价值总结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方案解决了传统规则引擎灵活性不足与单一AI模型解释性弱的双重痛点。通过引入ONNX实现跨平台的高效推理，利用6:4的权重融合策略平衡“智能性”与“可解释性”，并设计降级机制保障系统在极端情况下的可用性，最终实现了技术落地的商业价值与工程价值的统一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62000" y="5588000"/>
            <a:ext cx="10795000" cy="1016000"/>
          </a:xfrm>
          <a:prstGeom prst="roundRect">
            <a:avLst>
              <a:gd name="adj" fmla="val 15000"/>
            </a:avLst>
          </a:prstGeom>
          <a:solidFill>
            <a:srgbClr val="1E3A5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62000" y="5715000"/>
            <a:ext cx="1079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智能风险评估全流程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五维行为特征输入 → ONNX Runtime 毫秒级推理 → AI+Drools 6:4 混合决策 → 异常触发预警 / 故障自动降级兜底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核心功能与创新点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4699000"/>
          </a:xfrm>
          <a:prstGeom prst="roundRect">
            <a:avLst>
              <a:gd name="adj" fmla="val 296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▌ 核心功能模块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540000"/>
            <a:ext cx="3048000" cy="368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溯源二维码管理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基于SN回溯算法生成不可伪造的二维码，进行全生命周期状态管理，确保源头可追溯。</a:t>
            </a:r>
          </a:p>
          <a:p>
            <a:pPr indent="0" algn="l">
              <a:lnSpc>
                <a:spcPct val="116666"/>
              </a:lnSpc>
              <a:spcBef>
                <a:spcPts val="1500"/>
              </a:spcBef>
            </a:pPr>
            <a:r>
              <a:rPr lang="en-US" sz="13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扫码行为监测</a:t>
            </a: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实时采集多维特征，通过“规则+AI”双引擎评估风险等级，实现对异常行为的快速感知。</a:t>
            </a:r>
          </a:p>
          <a:p>
            <a:pPr indent="0" algn="l">
              <a:lnSpc>
                <a:spcPct val="116666"/>
              </a:lnSpc>
              <a:spcBef>
                <a:spcPts val="1500"/>
              </a:spcBef>
            </a:pPr>
            <a:r>
              <a:rPr lang="en-US" sz="13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闭环处置流程</a:t>
            </a: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对严重处置设置复核，高风险协进人工复核，形成完整的“预警-处置-反馈”闭环管理。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l="553" r="553"/>
          <a:stretch>
            <a:fillRect/>
          </a:stretch>
        </p:blipFill>
        <p:spPr>
          <a:xfrm>
            <a:off x="4445000" y="1651000"/>
            <a:ext cx="3302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8" name="AutoShape 8"/>
          <p:cNvSpPr/>
          <p:nvPr/>
        </p:nvSpPr>
        <p:spPr>
          <a:xfrm>
            <a:off x="4445000" y="3683000"/>
            <a:ext cx="3302000" cy="2413000"/>
          </a:xfrm>
          <a:prstGeom prst="roundRect">
            <a:avLst>
              <a:gd name="adj" fmla="val 4210"/>
            </a:avLst>
          </a:prstGeom>
          <a:solidFill>
            <a:srgbClr val="1E3A5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35500" y="3937000"/>
            <a:ext cx="2921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全流程风险防控体系</a:t>
            </a:r>
            <a:endParaRPr lang="en-US" sz="1100"/>
          </a:p>
          <a:p>
            <a:pPr indent="0" algn="ctr">
              <a:lnSpc>
                <a:spcPct val="116666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从源头生成、过程监测到闭环处置，全方位保障数据真实、不可篡改、责任可追溯，让每一次扫码都安心。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001000" y="1651000"/>
            <a:ext cx="3429000" cy="4699000"/>
          </a:xfrm>
          <a:prstGeom prst="roundRect">
            <a:avLst>
              <a:gd name="adj" fmla="val 296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191500" y="18415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▌ 关键技术创新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91500" y="2540000"/>
            <a:ext cx="3048000" cy="368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双驱动智能预警机制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结合规则引擎的可解释性与AI模型的智能识别能力，全面覆盖已知与未知的各类风险场景。</a:t>
            </a:r>
          </a:p>
          <a:p>
            <a:pPr indent="0" algn="l">
              <a:lnSpc>
                <a:spcPct val="116666"/>
              </a:lnSpc>
              <a:spcBef>
                <a:spcPts val="1500"/>
              </a:spcBef>
            </a:pPr>
            <a:r>
              <a:rPr lang="en-US" sz="13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区块链全流程可信存证</a:t>
            </a: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将数据上链，风险预警、处置反馈等关键环节数据被锁定，确保数据真实、不可篡改、责任可追溯。</a:t>
            </a:r>
          </a:p>
          <a:p>
            <a:pPr indent="0" algn="l">
              <a:lnSpc>
                <a:spcPct val="116666"/>
              </a:lnSpc>
              <a:spcBef>
                <a:spcPts val="1500"/>
              </a:spcBef>
            </a:pPr>
            <a:r>
              <a:rPr lang="en-US" sz="13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自动化闭环管理流程</a:t>
            </a: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打破传统监管流程壁垒，实现从风险识别、自动处置到结果反馈的全流程自动化，极大提升监管效率。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04 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683000"/>
          </a:xfrm>
          <a:prstGeom prst="roundRect">
            <a:avLst>
              <a:gd name="adj" fmla="val 413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66800" y="20320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549400" y="2006600"/>
            <a:ext cx="4064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已完成工作总结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794000"/>
            <a:ext cx="4597400" cy="241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◆ 核心价值实现：</a:t>
            </a: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实现了从传统溯源模式“记录可查”到“智能判险+主动预警”的核心价值跨越，有效提升风险管控能力。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800"/>
              </a:spcBef>
            </a:pPr>
            <a:r>
              <a:rPr lang="en-US" sz="14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◆ 完整技术架构落地：</a:t>
            </a: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成功构建了融合微服务、区块链、规则引擎和AI模型的完整技术架构，并实现了从风险识别到处置的全流程闭环管理。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3683000"/>
          </a:xfrm>
          <a:prstGeom prst="roundRect">
            <a:avLst>
              <a:gd name="adj" fmla="val 413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27800" y="20320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7010400" y="2006600"/>
            <a:ext cx="4064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未来工作展望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27800" y="2794000"/>
            <a:ext cx="4597400" cy="241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1. 模型持续优化：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持续收集生产流通中的真实风险数据，不断迭代优化AI模型，提升对新型、变异风险的精准识别能力。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2. 监控链条扩展：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探索引入IoT物联网设备，打通数据壁垒，实现从流通环节向生产加工环节的全链条、实时化监控。</a:t>
            </a:r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3. 应用场景推广：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将成熟的系统架构和技术方案推广至更多农产品和食品细分领域，为行业食品安全监管提供强有力的技术支撑。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715000"/>
            <a:ext cx="10668000" cy="889000"/>
          </a:xfrm>
          <a:prstGeom prst="roundRect">
            <a:avLst>
              <a:gd name="adj" fmla="val 17142"/>
            </a:avLst>
          </a:prstGeom>
          <a:solidFill>
            <a:srgbClr val="1E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048000" y="58928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3810000" y="5867400"/>
            <a:ext cx="7112000" cy="584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特别致谢：感谢李长云教授在研究全过程中的悉心指导与帮助！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E3A5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556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E3A5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191000"/>
            <a:ext cx="1219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spc="200">
                <a:solidFill>
                  <a:srgbClr val="1E3A5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YOUR ATTENTION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05A69"/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期待与您深入交流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</Words>
  <Application>Microsoft Office PowerPoint</Application>
  <PresentationFormat>宽屏</PresentationFormat>
  <Paragraphs>138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Noto Sans SC</vt:lpstr>
      <vt:lpstr>Songti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俊杰 欧</cp:lastModifiedBy>
  <cp:revision>1</cp:revision>
  <dcterms:modified xsi:type="dcterms:W3CDTF">2026-05-15T06:58:57Z</dcterms:modified>
</cp:coreProperties>
</file>